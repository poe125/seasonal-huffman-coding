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4"/>
  </p:sldMasterIdLst>
  <p:notesMasterIdLst>
    <p:notesMasterId r:id="rId31"/>
  </p:notesMasterIdLst>
  <p:sldIdLst>
    <p:sldId id="256" r:id="rId5"/>
    <p:sldId id="271" r:id="rId6"/>
    <p:sldId id="274" r:id="rId7"/>
    <p:sldId id="258" r:id="rId8"/>
    <p:sldId id="273" r:id="rId9"/>
    <p:sldId id="303" r:id="rId10"/>
    <p:sldId id="296" r:id="rId11"/>
    <p:sldId id="284" r:id="rId12"/>
    <p:sldId id="294" r:id="rId13"/>
    <p:sldId id="286" r:id="rId14"/>
    <p:sldId id="304" r:id="rId15"/>
    <p:sldId id="287" r:id="rId16"/>
    <p:sldId id="277" r:id="rId17"/>
    <p:sldId id="293" r:id="rId18"/>
    <p:sldId id="290" r:id="rId19"/>
    <p:sldId id="297" r:id="rId20"/>
    <p:sldId id="291" r:id="rId21"/>
    <p:sldId id="292" r:id="rId22"/>
    <p:sldId id="279" r:id="rId23"/>
    <p:sldId id="306" r:id="rId24"/>
    <p:sldId id="302" r:id="rId25"/>
    <p:sldId id="288" r:id="rId26"/>
    <p:sldId id="298" r:id="rId27"/>
    <p:sldId id="300" r:id="rId28"/>
    <p:sldId id="280" r:id="rId29"/>
    <p:sldId id="305" r:id="rId30"/>
  </p:sldIdLst>
  <p:sldSz cx="12192000" cy="6858000"/>
  <p:notesSz cx="6858000" cy="994568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6B9FB-C500-4A22-94E5-029DDA2FBB79}" v="1" dt="2025-06-27T04:10:46.219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3" autoAdjust="0"/>
    <p:restoredTop sz="58530" autoAdjust="0"/>
  </p:normalViewPr>
  <p:slideViewPr>
    <p:cSldViewPr snapToGrid="0">
      <p:cViewPr varScale="1">
        <p:scale>
          <a:sx n="93" d="100"/>
          <a:sy n="93" d="100"/>
        </p:scale>
        <p:origin x="50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822628731311334E-2"/>
          <c:y val="3.664336236057443E-2"/>
          <c:w val="0.90817737126868847"/>
          <c:h val="0.558158532112591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Seasonal Unweighted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42D2-4623-BDDF-87371B6BDD8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D2-4623-BDDF-87371B6BDD8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Spring</c:v>
                </c:pt>
                <c:pt idx="1">
                  <c:v>Summer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1752</c:v>
                </c:pt>
                <c:pt idx="1">
                  <c:v>2172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A3-4A25-86FE-EAD2D9558F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Seasonal Weighted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Spring</c:v>
                </c:pt>
                <c:pt idx="1">
                  <c:v>Summer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1752</c:v>
                </c:pt>
                <c:pt idx="1">
                  <c:v>2172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A3-4A25-86FE-EAD2D9558F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All-season Unweighted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Spring</c:v>
                </c:pt>
                <c:pt idx="1">
                  <c:v>Summer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2744</c:v>
                </c:pt>
                <c:pt idx="1">
                  <c:v>3506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FA3-4A25-86FE-EAD2D9558F6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All-season Weighted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Spring</c:v>
                </c:pt>
                <c:pt idx="1">
                  <c:v>Summer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1528</c:v>
                </c:pt>
                <c:pt idx="1">
                  <c:v>2005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A3-4A25-86FE-EAD2D9558F6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Zip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Spring</c:v>
                </c:pt>
                <c:pt idx="1">
                  <c:v>Summer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2521</c:v>
                </c:pt>
                <c:pt idx="1">
                  <c:v>3149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A3-4A25-86FE-EAD2D9558F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34602303"/>
        <c:axId val="734605663"/>
      </c:barChart>
      <c:catAx>
        <c:axId val="734602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34605663"/>
        <c:crosses val="autoZero"/>
        <c:auto val="1"/>
        <c:lblAlgn val="ctr"/>
        <c:lblOffset val="100"/>
        <c:noMultiLvlLbl val="0"/>
      </c:catAx>
      <c:valAx>
        <c:axId val="734605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dirty="0"/>
                  <a:t>File Size</a:t>
                </a:r>
                <a:r>
                  <a:rPr lang="en-US" altLang="ja-JP" baseline="0" dirty="0"/>
                  <a:t> (Bytes)</a:t>
                </a:r>
                <a:endParaRPr lang="en-US" altLang="ja-JP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 alt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34602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2857923906945E-2"/>
          <c:y val="0.74363363223556689"/>
          <c:w val="0.98599076905587635"/>
          <c:h val="0.253966141572240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822628731311334E-2"/>
          <c:y val="3.664336236057443E-2"/>
          <c:w val="0.90817737126868847"/>
          <c:h val="0.558158532112591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Seasonal Unweighted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42D2-4623-BDDF-87371B6BDD8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D2-4623-BDDF-87371B6BDD8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Spring</c:v>
                </c:pt>
                <c:pt idx="1">
                  <c:v>Summer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1752</c:v>
                </c:pt>
                <c:pt idx="1">
                  <c:v>2172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A3-4A25-86FE-EAD2D9558F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Seasonal Weighted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Spring</c:v>
                </c:pt>
                <c:pt idx="1">
                  <c:v>Summer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1752</c:v>
                </c:pt>
                <c:pt idx="1">
                  <c:v>2172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A3-4A25-86FE-EAD2D9558F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All-season Unweighted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Spring</c:v>
                </c:pt>
                <c:pt idx="1">
                  <c:v>Summer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2744</c:v>
                </c:pt>
                <c:pt idx="1">
                  <c:v>3506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FA3-4A25-86FE-EAD2D9558F6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All-season Weighted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Spring</c:v>
                </c:pt>
                <c:pt idx="1">
                  <c:v>Summer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1528</c:v>
                </c:pt>
                <c:pt idx="1">
                  <c:v>2005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A3-4A25-86FE-EAD2D9558F6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Zip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Spring</c:v>
                </c:pt>
                <c:pt idx="1">
                  <c:v>Summer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2521</c:v>
                </c:pt>
                <c:pt idx="1">
                  <c:v>3149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A3-4A25-86FE-EAD2D9558F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34602303"/>
        <c:axId val="734605663"/>
      </c:barChart>
      <c:catAx>
        <c:axId val="734602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34605663"/>
        <c:crosses val="autoZero"/>
        <c:auto val="1"/>
        <c:lblAlgn val="ctr"/>
        <c:lblOffset val="100"/>
        <c:noMultiLvlLbl val="0"/>
      </c:catAx>
      <c:valAx>
        <c:axId val="734605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dirty="0"/>
                  <a:t>File Size</a:t>
                </a:r>
                <a:r>
                  <a:rPr lang="en-US" altLang="ja-JP" baseline="0" dirty="0"/>
                  <a:t> (Bytes)</a:t>
                </a:r>
                <a:endParaRPr lang="en-US" altLang="ja-JP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 alt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34602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2857923906945E-2"/>
          <c:y val="0.74363363223556689"/>
          <c:w val="0.98599076905587635"/>
          <c:h val="0.253966141572240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Seasonal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Spring</c:v>
                </c:pt>
                <c:pt idx="1">
                  <c:v>Summer</c:v>
                </c:pt>
                <c:pt idx="2">
                  <c:v>Fall</c:v>
                </c:pt>
                <c:pt idx="3">
                  <c:v>Winter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</c:v>
                </c:pt>
                <c:pt idx="1">
                  <c:v>63</c:v>
                </c:pt>
                <c:pt idx="2">
                  <c:v>12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1F-4DF6-9FB2-85613E75F9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All-Season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3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Spring</c:v>
                </c:pt>
                <c:pt idx="1">
                  <c:v>Summer</c:v>
                </c:pt>
                <c:pt idx="2">
                  <c:v>Fall</c:v>
                </c:pt>
                <c:pt idx="3">
                  <c:v>Winter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</c:v>
                </c:pt>
                <c:pt idx="1">
                  <c:v>60</c:v>
                </c:pt>
                <c:pt idx="2">
                  <c:v>12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1F-4DF6-9FB2-85613E75F9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34602303"/>
        <c:axId val="734605663"/>
      </c:barChart>
      <c:catAx>
        <c:axId val="734602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34605663"/>
        <c:crosses val="autoZero"/>
        <c:auto val="1"/>
        <c:lblAlgn val="ctr"/>
        <c:lblOffset val="100"/>
        <c:noMultiLvlLbl val="0"/>
      </c:catAx>
      <c:valAx>
        <c:axId val="734605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34602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6AFB81-8286-4F67-BBBD-717A4F659ABD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A24F616F-2221-4FD9-89C0-1D39BB0878D8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kumimoji="1" lang="en-US" altLang="ja-JP" sz="3200" dirty="0">
              <a:solidFill>
                <a:schemeClr val="accent4"/>
              </a:solidFill>
            </a:rPr>
            <a:t>FP </a:t>
          </a:r>
          <a:r>
            <a:rPr kumimoji="1" lang="en-US" sz="3200" dirty="0">
              <a:solidFill>
                <a:schemeClr val="accent4"/>
              </a:solidFill>
            </a:rPr>
            <a:t>Model</a:t>
          </a:r>
          <a:r>
            <a:rPr kumimoji="1" lang="en-US" sz="3200" dirty="0"/>
            <a:t>:</a:t>
          </a:r>
        </a:p>
      </dgm:t>
    </dgm:pt>
    <dgm:pt modelId="{CDF62135-A01E-4C07-B1F3-5CA513EFDEA3}" type="parTrans" cxnId="{E2774EF6-D039-4B8C-B803-7E66409C085E}">
      <dgm:prSet/>
      <dgm:spPr/>
      <dgm:t>
        <a:bodyPr/>
        <a:lstStyle/>
        <a:p>
          <a:endParaRPr lang="en-US"/>
        </a:p>
      </dgm:t>
    </dgm:pt>
    <dgm:pt modelId="{2DCA47A1-FC28-47C6-B3CF-7842B0225C57}" type="sibTrans" cxnId="{E2774EF6-D039-4B8C-B803-7E66409C085E}">
      <dgm:prSet/>
      <dgm:spPr/>
      <dgm:t>
        <a:bodyPr/>
        <a:lstStyle/>
        <a:p>
          <a:endParaRPr lang="en-US"/>
        </a:p>
      </dgm:t>
    </dgm:pt>
    <dgm:pt modelId="{DEA5EFEC-1C9F-4D3E-8E12-577234E27003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2800" b="1" dirty="0"/>
            <a:t>Input: </a:t>
          </a:r>
          <a:r>
            <a:rPr kumimoji="1" lang="en-US" sz="2800" dirty="0"/>
            <a:t>flood data csv</a:t>
          </a:r>
        </a:p>
        <a:p>
          <a:pPr>
            <a:lnSpc>
              <a:spcPct val="100000"/>
            </a:lnSpc>
          </a:pPr>
          <a:r>
            <a:rPr kumimoji="1" lang="en-US" sz="2800" b="1" dirty="0"/>
            <a:t>Output: </a:t>
          </a:r>
          <a:r>
            <a:rPr kumimoji="1" lang="en-US" sz="2800" dirty="0"/>
            <a:t>coefficient, intercept</a:t>
          </a:r>
        </a:p>
      </dgm:t>
    </dgm:pt>
    <dgm:pt modelId="{1DFB643A-3209-45A4-8D60-D79A4D3C8CEA}" type="parTrans" cxnId="{B24AACA6-0521-4398-96D5-40AC6EC1566F}">
      <dgm:prSet/>
      <dgm:spPr/>
      <dgm:t>
        <a:bodyPr/>
        <a:lstStyle/>
        <a:p>
          <a:endParaRPr lang="en-US"/>
        </a:p>
      </dgm:t>
    </dgm:pt>
    <dgm:pt modelId="{4101DF6A-A03D-4412-A0C5-9E703D745D7B}" type="sibTrans" cxnId="{B24AACA6-0521-4398-96D5-40AC6EC1566F}">
      <dgm:prSet/>
      <dgm:spPr/>
      <dgm:t>
        <a:bodyPr/>
        <a:lstStyle/>
        <a:p>
          <a:endParaRPr lang="en-US"/>
        </a:p>
      </dgm:t>
    </dgm:pt>
    <dgm:pt modelId="{56853CA9-88F7-4C3C-A36B-EB731F4D7A3F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kumimoji="1" lang="en-US" sz="3200" dirty="0"/>
            <a:t>Huffman Tree Construction:</a:t>
          </a:r>
          <a:endParaRPr lang="en-US" sz="3200" dirty="0"/>
        </a:p>
      </dgm:t>
    </dgm:pt>
    <dgm:pt modelId="{676226C0-61C3-4D51-8496-096750DEC09C}" type="parTrans" cxnId="{8206D4F2-5E5E-4D4B-9D67-EEE0A22D0B88}">
      <dgm:prSet/>
      <dgm:spPr/>
      <dgm:t>
        <a:bodyPr/>
        <a:lstStyle/>
        <a:p>
          <a:endParaRPr lang="en-US"/>
        </a:p>
      </dgm:t>
    </dgm:pt>
    <dgm:pt modelId="{68B7A9FF-634D-4848-ACCC-40520597C06A}" type="sibTrans" cxnId="{8206D4F2-5E5E-4D4B-9D67-EEE0A22D0B88}">
      <dgm:prSet/>
      <dgm:spPr/>
      <dgm:t>
        <a:bodyPr/>
        <a:lstStyle/>
        <a:p>
          <a:endParaRPr lang="en-US"/>
        </a:p>
      </dgm:t>
    </dgm:pt>
    <dgm:pt modelId="{7379077F-E55C-487E-96CF-EC7C9A258173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en-US" sz="2800" b="1" dirty="0"/>
            <a:t>Input: </a:t>
          </a:r>
          <a:r>
            <a:rPr kumimoji="1" lang="en-US" sz="2800" b="0" dirty="0"/>
            <a:t>4 season data csv,</a:t>
          </a:r>
          <a:r>
            <a:rPr kumimoji="1" lang="en-US" sz="2800" b="1" dirty="0"/>
            <a:t> </a:t>
          </a:r>
          <a:r>
            <a:rPr kumimoji="1" lang="en-US" sz="2800" dirty="0">
              <a:solidFill>
                <a:schemeClr val="accent4"/>
              </a:solidFill>
            </a:rPr>
            <a:t>FP model(</a:t>
          </a:r>
          <a:r>
            <a:rPr kumimoji="1" lang="en-US" sz="2800" dirty="0" err="1">
              <a:solidFill>
                <a:schemeClr val="accent4"/>
              </a:solidFill>
            </a:rPr>
            <a:t>coef</a:t>
          </a:r>
          <a:r>
            <a:rPr kumimoji="1" lang="en-US" sz="2800" dirty="0">
              <a:solidFill>
                <a:schemeClr val="accent4"/>
              </a:solidFill>
            </a:rPr>
            <a:t> &amp; intercept)</a:t>
          </a:r>
          <a:br>
            <a:rPr kumimoji="1" lang="en-US" sz="2800" dirty="0">
              <a:solidFill>
                <a:schemeClr val="accent4"/>
              </a:solidFill>
            </a:rPr>
          </a:br>
          <a:r>
            <a:rPr kumimoji="1" lang="en-US" sz="2800" b="1" dirty="0"/>
            <a:t>Output: </a:t>
          </a:r>
          <a:r>
            <a:rPr kumimoji="1" lang="en-US" sz="2800" dirty="0"/>
            <a:t>Huffman tree</a:t>
          </a:r>
          <a:endParaRPr kumimoji="1" lang="en-US" sz="2800" dirty="0">
            <a:solidFill>
              <a:schemeClr val="accent4"/>
            </a:solidFill>
          </a:endParaRPr>
        </a:p>
      </dgm:t>
    </dgm:pt>
    <dgm:pt modelId="{8A5D9BC6-A4E2-4AFB-82B3-30716076D841}" type="parTrans" cxnId="{3ED35DDD-2D39-4B3A-B29B-1E49235934C6}">
      <dgm:prSet/>
      <dgm:spPr/>
      <dgm:t>
        <a:bodyPr/>
        <a:lstStyle/>
        <a:p>
          <a:endParaRPr kumimoji="1" lang="ja-JP" altLang="en-US"/>
        </a:p>
      </dgm:t>
    </dgm:pt>
    <dgm:pt modelId="{728B1F88-7841-4F65-8F5B-27D20502A86F}" type="sibTrans" cxnId="{3ED35DDD-2D39-4B3A-B29B-1E49235934C6}">
      <dgm:prSet/>
      <dgm:spPr/>
      <dgm:t>
        <a:bodyPr/>
        <a:lstStyle/>
        <a:p>
          <a:endParaRPr kumimoji="1" lang="ja-JP" altLang="en-US"/>
        </a:p>
      </dgm:t>
    </dgm:pt>
    <dgm:pt modelId="{D95DA8C6-1286-4950-9AD9-B655F262B31E}" type="pres">
      <dgm:prSet presAssocID="{486AFB81-8286-4F67-BBBD-717A4F659ABD}" presName="root" presStyleCnt="0">
        <dgm:presLayoutVars>
          <dgm:dir/>
          <dgm:resizeHandles val="exact"/>
        </dgm:presLayoutVars>
      </dgm:prSet>
      <dgm:spPr/>
    </dgm:pt>
    <dgm:pt modelId="{860F43D8-6745-4A80-BE85-07E73DCF6B5F}" type="pres">
      <dgm:prSet presAssocID="{A24F616F-2221-4FD9-89C0-1D39BB0878D8}" presName="compNode" presStyleCnt="0"/>
      <dgm:spPr/>
    </dgm:pt>
    <dgm:pt modelId="{4B52BB58-4D23-46B4-8E72-E9BFE99E0413}" type="pres">
      <dgm:prSet presAssocID="{A24F616F-2221-4FD9-89C0-1D39BB0878D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82A92B3C-C5AB-4581-9F19-A6B4379D676C}" type="pres">
      <dgm:prSet presAssocID="{A24F616F-2221-4FD9-89C0-1D39BB0878D8}" presName="iconSpace" presStyleCnt="0"/>
      <dgm:spPr/>
    </dgm:pt>
    <dgm:pt modelId="{F11D2FC6-918E-4A06-A0FD-45DD589FCE78}" type="pres">
      <dgm:prSet presAssocID="{A24F616F-2221-4FD9-89C0-1D39BB0878D8}" presName="parTx" presStyleLbl="revTx" presStyleIdx="0" presStyleCnt="4">
        <dgm:presLayoutVars>
          <dgm:chMax val="0"/>
          <dgm:chPref val="0"/>
        </dgm:presLayoutVars>
      </dgm:prSet>
      <dgm:spPr/>
    </dgm:pt>
    <dgm:pt modelId="{AEF07593-9DAF-4598-9A5E-7E48931AF833}" type="pres">
      <dgm:prSet presAssocID="{A24F616F-2221-4FD9-89C0-1D39BB0878D8}" presName="txSpace" presStyleCnt="0"/>
      <dgm:spPr/>
    </dgm:pt>
    <dgm:pt modelId="{05F3A01F-7A02-4D14-921B-15AB26D18A40}" type="pres">
      <dgm:prSet presAssocID="{A24F616F-2221-4FD9-89C0-1D39BB0878D8}" presName="desTx" presStyleLbl="revTx" presStyleIdx="1" presStyleCnt="4">
        <dgm:presLayoutVars/>
      </dgm:prSet>
      <dgm:spPr/>
    </dgm:pt>
    <dgm:pt modelId="{AAAE67F7-E85F-4E62-9D9E-C311CB70CE6E}" type="pres">
      <dgm:prSet presAssocID="{2DCA47A1-FC28-47C6-B3CF-7842B0225C57}" presName="sibTrans" presStyleCnt="0"/>
      <dgm:spPr/>
    </dgm:pt>
    <dgm:pt modelId="{DC5438B7-AED7-4054-9FFC-AC252530D97A}" type="pres">
      <dgm:prSet presAssocID="{56853CA9-88F7-4C3C-A36B-EB731F4D7A3F}" presName="compNode" presStyleCnt="0"/>
      <dgm:spPr/>
    </dgm:pt>
    <dgm:pt modelId="{AC6DF441-DD98-42BC-BA45-EBC5AE5E2BB6}" type="pres">
      <dgm:prSet presAssocID="{56853CA9-88F7-4C3C-A36B-EB731F4D7A3F}" presName="iconRect" presStyleLbl="node1" presStyleIdx="1" presStyleCnt="2" custLinFactX="-29195" custLinFactNeighborX="-100000" custLinFactNeighborY="5178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13BC8800-FAE2-4C32-9D97-544E7DA6FA68}" type="pres">
      <dgm:prSet presAssocID="{56853CA9-88F7-4C3C-A36B-EB731F4D7A3F}" presName="iconSpace" presStyleCnt="0"/>
      <dgm:spPr/>
    </dgm:pt>
    <dgm:pt modelId="{CFFDBA6C-6083-4EE6-BCEC-C1089BED902A}" type="pres">
      <dgm:prSet presAssocID="{56853CA9-88F7-4C3C-A36B-EB731F4D7A3F}" presName="parTx" presStyleLbl="revTx" presStyleIdx="2" presStyleCnt="4" custScaleX="182580" custLinFactNeighborX="-95" custLinFactNeighborY="-4510">
        <dgm:presLayoutVars>
          <dgm:chMax val="0"/>
          <dgm:chPref val="0"/>
        </dgm:presLayoutVars>
      </dgm:prSet>
      <dgm:spPr/>
    </dgm:pt>
    <dgm:pt modelId="{F5D672A2-D72C-4A95-AA3A-108BC8BC4281}" type="pres">
      <dgm:prSet presAssocID="{56853CA9-88F7-4C3C-A36B-EB731F4D7A3F}" presName="txSpace" presStyleCnt="0"/>
      <dgm:spPr/>
    </dgm:pt>
    <dgm:pt modelId="{4DBEFBE8-EB8A-4DBE-A3AF-7D20E777CDC0}" type="pres">
      <dgm:prSet presAssocID="{56853CA9-88F7-4C3C-A36B-EB731F4D7A3F}" presName="desTx" presStyleLbl="revTx" presStyleIdx="3" presStyleCnt="4" custScaleX="166732" custScaleY="101518" custLinFactNeighborX="-6987" custLinFactNeighborY="-889">
        <dgm:presLayoutVars/>
      </dgm:prSet>
      <dgm:spPr/>
    </dgm:pt>
  </dgm:ptLst>
  <dgm:cxnLst>
    <dgm:cxn modelId="{E0EE1C25-E39C-47A3-BE7A-6686911B5363}" type="presOf" srcId="{DEA5EFEC-1C9F-4D3E-8E12-577234E27003}" destId="{05F3A01F-7A02-4D14-921B-15AB26D18A40}" srcOrd="0" destOrd="0" presId="urn:microsoft.com/office/officeart/2018/2/layout/IconLabelDescriptionList"/>
    <dgm:cxn modelId="{A998D83E-D254-4B8A-8E89-8B5F0F93E7DD}" type="presOf" srcId="{486AFB81-8286-4F67-BBBD-717A4F659ABD}" destId="{D95DA8C6-1286-4950-9AD9-B655F262B31E}" srcOrd="0" destOrd="0" presId="urn:microsoft.com/office/officeart/2018/2/layout/IconLabelDescriptionList"/>
    <dgm:cxn modelId="{98F91E8E-7772-48B1-9109-34182BA1F41A}" type="presOf" srcId="{7379077F-E55C-487E-96CF-EC7C9A258173}" destId="{4DBEFBE8-EB8A-4DBE-A3AF-7D20E777CDC0}" srcOrd="0" destOrd="0" presId="urn:microsoft.com/office/officeart/2018/2/layout/IconLabelDescriptionList"/>
    <dgm:cxn modelId="{B5F9C19B-2EF7-48CF-8620-A41B9D28696B}" type="presOf" srcId="{A24F616F-2221-4FD9-89C0-1D39BB0878D8}" destId="{F11D2FC6-918E-4A06-A0FD-45DD589FCE78}" srcOrd="0" destOrd="0" presId="urn:microsoft.com/office/officeart/2018/2/layout/IconLabelDescriptionList"/>
    <dgm:cxn modelId="{B24AACA6-0521-4398-96D5-40AC6EC1566F}" srcId="{A24F616F-2221-4FD9-89C0-1D39BB0878D8}" destId="{DEA5EFEC-1C9F-4D3E-8E12-577234E27003}" srcOrd="0" destOrd="0" parTransId="{1DFB643A-3209-45A4-8D60-D79A4D3C8CEA}" sibTransId="{4101DF6A-A03D-4412-A0C5-9E703D745D7B}"/>
    <dgm:cxn modelId="{7BBE68B5-02CE-461C-AF0A-A25723318ABB}" type="presOf" srcId="{56853CA9-88F7-4C3C-A36B-EB731F4D7A3F}" destId="{CFFDBA6C-6083-4EE6-BCEC-C1089BED902A}" srcOrd="0" destOrd="0" presId="urn:microsoft.com/office/officeart/2018/2/layout/IconLabelDescriptionList"/>
    <dgm:cxn modelId="{3ED35DDD-2D39-4B3A-B29B-1E49235934C6}" srcId="{56853CA9-88F7-4C3C-A36B-EB731F4D7A3F}" destId="{7379077F-E55C-487E-96CF-EC7C9A258173}" srcOrd="0" destOrd="0" parTransId="{8A5D9BC6-A4E2-4AFB-82B3-30716076D841}" sibTransId="{728B1F88-7841-4F65-8F5B-27D20502A86F}"/>
    <dgm:cxn modelId="{8206D4F2-5E5E-4D4B-9D67-EEE0A22D0B88}" srcId="{486AFB81-8286-4F67-BBBD-717A4F659ABD}" destId="{56853CA9-88F7-4C3C-A36B-EB731F4D7A3F}" srcOrd="1" destOrd="0" parTransId="{676226C0-61C3-4D51-8496-096750DEC09C}" sibTransId="{68B7A9FF-634D-4848-ACCC-40520597C06A}"/>
    <dgm:cxn modelId="{E2774EF6-D039-4B8C-B803-7E66409C085E}" srcId="{486AFB81-8286-4F67-BBBD-717A4F659ABD}" destId="{A24F616F-2221-4FD9-89C0-1D39BB0878D8}" srcOrd="0" destOrd="0" parTransId="{CDF62135-A01E-4C07-B1F3-5CA513EFDEA3}" sibTransId="{2DCA47A1-FC28-47C6-B3CF-7842B0225C57}"/>
    <dgm:cxn modelId="{F6771C3C-0AE3-4487-9527-837210D13C4A}" type="presParOf" srcId="{D95DA8C6-1286-4950-9AD9-B655F262B31E}" destId="{860F43D8-6745-4A80-BE85-07E73DCF6B5F}" srcOrd="0" destOrd="0" presId="urn:microsoft.com/office/officeart/2018/2/layout/IconLabelDescriptionList"/>
    <dgm:cxn modelId="{DA8E2660-B97A-45F8-B223-3CF5DED3F345}" type="presParOf" srcId="{860F43D8-6745-4A80-BE85-07E73DCF6B5F}" destId="{4B52BB58-4D23-46B4-8E72-E9BFE99E0413}" srcOrd="0" destOrd="0" presId="urn:microsoft.com/office/officeart/2018/2/layout/IconLabelDescriptionList"/>
    <dgm:cxn modelId="{DE0F0860-46D1-411E-941A-50B5F280D368}" type="presParOf" srcId="{860F43D8-6745-4A80-BE85-07E73DCF6B5F}" destId="{82A92B3C-C5AB-4581-9F19-A6B4379D676C}" srcOrd="1" destOrd="0" presId="urn:microsoft.com/office/officeart/2018/2/layout/IconLabelDescriptionList"/>
    <dgm:cxn modelId="{FEF1FD08-60BD-4F4C-AB66-7C4F0213C483}" type="presParOf" srcId="{860F43D8-6745-4A80-BE85-07E73DCF6B5F}" destId="{F11D2FC6-918E-4A06-A0FD-45DD589FCE78}" srcOrd="2" destOrd="0" presId="urn:microsoft.com/office/officeart/2018/2/layout/IconLabelDescriptionList"/>
    <dgm:cxn modelId="{9C366C51-6557-4E11-AA5B-C77279CDE396}" type="presParOf" srcId="{860F43D8-6745-4A80-BE85-07E73DCF6B5F}" destId="{AEF07593-9DAF-4598-9A5E-7E48931AF833}" srcOrd="3" destOrd="0" presId="urn:microsoft.com/office/officeart/2018/2/layout/IconLabelDescriptionList"/>
    <dgm:cxn modelId="{824F3F07-2AC8-4508-AA86-A5E0139688ED}" type="presParOf" srcId="{860F43D8-6745-4A80-BE85-07E73DCF6B5F}" destId="{05F3A01F-7A02-4D14-921B-15AB26D18A40}" srcOrd="4" destOrd="0" presId="urn:microsoft.com/office/officeart/2018/2/layout/IconLabelDescriptionList"/>
    <dgm:cxn modelId="{86D1EDC1-5687-491C-9E68-AD7770ED50F1}" type="presParOf" srcId="{D95DA8C6-1286-4950-9AD9-B655F262B31E}" destId="{AAAE67F7-E85F-4E62-9D9E-C311CB70CE6E}" srcOrd="1" destOrd="0" presId="urn:microsoft.com/office/officeart/2018/2/layout/IconLabelDescriptionList"/>
    <dgm:cxn modelId="{9EDDE83D-5D5E-4A3D-8B3F-4758CC92BF0D}" type="presParOf" srcId="{D95DA8C6-1286-4950-9AD9-B655F262B31E}" destId="{DC5438B7-AED7-4054-9FFC-AC252530D97A}" srcOrd="2" destOrd="0" presId="urn:microsoft.com/office/officeart/2018/2/layout/IconLabelDescriptionList"/>
    <dgm:cxn modelId="{E4316C05-32F9-4E0A-A380-C5AEB1B13409}" type="presParOf" srcId="{DC5438B7-AED7-4054-9FFC-AC252530D97A}" destId="{AC6DF441-DD98-42BC-BA45-EBC5AE5E2BB6}" srcOrd="0" destOrd="0" presId="urn:microsoft.com/office/officeart/2018/2/layout/IconLabelDescriptionList"/>
    <dgm:cxn modelId="{E3761111-FD56-4548-9693-F1FAE114C6B5}" type="presParOf" srcId="{DC5438B7-AED7-4054-9FFC-AC252530D97A}" destId="{13BC8800-FAE2-4C32-9D97-544E7DA6FA68}" srcOrd="1" destOrd="0" presId="urn:microsoft.com/office/officeart/2018/2/layout/IconLabelDescriptionList"/>
    <dgm:cxn modelId="{754DBB8F-D294-424C-B61D-1CFC0692BBD8}" type="presParOf" srcId="{DC5438B7-AED7-4054-9FFC-AC252530D97A}" destId="{CFFDBA6C-6083-4EE6-BCEC-C1089BED902A}" srcOrd="2" destOrd="0" presId="urn:microsoft.com/office/officeart/2018/2/layout/IconLabelDescriptionList"/>
    <dgm:cxn modelId="{6E33954F-F737-46F2-805B-A5D19FF946E2}" type="presParOf" srcId="{DC5438B7-AED7-4054-9FFC-AC252530D97A}" destId="{F5D672A2-D72C-4A95-AA3A-108BC8BC4281}" srcOrd="3" destOrd="0" presId="urn:microsoft.com/office/officeart/2018/2/layout/IconLabelDescriptionList"/>
    <dgm:cxn modelId="{DB05161D-1501-43EC-943D-241765DC8B5C}" type="presParOf" srcId="{DC5438B7-AED7-4054-9FFC-AC252530D97A}" destId="{4DBEFBE8-EB8A-4DBE-A3AF-7D20E777CDC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2BB58-4D23-46B4-8E72-E9BFE99E0413}">
      <dsp:nvSpPr>
        <dsp:cNvPr id="0" name=""/>
        <dsp:cNvSpPr/>
      </dsp:nvSpPr>
      <dsp:spPr>
        <a:xfrm>
          <a:off x="6897" y="20994"/>
          <a:ext cx="1240576" cy="11904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D2FC6-918E-4A06-A0FD-45DD589FCE78}">
      <dsp:nvSpPr>
        <dsp:cNvPr id="0" name=""/>
        <dsp:cNvSpPr/>
      </dsp:nvSpPr>
      <dsp:spPr>
        <a:xfrm>
          <a:off x="6897" y="1380311"/>
          <a:ext cx="3544503" cy="682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1" lang="en-US" altLang="ja-JP" sz="3200" kern="1200" dirty="0">
              <a:solidFill>
                <a:schemeClr val="accent4"/>
              </a:solidFill>
            </a:rPr>
            <a:t>FP </a:t>
          </a:r>
          <a:r>
            <a:rPr kumimoji="1" lang="en-US" sz="3200" kern="1200" dirty="0">
              <a:solidFill>
                <a:schemeClr val="accent4"/>
              </a:solidFill>
            </a:rPr>
            <a:t>Model</a:t>
          </a:r>
          <a:r>
            <a:rPr kumimoji="1" lang="en-US" sz="3200" kern="1200" dirty="0"/>
            <a:t>:</a:t>
          </a:r>
        </a:p>
      </dsp:txBody>
      <dsp:txXfrm>
        <a:off x="6897" y="1380311"/>
        <a:ext cx="3544503" cy="682563"/>
      </dsp:txXfrm>
    </dsp:sp>
    <dsp:sp modelId="{05F3A01F-7A02-4D14-921B-15AB26D18A40}">
      <dsp:nvSpPr>
        <dsp:cNvPr id="0" name=""/>
        <dsp:cNvSpPr/>
      </dsp:nvSpPr>
      <dsp:spPr>
        <a:xfrm>
          <a:off x="6897" y="2141434"/>
          <a:ext cx="3544503" cy="19310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800" b="1" kern="1200" dirty="0"/>
            <a:t>Input: </a:t>
          </a:r>
          <a:r>
            <a:rPr kumimoji="1" lang="en-US" sz="2800" kern="1200" dirty="0"/>
            <a:t>flood data csv</a:t>
          </a:r>
        </a:p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800" b="1" kern="1200" dirty="0"/>
            <a:t>Output: </a:t>
          </a:r>
          <a:r>
            <a:rPr kumimoji="1" lang="en-US" sz="2800" kern="1200" dirty="0"/>
            <a:t>coefficient, intercept</a:t>
          </a:r>
        </a:p>
      </dsp:txBody>
      <dsp:txXfrm>
        <a:off x="6897" y="2141434"/>
        <a:ext cx="3544503" cy="1931052"/>
      </dsp:txXfrm>
    </dsp:sp>
    <dsp:sp modelId="{AC6DF441-DD98-42BC-BA45-EBC5AE5E2BB6}">
      <dsp:nvSpPr>
        <dsp:cNvPr id="0" name=""/>
        <dsp:cNvSpPr/>
      </dsp:nvSpPr>
      <dsp:spPr>
        <a:xfrm>
          <a:off x="4032452" y="75300"/>
          <a:ext cx="1240576" cy="11904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DBA6C-6083-4EE6-BCEC-C1089BED902A}">
      <dsp:nvSpPr>
        <dsp:cNvPr id="0" name=""/>
        <dsp:cNvSpPr/>
      </dsp:nvSpPr>
      <dsp:spPr>
        <a:xfrm>
          <a:off x="4168322" y="1342134"/>
          <a:ext cx="6471555" cy="683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1" lang="en-US" sz="3200" kern="1200" dirty="0"/>
            <a:t>Huffman Tree Construction:</a:t>
          </a:r>
          <a:endParaRPr lang="en-US" sz="3200" kern="1200" dirty="0"/>
        </a:p>
      </dsp:txBody>
      <dsp:txXfrm>
        <a:off x="4168322" y="1342134"/>
        <a:ext cx="6471555" cy="683876"/>
      </dsp:txXfrm>
    </dsp:sp>
    <dsp:sp modelId="{4DBEFBE8-EB8A-4DBE-A3AF-7D20E777CDC0}">
      <dsp:nvSpPr>
        <dsp:cNvPr id="0" name=""/>
        <dsp:cNvSpPr/>
      </dsp:nvSpPr>
      <dsp:spPr>
        <a:xfrm>
          <a:off x="4204901" y="2103589"/>
          <a:ext cx="5909822" cy="1959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800" b="1" kern="1200" dirty="0"/>
            <a:t>Input: </a:t>
          </a:r>
          <a:r>
            <a:rPr kumimoji="1" lang="en-US" sz="2800" b="0" kern="1200" dirty="0"/>
            <a:t>4 season data csv,</a:t>
          </a:r>
          <a:r>
            <a:rPr kumimoji="1" lang="en-US" sz="2800" b="1" kern="1200" dirty="0"/>
            <a:t> </a:t>
          </a:r>
          <a:r>
            <a:rPr kumimoji="1" lang="en-US" sz="2800" kern="1200" dirty="0">
              <a:solidFill>
                <a:schemeClr val="accent4"/>
              </a:solidFill>
            </a:rPr>
            <a:t>FP model(</a:t>
          </a:r>
          <a:r>
            <a:rPr kumimoji="1" lang="en-US" sz="2800" kern="1200" dirty="0" err="1">
              <a:solidFill>
                <a:schemeClr val="accent4"/>
              </a:solidFill>
            </a:rPr>
            <a:t>coef</a:t>
          </a:r>
          <a:r>
            <a:rPr kumimoji="1" lang="en-US" sz="2800" kern="1200" dirty="0">
              <a:solidFill>
                <a:schemeClr val="accent4"/>
              </a:solidFill>
            </a:rPr>
            <a:t> &amp; intercept)</a:t>
          </a:r>
          <a:br>
            <a:rPr kumimoji="1" lang="en-US" sz="2800" kern="1200" dirty="0">
              <a:solidFill>
                <a:schemeClr val="accent4"/>
              </a:solidFill>
            </a:rPr>
          </a:br>
          <a:r>
            <a:rPr kumimoji="1" lang="en-US" sz="2800" b="1" kern="1200" dirty="0"/>
            <a:t>Output: </a:t>
          </a:r>
          <a:r>
            <a:rPr kumimoji="1" lang="en-US" sz="2800" kern="1200" dirty="0"/>
            <a:t>Huffman tree</a:t>
          </a:r>
          <a:endParaRPr kumimoji="1" lang="en-US" sz="2800" kern="1200" dirty="0">
            <a:solidFill>
              <a:schemeClr val="accent4"/>
            </a:solidFill>
          </a:endParaRPr>
        </a:p>
      </dsp:txBody>
      <dsp:txXfrm>
        <a:off x="4204901" y="2103589"/>
        <a:ext cx="5909822" cy="19590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0.75425</cdr:x>
      <cdr:y>0.02188</cdr:y>
    </cdr:from>
    <cdr:to>
      <cdr:x>0.99601</cdr:x>
      <cdr:y>0.59295</cdr:y>
    </cdr:to>
    <cdr:sp macro="" textlink="">
      <cdr:nvSpPr>
        <cdr:cNvPr id="2" name="Rectangle: Rounded Corners 1">
          <a:extLst xmlns:a="http://schemas.openxmlformats.org/drawingml/2006/main">
            <a:ext uri="{FF2B5EF4-FFF2-40B4-BE49-F238E27FC236}">
              <a16:creationId xmlns:a16="http://schemas.microsoft.com/office/drawing/2014/main" id="{543EF734-7F5E-CF3B-4D48-5C0C2788150E}"/>
            </a:ext>
          </a:extLst>
        </cdr:cNvPr>
        <cdr:cNvSpPr/>
      </cdr:nvSpPr>
      <cdr:spPr>
        <a:xfrm xmlns:a="http://schemas.openxmlformats.org/drawingml/2006/main">
          <a:off x="8272448" y="94336"/>
          <a:ext cx="2651668" cy="2462454"/>
        </a:xfrm>
        <a:prstGeom xmlns:a="http://schemas.openxmlformats.org/drawingml/2006/main" prst="roundRect">
          <a:avLst>
            <a:gd name="adj" fmla="val 8740"/>
          </a:avLst>
        </a:prstGeom>
        <a:solidFill xmlns:a="http://schemas.openxmlformats.org/drawingml/2006/main">
          <a:schemeClr val="bg1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altLang="ja-JP" sz="24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Uncompressed Send Counts:</a:t>
          </a:r>
        </a:p>
        <a:p xmlns:a="http://schemas.openxmlformats.org/drawingml/2006/main">
          <a: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</a:rPr>
            <a:t>Spring: 649</a:t>
          </a:r>
        </a:p>
        <a:p xmlns:a="http://schemas.openxmlformats.org/drawingml/2006/main">
          <a: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</a:rPr>
            <a:t>Summer: 840</a:t>
          </a:r>
        </a:p>
        <a:p xmlns:a="http://schemas.openxmlformats.org/drawingml/2006/main">
          <a: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</a:rPr>
            <a:t>Fall: 67</a:t>
          </a:r>
        </a:p>
        <a:p xmlns:a="http://schemas.openxmlformats.org/drawingml/2006/main">
          <a:r>
            <a:rPr lang="en-US" altLang="ja-JP" sz="2400" kern="1200" dirty="0">
              <a:solidFill>
                <a:schemeClr val="tx1">
                  <a:lumMod val="75000"/>
                  <a:lumOff val="25000"/>
                </a:schemeClr>
              </a:solidFill>
            </a:rPr>
            <a:t>Winter: 0</a:t>
          </a:r>
          <a:endParaRPr lang="ja-JP" altLang="en-US" sz="2400" kern="1200" dirty="0">
            <a:solidFill>
              <a:schemeClr val="tx1">
                <a:lumMod val="75000"/>
                <a:lumOff val="25000"/>
              </a:schemeClr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6BD699-CCA6-4913-B454-C3D3BD650058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05FF-426C-41A5-85C0-A6F8D3ABF2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483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 warming has led to an increase in the frequency and intensity of heavy rainfall, heightening the risk of flooding at various scales. </a:t>
            </a:r>
          </a:p>
          <a:p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fact, Japan’s annual average rainfall is on the rise, and Tokyo recorded its highest-ever average temperature in 2023.</a:t>
            </a:r>
          </a:p>
          <a:p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Early flood detection is a crucial problem in timely evacuation, particularly in forested areas since they are often affected first.</a:t>
            </a:r>
          </a:p>
          <a:p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response to the growing threat of natural disasters, we are developing an early flood detection system for use in forests and mountainous regions, with LoRaWAN and IoT-based sensors.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0:55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953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LoRaWAN is a LPWAN protocol designed for enabling long-range communication between battery-powered IoT devices. </a:t>
            </a:r>
          </a:p>
          <a:p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operates on </a:t>
            </a:r>
            <a:r>
              <a:rPr kumimoji="1" lang="en-US" altLang="ja-JP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unlicensed radio frequencies </a:t>
            </a: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is optimized for low power consumption, making it ideal for applications where devices must operate </a:t>
            </a:r>
            <a:r>
              <a:rPr kumimoji="1" lang="en-US" altLang="ja-JP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autonomously</a:t>
            </a: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over long periods without frequent battery replacements.</a:t>
            </a:r>
          </a:p>
          <a:p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we want to build an IoT system inside forests, which lacks power and requires wireless connections, we will be using LoRaWAN.</a:t>
            </a:r>
          </a:p>
          <a:p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Despite its long communication range and low power usage, LoRaWAN has a payload limitation of a maximum of 11 bytes, which poses challenges for transmitting large or frequent sensor readings</a:t>
            </a:r>
          </a:p>
          <a:p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address this challenge, we propose a Huffman coding-based data compression method specifically optimized for flood detection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46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Our project goal is ~~</a:t>
            </a:r>
          </a:p>
          <a:p>
            <a:r>
              <a:rPr kumimoji="1" lang="en-US" altLang="ja-JP" dirty="0"/>
              <a:t>In particular, to find a better compression method for flood sensing IoT system and decrease the sensor data send counts for less energy consumption.</a:t>
            </a:r>
          </a:p>
          <a:p>
            <a:r>
              <a:rPr kumimoji="1" lang="en-US" altLang="ja-JP" dirty="0"/>
              <a:t>We will be using Huffman coding as our fundamental compression method.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2:35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6904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Zip: not tailored for specific use such as flood detection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Such as</a:t>
            </a:r>
          </a:p>
          <a:p>
            <a:pPr marL="171450" indent="-171450">
              <a:buFontTx/>
              <a:buChar char="-"/>
            </a:pPr>
            <a:r>
              <a:rPr lang="en-US" altLang="ja-JP" dirty="0"/>
              <a:t>Environmental sensor data</a:t>
            </a:r>
          </a:p>
          <a:p>
            <a:pPr marL="171450" indent="-171450">
              <a:buFontTx/>
              <a:buChar char="-"/>
            </a:pPr>
            <a:r>
              <a:rPr kumimoji="1" lang="en-US" altLang="ja-JP" dirty="0"/>
              <a:t>Text data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2:57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6387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Here we see a Huffman tree constructed based on character frequencies. </a:t>
            </a:r>
          </a:p>
          <a:p>
            <a:r>
              <a:rPr lang="en-US" altLang="ja-JP" dirty="0"/>
              <a:t>Each node represents the combined frequency of its child nodes, and each edge is labeled with either a 0 or a 1, which we follow to generate the binary code for each character.</a:t>
            </a:r>
          </a:p>
          <a:p>
            <a:r>
              <a:rPr lang="en-US" altLang="ja-JP" dirty="0"/>
              <a:t>For example, let’s trace how the character </a:t>
            </a:r>
            <a:r>
              <a:rPr lang="en-US" altLang="ja-JP" b="1" dirty="0"/>
              <a:t>'D'</a:t>
            </a:r>
            <a:r>
              <a:rPr lang="en-US" altLang="ja-JP" dirty="0"/>
              <a:t> is encoded.</a:t>
            </a:r>
          </a:p>
          <a:p>
            <a:r>
              <a:rPr lang="en-US" altLang="ja-JP" dirty="0"/>
              <a:t>Starting from the root node at the top with frequency 100, we follow the path:</a:t>
            </a:r>
          </a:p>
          <a:p>
            <a:r>
              <a:rPr lang="en-US" altLang="ja-JP" dirty="0"/>
              <a:t>Right → gives us </a:t>
            </a:r>
            <a:r>
              <a:rPr lang="en-US" altLang="ja-JP" b="1" dirty="0"/>
              <a:t>1</a:t>
            </a:r>
            <a:endParaRPr lang="en-US" altLang="ja-JP" dirty="0"/>
          </a:p>
          <a:p>
            <a:r>
              <a:rPr lang="en-US" altLang="ja-JP" dirty="0"/>
              <a:t>Right again → another </a:t>
            </a:r>
            <a:r>
              <a:rPr lang="en-US" altLang="ja-JP" b="1" dirty="0"/>
              <a:t>1</a:t>
            </a:r>
            <a:endParaRPr lang="en-US" altLang="ja-JP" dirty="0"/>
          </a:p>
          <a:p>
            <a:r>
              <a:rPr lang="en-US" altLang="ja-JP" dirty="0"/>
              <a:t>Then left → gives us </a:t>
            </a:r>
            <a:r>
              <a:rPr lang="en-US" altLang="ja-JP" b="1" dirty="0"/>
              <a:t>0</a:t>
            </a:r>
            <a:endParaRPr lang="en-US" altLang="ja-JP" dirty="0"/>
          </a:p>
          <a:p>
            <a:r>
              <a:rPr lang="en-US" altLang="ja-JP" dirty="0"/>
              <a:t>So, the code for </a:t>
            </a:r>
            <a:r>
              <a:rPr lang="en-US" altLang="ja-JP" b="1" dirty="0"/>
              <a:t>'D'</a:t>
            </a:r>
            <a:r>
              <a:rPr lang="en-US" altLang="ja-JP" dirty="0"/>
              <a:t> is </a:t>
            </a:r>
            <a:r>
              <a:rPr lang="en-US" altLang="ja-JP" b="1" dirty="0"/>
              <a:t>‘110’</a:t>
            </a:r>
            <a:r>
              <a:rPr lang="en-US" altLang="ja-JP" dirty="0"/>
              <a:t>.</a:t>
            </a:r>
          </a:p>
          <a:p>
            <a:r>
              <a:rPr lang="en-US" altLang="ja-JP" dirty="0"/>
              <a:t>This method allows us to assign shorter codes to more frequent characters and longer codes to less frequent ones, optimizing the overall compression.</a:t>
            </a:r>
          </a:p>
          <a:p>
            <a:r>
              <a:rPr lang="en-US" altLang="ja-JP" dirty="0"/>
              <a:t>4:15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5180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468F-458C-D7FF-DDA1-267721876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C7BFA-2A15-3DE0-5CD7-6556CDE07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A58E6-51E7-C9A4-1CF3-B4773C9A4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今</a:t>
            </a:r>
            <a:r>
              <a:rPr kumimoji="1" lang="en-US" altLang="ja-JP" dirty="0"/>
              <a:t>prior work</a:t>
            </a:r>
            <a:r>
              <a:rPr kumimoji="1" lang="ja-JP" altLang="en-US" dirty="0"/>
              <a:t>があって、</a:t>
            </a:r>
            <a:r>
              <a:rPr kumimoji="1" lang="en-US" altLang="ja-JP" dirty="0"/>
              <a:t>Huffman coding</a:t>
            </a:r>
            <a:r>
              <a:rPr kumimoji="1" lang="ja-JP" altLang="en-US" dirty="0"/>
              <a:t>を季節ごとに変える</a:t>
            </a:r>
            <a:r>
              <a:rPr kumimoji="1" lang="en-US" altLang="ja-JP" dirty="0"/>
              <a:t>,</a:t>
            </a:r>
            <a:r>
              <a:rPr kumimoji="1" lang="ja-JP" altLang="en-US" dirty="0"/>
              <a:t>こうしましたという説明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Next, I would like to introduce our prior work: </a:t>
            </a:r>
            <a:r>
              <a:rPr lang="en-US" altLang="ja-JP" b="1" dirty="0"/>
              <a:t>Seasonal Huffman Coding</a:t>
            </a:r>
            <a:r>
              <a:rPr lang="en-US" altLang="ja-JP" dirty="0"/>
              <a:t>.</a:t>
            </a:r>
            <a:br>
              <a:rPr lang="en-US" altLang="ja-JP" dirty="0"/>
            </a:br>
            <a:r>
              <a:rPr lang="en-US" altLang="ja-JP" dirty="0"/>
              <a:t>In this approach, we divided the sensor data by season — spring, summer, fall, and winter — and built a separate Huffman tree for each.</a:t>
            </a:r>
            <a:br>
              <a:rPr lang="en-US" altLang="ja-JP" dirty="0"/>
            </a:br>
            <a:r>
              <a:rPr lang="en-US" altLang="ja-JP" dirty="0"/>
              <a:t>When encoding, we selected the appropriate tree based on the timestamp of each sensor reading, to</a:t>
            </a:r>
            <a:r>
              <a:rPr lang="ja-JP" altLang="en-US" dirty="0"/>
              <a:t> </a:t>
            </a:r>
            <a:r>
              <a:rPr lang="en-US" altLang="ja-JP" dirty="0"/>
              <a:t>capture seasonal patterns in the data distribution.</a:t>
            </a:r>
          </a:p>
          <a:p>
            <a:r>
              <a:rPr kumimoji="1" lang="en-US" altLang="ja-JP" dirty="0"/>
              <a:t>4:55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6E40D-FC53-B140-EA20-450956C72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8629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3C08-6FF9-774D-53BB-9FCD9BCF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A0A15-F391-B1E6-8DC1-497366824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D1943-70EB-2605-1227-8884869B0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evaluate the proposed method, we compared compression ratios between standard and compressed data transmission using the sensor data from Japan Meteorological Agency. </a:t>
            </a:r>
          </a:p>
          <a:p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result is as shown in this graph. </a:t>
            </a: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Huffman coding performed 88.8% reduction rate to where ZIP compression performed 87.5%. </a:t>
            </a: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shows how seasonal Huffman coding outperformed raw or standard ZIP compressions.</a:t>
            </a:r>
          </a:p>
          <a:p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(I </a:t>
            </a:r>
            <a:r>
              <a:rPr lang="en-US" altLang="ja-JP" dirty="0"/>
              <a:t>did not include run-length encoding in the extended abstract because it required creating an additional Huffman tree for the repetition counts. This made the method more complex and less practical for real-world deployment.)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5:30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59D3C-74F3-D68E-0683-0AF38CAE0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7558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A503-D742-9842-EB8F-7F1E0E40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3C45D-7742-993E-DA84-150C5AA0F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6B35D-5E8C-23C8-D9A5-332CD8F86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came to us with these questions: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Is seasonal Huffman coding more effective than all-season Huffman coding?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In order to answer this question, we decided to compare both seasonal and all-season Huffman coding.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A3E4F-45EE-4177-BA46-7786665D9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603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C3D98-241B-58D7-B35D-10D4FC99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D71E7-4500-CCEA-EFF8-5DC5690D2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53398-33C5-B386-9CFB-3141017EA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 I would like to explain what Seasonal and All-Season Huffman coding is.</a:t>
            </a:r>
          </a:p>
          <a:p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Seasonal Huffman coding divides the dataset into four temporal segments corresponding to the four seasons: </a:t>
            </a:r>
            <a:r>
              <a:rPr kumimoji="1" lang="en-US" altLang="ja-JP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Spring(March-May), Summer(June-August), Fall(September-November), and Winter(December-February</a:t>
            </a: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</a:t>
            </a: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each segment, a separate Huffman tree is</a:t>
            </a:r>
            <a:r>
              <a:rPr kumimoji="1" lang="ja-JP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constructed based on the </a:t>
            </a:r>
            <a:r>
              <a:rPr kumimoji="1" lang="en-US" altLang="ja-JP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symbol frequencies </a:t>
            </a: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observed during that specific season. </a:t>
            </a: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was what we used in our prior experiment.</a:t>
            </a:r>
          </a:p>
          <a:p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II. All-Season Huffman Coding:</a:t>
            </a: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All-season Huffman coding, by contrast, constructs a single Huffman tree combining all samples from each season. </a:t>
            </a: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approach attempts to generalize across seasonal fluctuations, producing a tree that reflects the average symbol distribution across the entire year.</a:t>
            </a: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kumimoji="1" lang="ja-JP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would be simpler</a:t>
            </a:r>
            <a:r>
              <a:rPr kumimoji="1" lang="ja-JP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kumimoji="1" lang="ja-JP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deploy</a:t>
            </a:r>
            <a:r>
              <a:rPr kumimoji="1" lang="ja-JP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</a:t>
            </a:r>
            <a:r>
              <a:rPr kumimoji="1" lang="ja-JP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</a:t>
            </a:r>
            <a:r>
              <a:rPr kumimoji="1" lang="ja-JP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 compared to the seasonal </a:t>
            </a:r>
            <a:r>
              <a:rPr kumimoji="1" lang="en-US" altLang="ja-JP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huffman</a:t>
            </a:r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kumimoji="1" lang="en-US" altLang="ja-JP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7:20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A6F4F-608E-FE8E-7C48-034948911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4209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B0CAB-D303-354E-D36F-7D1D55C6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92C68-D05A-0ED6-8701-46A561863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E3165-151F-017A-3B86-93CB7555D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Coming back to the research question…</a:t>
            </a:r>
          </a:p>
          <a:p>
            <a:r>
              <a:rPr lang="en-US" altLang="ja-JP" dirty="0"/>
              <a:t>The current compression method does not take into account any </a:t>
            </a:r>
            <a:r>
              <a:rPr lang="en-US" altLang="ja-JP" b="1" dirty="0"/>
              <a:t>threshold</a:t>
            </a:r>
            <a:r>
              <a:rPr lang="en-US" altLang="ja-JP" dirty="0"/>
              <a:t> for transmitting data.</a:t>
            </a:r>
            <a:br>
              <a:rPr lang="en-US" altLang="ja-JP" dirty="0"/>
            </a:br>
            <a:r>
              <a:rPr lang="en-US" altLang="ja-JP" dirty="0"/>
              <a:t>However, when designing a flood-aware IoT sensor system, this kind of threshold is essential.</a:t>
            </a:r>
          </a:p>
          <a:p>
            <a:r>
              <a:rPr lang="en-US" altLang="ja-JP" dirty="0"/>
              <a:t>To address this, we introduce </a:t>
            </a:r>
            <a:r>
              <a:rPr lang="en-US" altLang="ja-JP" b="1" dirty="0"/>
              <a:t>Flood Probability</a:t>
            </a:r>
            <a:r>
              <a:rPr lang="en-US" altLang="ja-JP" dirty="0"/>
              <a:t>, or </a:t>
            </a:r>
            <a:r>
              <a:rPr lang="en-US" altLang="ja-JP" b="1" dirty="0"/>
              <a:t>FP</a:t>
            </a:r>
            <a:r>
              <a:rPr lang="en-US" altLang="ja-JP" dirty="0"/>
              <a:t> for short.</a:t>
            </a:r>
            <a:br>
              <a:rPr lang="en-US" altLang="ja-JP" dirty="0"/>
            </a:br>
            <a:r>
              <a:rPr lang="en-US" altLang="ja-JP" dirty="0"/>
              <a:t>FP represents the likelihood of a flood occurring, and it can be calculated from sensor data such as temperature, humidity, and rainfall.</a:t>
            </a:r>
          </a:p>
          <a:p>
            <a:r>
              <a:rPr lang="en-US" altLang="ja-JP" dirty="0"/>
              <a:t>In addition, we apply </a:t>
            </a:r>
            <a:r>
              <a:rPr lang="en-US" altLang="ja-JP" b="1" dirty="0"/>
              <a:t>weights</a:t>
            </a:r>
            <a:r>
              <a:rPr lang="en-US" altLang="ja-JP" dirty="0"/>
              <a:t> based on FP — assigning higher weights to data with higher flood probability.</a:t>
            </a:r>
            <a:br>
              <a:rPr lang="en-US" altLang="ja-JP" dirty="0"/>
            </a:br>
            <a:r>
              <a:rPr lang="en-US" altLang="ja-JP" dirty="0"/>
              <a:t>This allows the system to prioritize transmitting more critical data, while ignoring low-risk information.</a:t>
            </a:r>
          </a:p>
          <a:p>
            <a:endParaRPr lang="en-US" altLang="ja-JP" dirty="0"/>
          </a:p>
          <a:p>
            <a:r>
              <a:rPr lang="en-US" altLang="ja-JP" dirty="0"/>
              <a:t>8:16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5D96D-1506-9259-1B95-EF949D7C2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659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DEB34-EEE9-91FD-5572-2E82F333A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9116C-B29A-18C1-C8AC-0D91D7C93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FFDA6-BC18-60C3-A4C0-3A1F3C6B4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This is how the weights work.</a:t>
            </a:r>
          </a:p>
          <a:p>
            <a:r>
              <a:rPr lang="en-US" altLang="ja-JP" dirty="0"/>
              <a:t>When constructing the Huffman tree, we consider two weighting strategies.</a:t>
            </a:r>
            <a:br>
              <a:rPr lang="en-US" altLang="ja-JP" dirty="0"/>
            </a:br>
            <a:endParaRPr lang="en-US" altLang="ja-JP" dirty="0"/>
          </a:p>
          <a:p>
            <a:r>
              <a:rPr lang="en-US" altLang="ja-JP" dirty="0"/>
              <a:t>The </a:t>
            </a:r>
            <a:r>
              <a:rPr lang="en-US" altLang="ja-JP" b="1" dirty="0"/>
              <a:t>unweighted</a:t>
            </a:r>
            <a:r>
              <a:rPr lang="en-US" altLang="ja-JP" dirty="0"/>
              <a:t> method uses raw symbol frequency, treating all data equally, regardless of flood risk.</a:t>
            </a:r>
          </a:p>
          <a:p>
            <a:br>
              <a:rPr lang="en-US" altLang="ja-JP" dirty="0"/>
            </a:br>
            <a:r>
              <a:rPr lang="en-US" altLang="ja-JP" dirty="0"/>
              <a:t>In contrast, the </a:t>
            </a:r>
            <a:r>
              <a:rPr lang="en-US" altLang="ja-JP" b="1" dirty="0"/>
              <a:t>flood-risk weighted</a:t>
            </a:r>
            <a:r>
              <a:rPr lang="en-US" altLang="ja-JP" dirty="0"/>
              <a:t> method gives more importance to symbols that frequently appear when the Flood Probability is high.</a:t>
            </a:r>
          </a:p>
          <a:p>
            <a:r>
              <a:rPr lang="en-US" altLang="ja-JP" dirty="0"/>
              <a:t>This means sensor patterns strongly correlated with flood conditions are more efficiently encoded.</a:t>
            </a:r>
            <a:endParaRPr kumimoji="1"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F2CDD-B74A-4DF7-6EF0-98B4CC8A5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299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our proposed approach, we first do a FP calculation, to check whether the given sensor data indicates high flood risks. </a:t>
            </a: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 FP exceeds 90%, we compress the data using the Huffman trees and send it to the cloud via LoRaWAN.</a:t>
            </a: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kumimoji="1" lang="en-US" altLang="ja-JP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Here, </a:t>
            </a:r>
            <a:r>
              <a:rPr lang="en-US" altLang="ja-JP" dirty="0"/>
              <a:t>we mainly focused on how to generate better Huffman trees that reflect the characteristics of </a:t>
            </a:r>
            <a:r>
              <a:rPr lang="en-US" altLang="ja-JP" b="1" dirty="0"/>
              <a:t>data under high-risk conditions.</a:t>
            </a:r>
          </a:p>
          <a:p>
            <a:r>
              <a:rPr kumimoji="1" lang="en-US" altLang="ja-JP" b="1" dirty="0"/>
              <a:t>9:28</a:t>
            </a:r>
          </a:p>
          <a:p>
            <a:endParaRPr kumimoji="1"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44071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A94B-6146-71AC-C68D-00C61F8A4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B7BED-DA16-6275-4A2F-DF982C719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BF26D-2DD5-78BE-44CA-CF9D57A7B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Now, FP is a probability that the precipitation is likely to go over 10mm(which we decided as a threshold for the term “flood”, only because it was hard to find data that went over 30mm which is considered the amount flood could occur)</a:t>
            </a:r>
            <a:endParaRPr kumimoji="1" lang="ja-JP" altLang="en-US" dirty="0"/>
          </a:p>
          <a:p>
            <a:endParaRPr lang="en-US" altLang="ja-JP" dirty="0"/>
          </a:p>
          <a:p>
            <a:r>
              <a:rPr lang="en-US" altLang="ja-JP" dirty="0"/>
              <a:t>(We calculate the FP using </a:t>
            </a:r>
            <a:r>
              <a:rPr lang="en-US" altLang="ja-JP" b="1" dirty="0"/>
              <a:t>logistic regression</a:t>
            </a:r>
            <a:r>
              <a:rPr lang="en-US" altLang="ja-JP" dirty="0"/>
              <a:t>.</a:t>
            </a:r>
            <a:br>
              <a:rPr lang="en-US" altLang="ja-JP" dirty="0"/>
            </a:br>
            <a:r>
              <a:rPr lang="en-US" altLang="ja-JP" dirty="0"/>
              <a:t>The model was trained on meteorological data from </a:t>
            </a:r>
            <a:r>
              <a:rPr lang="en-US" altLang="ja-JP" b="1" dirty="0"/>
              <a:t>2023 to 2024</a:t>
            </a:r>
            <a:r>
              <a:rPr lang="en-US" altLang="ja-JP" dirty="0"/>
              <a:t>, collected across </a:t>
            </a:r>
            <a:r>
              <a:rPr lang="en-US" altLang="ja-JP" b="1" dirty="0"/>
              <a:t>8 regions in Japan</a:t>
            </a:r>
            <a:r>
              <a:rPr lang="en-US" altLang="ja-JP" dirty="0"/>
              <a:t> and spanning </a:t>
            </a:r>
            <a:r>
              <a:rPr lang="en-US" altLang="ja-JP" b="1" dirty="0"/>
              <a:t>all four seasons</a:t>
            </a:r>
            <a:r>
              <a:rPr lang="en-US" altLang="ja-JP" dirty="0"/>
              <a:t>.</a:t>
            </a:r>
            <a:br>
              <a:rPr lang="en-US" altLang="ja-JP" dirty="0"/>
            </a:br>
            <a:r>
              <a:rPr lang="en-US" altLang="ja-JP" dirty="0"/>
              <a:t>Each data point includes </a:t>
            </a:r>
            <a:r>
              <a:rPr lang="en-US" altLang="ja-JP" b="1" dirty="0"/>
              <a:t>temperature, humidity, and precipitation</a:t>
            </a:r>
            <a:br>
              <a:rPr lang="en-US" altLang="ja-JP" dirty="0"/>
            </a:br>
            <a:r>
              <a:rPr lang="en-US" altLang="ja-JP" dirty="0"/>
              <a:t>To focus on flood-relevant scenarios, we filtered the dataset to only include actual flood cases.)</a:t>
            </a:r>
          </a:p>
          <a:p>
            <a:r>
              <a:rPr lang="en-US" altLang="ja-JP" dirty="0"/>
              <a:t>10:25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C3223-542C-B33D-701C-C06B913D6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698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Our compression strategy consists of two main parts.</a:t>
            </a:r>
            <a:br>
              <a:rPr lang="en-US" altLang="ja-JP" dirty="0"/>
            </a:br>
            <a:r>
              <a:rPr lang="en-US" altLang="ja-JP" dirty="0"/>
              <a:t>The compression methods of either seasonal Huffman or all-season Huffman coding</a:t>
            </a:r>
            <a:r>
              <a:rPr kumimoji="1" lang="en-US" altLang="ja-JP" dirty="0"/>
              <a:t>,</a:t>
            </a:r>
            <a:r>
              <a:rPr kumimoji="1" lang="ja-JP" altLang="en-US" dirty="0"/>
              <a:t> </a:t>
            </a:r>
            <a:r>
              <a:rPr kumimoji="1" lang="en-US" altLang="ja-JP" dirty="0"/>
              <a:t>and symbol weighting strategy, of either unweighted or weighted.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Therefore, there will be four strategies of creating a Huffman tree.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10:50</a:t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9977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All parts of the experiment were implemented in Python.</a:t>
            </a:r>
            <a:br>
              <a:rPr lang="en-US" altLang="ja-JP" dirty="0"/>
            </a:br>
            <a:r>
              <a:rPr lang="en-US" altLang="ja-JP" dirty="0"/>
              <a:t>We used meteorological CSV data from the Japan Meteorological Agency.</a:t>
            </a:r>
            <a:br>
              <a:rPr lang="en-US" altLang="ja-JP" dirty="0"/>
            </a:br>
            <a:r>
              <a:rPr lang="en-US" altLang="ja-JP" dirty="0"/>
              <a:t>First, we trained the FP model using temperature, humidity, and precipitation.</a:t>
            </a:r>
            <a:br>
              <a:rPr lang="en-US" altLang="ja-JP" dirty="0"/>
            </a:br>
            <a:r>
              <a:rPr lang="en-US" altLang="ja-JP" dirty="0"/>
              <a:t>This model outputs coefficients and intercepts, which </a:t>
            </a:r>
            <a:r>
              <a:rPr lang="en-US" altLang="ja-JP" b="1" dirty="0"/>
              <a:t>we later use to compute FP values for each sensor reading.</a:t>
            </a:r>
            <a:br>
              <a:rPr lang="en-US" altLang="ja-JP" dirty="0"/>
            </a:br>
            <a:r>
              <a:rPr lang="en-US" altLang="ja-JP" dirty="0"/>
              <a:t>Next, we used this FP information along with the seasonal data to construct Huffman trees — either unweighted or flood-risk weighted — depending on the strategy</a:t>
            </a:r>
          </a:p>
          <a:p>
            <a:r>
              <a:rPr kumimoji="1" lang="en-US" altLang="ja-JP" dirty="0"/>
              <a:t>11:30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72890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To calculate Flood Probability, we used a logistic regression model trained in Python.</a:t>
            </a:r>
            <a:br>
              <a:rPr lang="en-US" altLang="ja-JP" dirty="0"/>
            </a:br>
            <a:r>
              <a:rPr lang="en-US" altLang="ja-JP" dirty="0"/>
              <a:t>The model takes temperature and humidity as input and outputs the probability of flooding.</a:t>
            </a:r>
            <a:br>
              <a:rPr lang="en-US" altLang="ja-JP" dirty="0"/>
            </a:br>
            <a:r>
              <a:rPr lang="en-US" altLang="ja-JP" dirty="0"/>
              <a:t>The coefficient and intercept values shown here were obtained by training the model using historical data of actual flood cases with precipitation over 10 mm.</a:t>
            </a:r>
            <a:br>
              <a:rPr lang="en-US" altLang="ja-JP" dirty="0"/>
            </a:b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325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The metrics are as shown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67881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Here, we can observe the file sizes.</a:t>
            </a:r>
            <a:br>
              <a:rPr lang="en-US" altLang="ja-JP" dirty="0"/>
            </a:br>
            <a:r>
              <a:rPr lang="en-US" altLang="ja-JP" dirty="0"/>
              <a:t>First, </a:t>
            </a:r>
            <a:r>
              <a:rPr lang="en-US" altLang="ja-JP" b="1" dirty="0"/>
              <a:t>seasonal Huffman coding performs better</a:t>
            </a:r>
            <a:r>
              <a:rPr lang="en-US" altLang="ja-JP" dirty="0"/>
              <a:t> than the standard all-season model.</a:t>
            </a:r>
          </a:p>
          <a:p>
            <a:r>
              <a:rPr lang="en-US" altLang="ja-JP" b="1" dirty="0"/>
              <a:t>This confirms that the seasonal distribution was effective improving the compression rate. </a:t>
            </a:r>
          </a:p>
          <a:p>
            <a:endParaRPr lang="en-US" altLang="ja-JP" dirty="0"/>
          </a:p>
          <a:p>
            <a:r>
              <a:rPr lang="en-US" altLang="ja-JP" dirty="0"/>
              <a:t>On the other hand, </a:t>
            </a:r>
            <a:r>
              <a:rPr lang="en-US" altLang="ja-JP" b="1" dirty="0"/>
              <a:t>the unweighted all-season Huffman coding shows the lowest compression efficiency.</a:t>
            </a:r>
            <a:br>
              <a:rPr lang="en-US" altLang="ja-JP" dirty="0"/>
            </a:br>
            <a:r>
              <a:rPr lang="en-US" altLang="ja-JP" dirty="0"/>
              <a:t>This is because it focuses on encoding the most frequent data across all seasons — such as temperature — which may not have direct correlations with the rainfall.</a:t>
            </a:r>
            <a:br>
              <a:rPr lang="en-US" altLang="ja-JP" dirty="0"/>
            </a:br>
            <a:r>
              <a:rPr lang="en-US" altLang="ja-JP" dirty="0"/>
              <a:t>As a result, data from </a:t>
            </a:r>
            <a:r>
              <a:rPr lang="en-US" altLang="ja-JP" b="1" dirty="0"/>
              <a:t>fall and winter</a:t>
            </a:r>
            <a:r>
              <a:rPr lang="en-US" altLang="ja-JP" dirty="0"/>
              <a:t>, which have low flood relevance, become a noise in the Huffman tree."</a:t>
            </a:r>
          </a:p>
          <a:p>
            <a:endParaRPr lang="en-US" altLang="ja-JP" dirty="0"/>
          </a:p>
          <a:p>
            <a:r>
              <a:rPr lang="en-US" altLang="ja-JP" dirty="0"/>
              <a:t>Q&amp;A:</a:t>
            </a:r>
          </a:p>
          <a:p>
            <a:r>
              <a:rPr lang="en-US" altLang="ja-JP" dirty="0"/>
              <a:t>I think the seasonal Huffman didn’t have much effect with weighted or unweighted, because it had less datasets than the all season Huffman.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0" dirty="0"/>
              <a:t>So, we’ll have to try with a larger dataset 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0" dirty="0"/>
              <a:t>13:18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585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86042-34E5-8BE8-3E62-0D5FFC4E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0EC84-7DA1-D538-2CDA-040AB436E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70E33-49C7-6B7E-62F4-B22408D3F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Second, </a:t>
            </a:r>
            <a:r>
              <a:rPr lang="en-US" altLang="ja-JP" b="1" dirty="0"/>
              <a:t>the flood-risk-weighted all-season model outperforms all others</a:t>
            </a:r>
            <a:r>
              <a:rPr lang="en-US" altLang="ja-JP" dirty="0"/>
              <a:t>, achieving the smallest file size.</a:t>
            </a:r>
          </a:p>
          <a:p>
            <a:r>
              <a:rPr lang="en-US" altLang="ja-JP" dirty="0"/>
              <a:t>Although it is trained on data from all four seasons, applying </a:t>
            </a:r>
            <a:r>
              <a:rPr lang="en-US" altLang="ja-JP" b="1" dirty="0"/>
              <a:t>FP-based weighting</a:t>
            </a:r>
            <a:r>
              <a:rPr lang="en-US" altLang="ja-JP" dirty="0"/>
              <a:t> enables the model to focus on flood-relevant data.</a:t>
            </a:r>
            <a:br>
              <a:rPr lang="en-US" altLang="ja-JP" dirty="0"/>
            </a:br>
            <a:r>
              <a:rPr lang="en-US" altLang="ja-JP" dirty="0"/>
              <a:t>This results in a more effective Huffman tree for compressing flood-related sensor readings.</a:t>
            </a:r>
          </a:p>
          <a:p>
            <a:r>
              <a:rPr lang="en-US" altLang="ja-JP" dirty="0"/>
              <a:t>While seasonal segmentation helps to capture temporal patterns, the all-season model benefits from a larger dataset and the ability to </a:t>
            </a:r>
            <a:r>
              <a:rPr lang="en-US" altLang="ja-JP" b="1" dirty="0"/>
              <a:t>selectively emphasize high-risk data via FP</a:t>
            </a:r>
            <a:r>
              <a:rPr lang="en-US" altLang="ja-JP" dirty="0"/>
              <a:t>, leading to the best overall compression performance.</a:t>
            </a:r>
          </a:p>
          <a:p>
            <a:endParaRPr lang="en-US" altLang="ja-JP" dirty="0"/>
          </a:p>
          <a:p>
            <a:r>
              <a:rPr lang="en-US" altLang="ja-JP" dirty="0"/>
              <a:t>Q&amp;A:</a:t>
            </a:r>
          </a:p>
          <a:p>
            <a:r>
              <a:rPr lang="en-US" altLang="ja-JP" dirty="0"/>
              <a:t>I think the seasonal Huffman didn’t have much effect with weighted or unweighted, because it had less datasets than the all season Huffman.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0" dirty="0"/>
              <a:t>So, we’ll have to try with a larger dataset 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0" dirty="0"/>
              <a:t>14:18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F09B3-3F53-D789-C2CD-6F7B79EF6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7333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This slide compares the results from our initial experiment to the final version using the Flood Probability model.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ja-JP" dirty="0"/>
            </a:br>
            <a:r>
              <a:rPr lang="en-US" altLang="ja-JP" dirty="0"/>
              <a:t>We found that integrating FP into the compression pipeline significantly improved overall performance.</a:t>
            </a:r>
            <a:br>
              <a:rPr lang="en-US" altLang="ja-JP" dirty="0"/>
            </a:br>
            <a:endParaRPr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In both experiments, every method except the unweighted all-season Huffman outperformed ZIP compression.</a:t>
            </a:r>
            <a:br>
              <a:rPr lang="en-US" altLang="ja-JP" dirty="0"/>
            </a:br>
            <a:endParaRPr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As for run-length encoding, we decided not to include it in the second experiment, because it required building a second Huffman tree just for encoding repetition counts, which added complexity and made it less suitable for real-world applications.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15:10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7295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This slide shows the number of transmissions needed after applying Huffman compression.</a:t>
            </a:r>
            <a:br>
              <a:rPr lang="en-US" altLang="ja-JP" dirty="0"/>
            </a:br>
            <a:endParaRPr lang="en-US" altLang="ja-JP" dirty="0"/>
          </a:p>
          <a:p>
            <a:r>
              <a:rPr lang="en-US" altLang="ja-JP" dirty="0"/>
              <a:t>For reference, the </a:t>
            </a:r>
            <a:r>
              <a:rPr lang="en-US" altLang="ja-JP" b="1" dirty="0"/>
              <a:t>uncompressed</a:t>
            </a:r>
            <a:r>
              <a:rPr lang="en-US" altLang="ja-JP" dirty="0"/>
              <a:t> send counts were: Spring – 649, Summer – 840, Fall – 67, and Winter – 0.</a:t>
            </a:r>
          </a:p>
          <a:p>
            <a:endParaRPr lang="en-US" altLang="ja-JP" dirty="0"/>
          </a:p>
          <a:p>
            <a:r>
              <a:rPr lang="en-US" altLang="ja-JP" dirty="0"/>
              <a:t>Now look at the bar chart: both Seasonal and All-Season Huffman methods </a:t>
            </a:r>
            <a:r>
              <a:rPr lang="en-US" altLang="ja-JP" b="1" dirty="0"/>
              <a:t>reduce transmission counts drastically</a:t>
            </a:r>
            <a:r>
              <a:rPr lang="en-US" altLang="ja-JP" dirty="0"/>
              <a:t>, with fewer than 70 sends even in high-data seasons like Spring and Summer.</a:t>
            </a:r>
            <a:br>
              <a:rPr lang="en-US" altLang="ja-JP" dirty="0"/>
            </a:br>
            <a:endParaRPr lang="en-US" altLang="ja-JP" dirty="0"/>
          </a:p>
          <a:p>
            <a:r>
              <a:rPr lang="en-US" altLang="ja-JP" dirty="0"/>
              <a:t>This highlights the system's </a:t>
            </a:r>
            <a:r>
              <a:rPr lang="en-US" altLang="ja-JP" b="1" dirty="0"/>
              <a:t>adaptive nature</a:t>
            </a:r>
            <a:r>
              <a:rPr lang="en-US" altLang="ja-JP" dirty="0"/>
              <a:t>, sending data only when necessary, based on flood probability.</a:t>
            </a:r>
          </a:p>
          <a:p>
            <a:endParaRPr lang="en-US" altLang="ja-JP" dirty="0"/>
          </a:p>
          <a:p>
            <a:r>
              <a:rPr lang="en-US" altLang="ja-JP" dirty="0"/>
              <a:t>This doesn’t just save bandwidth — it also preserves energy, which is critical for remote sensors operating in forests or mountains over long periods.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Q: </a:t>
            </a:r>
            <a:r>
              <a:rPr kumimoji="1" lang="ja-JP" altLang="en-US" dirty="0"/>
              <a:t>これは、どうやって送信した回数を数えた？</a:t>
            </a:r>
            <a:endParaRPr kumimoji="1" lang="en-US" altLang="ja-JP" dirty="0"/>
          </a:p>
          <a:p>
            <a:r>
              <a:rPr kumimoji="1" lang="en-US" altLang="ja-JP" dirty="0"/>
              <a:t>Answer: </a:t>
            </a:r>
          </a:p>
          <a:p>
            <a:r>
              <a:rPr kumimoji="1" lang="en-US" altLang="ja-JP" dirty="0"/>
              <a:t>From the csv sensor data, we compressed only the data that had the FP of over 90% and encoded the Huffman code by writing into a text file.</a:t>
            </a:r>
          </a:p>
          <a:p>
            <a:r>
              <a:rPr kumimoji="1" lang="en-US" altLang="ja-JP" dirty="0"/>
              <a:t>In the text file, a newline was inserted whenever the FP dropped below 90% or when the length of a line exceeded 11 bytes, indicating a transmission event.</a:t>
            </a:r>
          </a:p>
          <a:p>
            <a:r>
              <a:rPr kumimoji="1" lang="en-US" altLang="ja-JP" dirty="0"/>
              <a:t>The total number of new lines was then counted to estimate the number of transmissions.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Q: What does it mean seasonal and all-season here about the send counts?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16:10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69363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="0" dirty="0"/>
              <a:t>As for result, All-season Huffman coding with flood-risk weighted showed the best performance. </a:t>
            </a:r>
            <a:endParaRPr lang="en-US" altLang="ja-JP" dirty="0"/>
          </a:p>
          <a:p>
            <a:r>
              <a:rPr lang="en-US" altLang="ja-JP" dirty="0"/>
              <a:t>The weighting by flood-risk helped prioritize symbols that are important during emergencies. And instead of managing four seasonal trees, a single weighted tree gave us better results and simplified implementation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dirty="0">
              <a:solidFill>
                <a:schemeClr val="accent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chemeClr val="accent1"/>
                </a:solidFill>
              </a:rPr>
              <a:t>Compared to the seasonal Huffman coding, all-season Huffman 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chemeClr val="accent1"/>
                </a:solidFill>
              </a:rPr>
              <a:t>✔</a:t>
            </a:r>
            <a:r>
              <a:rPr lang="en-US" altLang="ja-JP" sz="1200" dirty="0"/>
              <a:t> Simpler to deploy and</a:t>
            </a:r>
            <a:br>
              <a:rPr lang="en-US" altLang="ja-JP" sz="1200" dirty="0"/>
            </a:br>
            <a:r>
              <a:rPr lang="en-US" altLang="ja-JP" sz="1200" dirty="0">
                <a:solidFill>
                  <a:schemeClr val="accent1"/>
                </a:solidFill>
              </a:rPr>
              <a:t>✔</a:t>
            </a:r>
            <a:r>
              <a:rPr lang="en-US" altLang="ja-JP" sz="1200" dirty="0"/>
              <a:t> More stable across seasons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/>
              <a:t>16:36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39177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FEDA-D8DB-F81D-6F02-6F456AA35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83E83-7280-7C5B-552C-A812C5F60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DE4BB-603A-0B92-58D5-C3F127269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Our next step is to implement this in hardware and test in real environmental conditions. </a:t>
            </a:r>
          </a:p>
          <a:p>
            <a:r>
              <a:rPr lang="en-US" altLang="ja-JP" dirty="0"/>
              <a:t>We also want to explore custom ASICs for further power and performance optimization.</a:t>
            </a:r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D02A6-AF8A-2D24-ECF3-9920C8285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1579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We found that combining Huffman compression with flood-awareness significantly improves performance, making the system both efficient and practical for real-world deployment.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We achieved ~ than our prior work.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17:47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00834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05FF-426C-41A5-85C0-A6F8D3ABF25D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265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B53E-5F2C-6BB9-95F9-97509799D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87C18-D7EC-B83F-61B9-3E5655A2E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C76E0-A1A1-F023-2329-F64106235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7908-4083-4026-943A-A4B8A1908ED1}" type="datetime1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51549-3082-535E-ABE2-4CB653C5A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9AE4-8316-CA63-4714-86963EE6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283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4CF47-0290-B3E1-1243-FFF5AC5BB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EE2B0-5BBC-2A50-26B1-16A640553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DEBFF-966F-41D0-A0F8-989E1CC47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1F3C-0015-4FDB-BD71-BA1E634A3D2D}" type="datetime1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277B7-D30E-26DE-F709-B8B66B39C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F96E2-0FB2-1562-C133-B1975A214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719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61123-DC15-01D0-E110-803FE5761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23F81-C0BB-7592-0BFD-5591897D7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B042A-BA93-69E8-4F77-74C3ACC4B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3B0E-AFC5-423B-AB50-334AA458C05C}" type="datetime1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86BB1-E37D-394A-D86E-EE920177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77369-7F73-E125-20E8-5CFE81313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4003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6E3A0-EB63-7F41-F070-151F6E0C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D922A-279E-AC5D-7334-855506C90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1E584-CCDF-1F14-B3F5-87EC7F09F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8CCAB-4116-B172-026C-245257FA1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D9D9-8DA9-4C72-B0EC-AA7385FC7BA7}" type="datetime1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D7B4A-A2E6-CC89-0A66-ABC7F7EE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8931C-FED8-4E2B-D3CE-AB4B078D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034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EC22-2A90-D633-A6A4-68669AEE5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7CDBD-9CBF-4A26-BD3A-5E2028B3F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D0262-FBD6-6E88-A4FD-FFF2034BA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BE905-C659-A6E1-82C9-EB5ECACD6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03312-651B-D3E9-9D14-FD094872C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14239-BE22-7245-A48B-2507C3DB2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C7485-F63C-4BBA-9841-437B80AFA78E}" type="datetime1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94D1D6-0E10-3198-0E9A-F6F4A3577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5F29EE-73F1-F340-1FDE-35BC6B5A6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614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EC0E-EE13-568E-0A32-DC37B098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EEE7F6-B11D-52CB-5B54-34B1F8B0E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73BF4-E0D1-4451-85C1-843077EB9DE4}" type="datetime1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40F91-2F00-E63C-D588-953AB2E3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97FBD-1FCB-3044-5F1F-B295E57A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628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2CB367-2989-9643-E4C5-AD4559690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F6DA7-C6A1-460F-8F5B-87306D3C2251}" type="datetime1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D33030-5EC8-60B7-E6B9-F6EE58925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8513E-83D2-0CE9-85CD-9C7DCDAD8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1636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5BAE8-CF7C-A5D7-6D57-DC5485C2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8B3E6-12EA-B016-339F-BB71E1460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9DF86-1ABE-91C2-6F7E-2AB65E6E4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B2C25-AE5E-0D91-E0D9-D7F813298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9D7D-B90D-48F4-AF58-2568274AF85A}" type="datetime1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5FE31-779E-B150-36E1-C0DB1077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C2040-751E-B895-06D5-F17E3E9B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646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925A-5BCE-642A-FD22-6508D9A3E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B2E62-0758-17EF-904B-8E50431626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856F5-8295-F4CF-1AC8-AE1DA28AB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4F1B4-271C-1907-7FC4-33D41BED8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5493-C6E7-42CE-99AF-A437FDB75896}" type="datetime1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5875D-69DE-1A42-8F74-E6085836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CFD11-6B60-EF8B-72CC-F9F92D6A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074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D873-CFA1-463B-EE43-B1C45E5A4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D1864-5033-4160-AD13-8072E413B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89BA3-54F6-976B-82AA-E41F3BA7B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4802F-153E-489D-BDD9-7B1CD26A10B5}" type="datetime1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F9B8B-F22C-3AF5-7F32-530049708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1F772-29F6-73BB-D85D-C018C104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83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61CF5B-4F2E-0AF9-5B06-B3653D755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A7202-64CB-6826-0471-E0DDC5A57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FBCBF-A404-71A6-A158-E001C78E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3BBE-B6A1-4B26-802F-B076829C00C7}" type="datetime1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B96E7-4B78-AEEC-75C1-9477392E6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DAD5C-E9B3-BC45-94C7-57D55624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00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EC29A-3338-D5A8-BE0D-E57308B0B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374E5-D475-DF55-58C2-129208CDE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0EF4-D569-DAA2-28D8-C577AA706E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C8DDB-1590-4DDB-B157-7A2DB5A50366}" type="datetime1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23F2-33BD-F647-9F5E-3657DB1C9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7009D-9F20-877F-E46A-654BD0C14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1FD68-533F-478A-A5D4-F2799E4EB7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0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9.svg"/><Relationship Id="rId4" Type="http://schemas.openxmlformats.org/officeDocument/2006/relationships/image" Target="../media/image24.svg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F182-5E82-9A14-2D89-E1D194773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277" y="671701"/>
            <a:ext cx="9322801" cy="2860349"/>
          </a:xfrm>
        </p:spPr>
        <p:txBody>
          <a:bodyPr>
            <a:normAutofit/>
          </a:bodyPr>
          <a:lstStyle/>
          <a:p>
            <a:r>
              <a:rPr lang="en-US" altLang="ja-JP" dirty="0"/>
              <a:t>Seasonally Adaptive Data Compression in LoRaWAN Using Huffman Coding</a:t>
            </a:r>
            <a:endParaRPr kumimoji="1" lang="ja-JP" alt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1960C6-B25E-D245-F109-EFCC8C8F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7CE27B4-A2A7-1C8A-392F-F63158836759}"/>
              </a:ext>
            </a:extLst>
          </p:cNvPr>
          <p:cNvSpPr txBox="1">
            <a:spLocks/>
          </p:cNvSpPr>
          <p:nvPr/>
        </p:nvSpPr>
        <p:spPr>
          <a:xfrm>
            <a:off x="1394085" y="4011751"/>
            <a:ext cx="9959715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800" dirty="0"/>
              <a:t>Doshisha University</a:t>
            </a:r>
          </a:p>
          <a:p>
            <a:r>
              <a:rPr lang="en-US" altLang="ja-JP" sz="2800" dirty="0"/>
              <a:t>Department of Information Systems Design</a:t>
            </a:r>
          </a:p>
          <a:p>
            <a:r>
              <a:rPr lang="en-US" altLang="ja-JP" sz="2800" dirty="0"/>
              <a:t>Airi </a:t>
            </a:r>
            <a:r>
              <a:rPr lang="en-US" altLang="ja-JP" sz="2800" dirty="0" err="1"/>
              <a:t>Kokuryo</a:t>
            </a:r>
            <a:r>
              <a:rPr lang="ja-JP" altLang="en-US" sz="2800" dirty="0"/>
              <a:t>　</a:t>
            </a:r>
            <a:r>
              <a:rPr lang="en-US" altLang="ja-JP" sz="2800" dirty="0"/>
              <a:t>Kohei </a:t>
            </a:r>
            <a:r>
              <a:rPr lang="en-US" altLang="ja-JP" sz="2800" dirty="0" err="1"/>
              <a:t>Inoda</a:t>
            </a:r>
            <a:r>
              <a:rPr lang="ja-JP" altLang="en-US" sz="2800" dirty="0"/>
              <a:t>　</a:t>
            </a:r>
            <a:r>
              <a:rPr lang="en-US" altLang="ja-JP" sz="2800" dirty="0"/>
              <a:t>Akihito </a:t>
            </a:r>
            <a:r>
              <a:rPr lang="en-US" altLang="ja-JP" sz="2800" dirty="0" err="1"/>
              <a:t>Kohiga</a:t>
            </a:r>
            <a:r>
              <a:rPr lang="ja-JP" altLang="en-US" sz="2800" dirty="0"/>
              <a:t>　</a:t>
            </a:r>
            <a:r>
              <a:rPr lang="en-US" altLang="ja-JP" sz="2800" dirty="0"/>
              <a:t>Takahiro Koita</a:t>
            </a:r>
            <a:endParaRPr lang="ja-JP" altLang="en-US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B3D1B2-C3BB-92EA-93C1-AB519B4E341E}"/>
              </a:ext>
            </a:extLst>
          </p:cNvPr>
          <p:cNvCxnSpPr/>
          <p:nvPr/>
        </p:nvCxnSpPr>
        <p:spPr>
          <a:xfrm>
            <a:off x="1848678" y="3771900"/>
            <a:ext cx="895267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31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21C69-7461-F38E-C371-3FDB18090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848F64AA-5BE2-4280-BEFA-DC288118F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2,900+ Japan Floods Stock Photos, Pictures &amp; Royalty-Free Images - iStock">
            <a:extLst>
              <a:ext uri="{FF2B5EF4-FFF2-40B4-BE49-F238E27FC236}">
                <a16:creationId xmlns:a16="http://schemas.microsoft.com/office/drawing/2014/main" id="{43F7293E-BD1F-67B5-FA4C-B47677A6B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6545"/>
          <a:stretch>
            <a:fillRect/>
          </a:stretch>
        </p:blipFill>
        <p:spPr bwMode="auto">
          <a:xfrm>
            <a:off x="20" y="2"/>
            <a:ext cx="7534620" cy="4197368"/>
          </a:xfrm>
          <a:custGeom>
            <a:avLst/>
            <a:gdLst/>
            <a:ahLst/>
            <a:cxnLst/>
            <a:rect l="l" t="t" r="r" b="b"/>
            <a:pathLst>
              <a:path w="7534640" h="4197368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509063" y="4095753"/>
                  <a:pt x="4453918" y="4128339"/>
                  <a:pt x="4430941" y="4172622"/>
                </a:cubicBezTo>
                <a:lnTo>
                  <a:pt x="4423415" y="4197368"/>
                </a:lnTo>
                <a:lnTo>
                  <a:pt x="0" y="419736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930+ Japan Landslide Stock Photos, Pictures &amp; Royalty-Free Images - iStock">
            <a:extLst>
              <a:ext uri="{FF2B5EF4-FFF2-40B4-BE49-F238E27FC236}">
                <a16:creationId xmlns:a16="http://schemas.microsoft.com/office/drawing/2014/main" id="{CF049BFA-7095-5F4C-5EE4-5BE8922BD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06" r="3063" b="3"/>
          <a:stretch>
            <a:fillRect/>
          </a:stretch>
        </p:blipFill>
        <p:spPr bwMode="auto">
          <a:xfrm>
            <a:off x="7653536" y="1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2,900+ Japan Floods Stock Photos, Pictures &amp; Royalty-Free Images - iStock">
            <a:extLst>
              <a:ext uri="{FF2B5EF4-FFF2-40B4-BE49-F238E27FC236}">
                <a16:creationId xmlns:a16="http://schemas.microsoft.com/office/drawing/2014/main" id="{E8DF63AE-960D-FD94-435E-13CEB35C6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2" r="-1" b="37392"/>
          <a:stretch>
            <a:fillRect/>
          </a:stretch>
        </p:blipFill>
        <p:spPr bwMode="auto">
          <a:xfrm>
            <a:off x="1" y="4316255"/>
            <a:ext cx="6836850" cy="2541737"/>
          </a:xfrm>
          <a:custGeom>
            <a:avLst/>
            <a:gdLst/>
            <a:ahLst/>
            <a:cxnLst/>
            <a:rect l="l" t="t" r="r" b="b"/>
            <a:pathLst>
              <a:path w="6836850" h="2541737">
                <a:moveTo>
                  <a:pt x="0" y="0"/>
                </a:moveTo>
                <a:lnTo>
                  <a:pt x="4460098" y="0"/>
                </a:lnTo>
                <a:lnTo>
                  <a:pt x="4483996" y="31836"/>
                </a:lnTo>
                <a:cubicBezTo>
                  <a:pt x="4644419" y="28495"/>
                  <a:pt x="4627708" y="282495"/>
                  <a:pt x="4788129" y="245732"/>
                </a:cubicBezTo>
                <a:cubicBezTo>
                  <a:pt x="4754709" y="362707"/>
                  <a:pt x="4641076" y="302548"/>
                  <a:pt x="4600971" y="389443"/>
                </a:cubicBezTo>
                <a:cubicBezTo>
                  <a:pt x="4684524" y="462970"/>
                  <a:pt x="4844945" y="409497"/>
                  <a:pt x="4871683" y="563233"/>
                </a:cubicBezTo>
                <a:cubicBezTo>
                  <a:pt x="4838262" y="723655"/>
                  <a:pt x="4945210" y="703602"/>
                  <a:pt x="5032105" y="713629"/>
                </a:cubicBezTo>
                <a:cubicBezTo>
                  <a:pt x="5239317" y="733683"/>
                  <a:pt x="5439843" y="747050"/>
                  <a:pt x="5643713" y="780472"/>
                </a:cubicBezTo>
                <a:cubicBezTo>
                  <a:pt x="5693844" y="790498"/>
                  <a:pt x="5810819" y="767103"/>
                  <a:pt x="5800794" y="870709"/>
                </a:cubicBezTo>
                <a:cubicBezTo>
                  <a:pt x="5790767" y="954261"/>
                  <a:pt x="5700529" y="924184"/>
                  <a:pt x="5643713" y="927525"/>
                </a:cubicBezTo>
                <a:cubicBezTo>
                  <a:pt x="5329553" y="967632"/>
                  <a:pt x="5012052" y="904131"/>
                  <a:pt x="4701235" y="907472"/>
                </a:cubicBezTo>
                <a:cubicBezTo>
                  <a:pt x="4664472" y="907472"/>
                  <a:pt x="4657787" y="1017762"/>
                  <a:pt x="4577576" y="980999"/>
                </a:cubicBezTo>
                <a:cubicBezTo>
                  <a:pt x="4788129" y="1081263"/>
                  <a:pt x="5767372" y="1108001"/>
                  <a:pt x="6094900" y="1161474"/>
                </a:cubicBezTo>
                <a:cubicBezTo>
                  <a:pt x="5754004" y="1542477"/>
                  <a:pt x="5429817" y="1311870"/>
                  <a:pt x="5159105" y="1525765"/>
                </a:cubicBezTo>
                <a:cubicBezTo>
                  <a:pt x="5159105" y="1525765"/>
                  <a:pt x="5212580" y="1525765"/>
                  <a:pt x="5443187" y="1595950"/>
                </a:cubicBezTo>
                <a:cubicBezTo>
                  <a:pt x="5627002" y="1652765"/>
                  <a:pt x="5536765" y="1732976"/>
                  <a:pt x="6001321" y="1886715"/>
                </a:cubicBezTo>
                <a:cubicBezTo>
                  <a:pt x="5824188" y="1936846"/>
                  <a:pt x="5593581" y="1839925"/>
                  <a:pt x="5506685" y="2100610"/>
                </a:cubicBezTo>
                <a:cubicBezTo>
                  <a:pt x="5643713" y="2147401"/>
                  <a:pt x="5807477" y="2103953"/>
                  <a:pt x="5904398" y="2227611"/>
                </a:cubicBezTo>
                <a:cubicBezTo>
                  <a:pt x="5934478" y="2264375"/>
                  <a:pt x="5964557" y="2287770"/>
                  <a:pt x="6001321" y="2307821"/>
                </a:cubicBezTo>
                <a:cubicBezTo>
                  <a:pt x="5984612" y="2314507"/>
                  <a:pt x="5964557" y="2321190"/>
                  <a:pt x="5951188" y="2327874"/>
                </a:cubicBezTo>
                <a:cubicBezTo>
                  <a:pt x="5977925" y="2351271"/>
                  <a:pt x="6663060" y="2478270"/>
                  <a:pt x="6836850" y="2481613"/>
                </a:cubicBezTo>
                <a:cubicBezTo>
                  <a:pt x="6761652" y="2506679"/>
                  <a:pt x="6636845" y="2527828"/>
                  <a:pt x="6553814" y="2540165"/>
                </a:cubicBezTo>
                <a:lnTo>
                  <a:pt x="6542822" y="2541737"/>
                </a:lnTo>
                <a:lnTo>
                  <a:pt x="0" y="254173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06E2F4-20C5-260F-84E9-7C298014C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650" y="3996130"/>
            <a:ext cx="5505814" cy="15769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en-US" altLang="ja-JP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Motivation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86065-FBC7-9086-25F5-02080C34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58450" y="6356350"/>
            <a:ext cx="895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01FD68-533F-478A-A5D4-F2799E4EB7D9}" type="slidenum">
              <a:rPr kumimoji="1" lang="en-US" altLang="ja-JP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kumimoji="1" lang="en-US" altLang="ja-JP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02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B0A11-A50D-10F4-18EC-0A6195B7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8138E-A288-00F4-2F21-A57BBF90A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208788" cy="1815548"/>
          </a:xfrm>
        </p:spPr>
        <p:txBody>
          <a:bodyPr>
            <a:normAutofit fontScale="90000"/>
          </a:bodyPr>
          <a:lstStyle/>
          <a:p>
            <a:r>
              <a:rPr kumimoji="1" lang="en-US" altLang="ja-JP" sz="5400" dirty="0"/>
              <a:t>LoRaWAN</a:t>
            </a:r>
            <a:br>
              <a:rPr kumimoji="1" lang="en-US" altLang="ja-JP" sz="5400" dirty="0"/>
            </a:br>
            <a:r>
              <a:rPr lang="en-US" altLang="ja-JP" sz="4900" dirty="0"/>
              <a:t>(Long Range Wide Area Network)</a:t>
            </a:r>
            <a:br>
              <a:rPr lang="en-US" altLang="ja-JP" sz="4900" dirty="0"/>
            </a:br>
            <a:endParaRPr kumimoji="1" lang="ja-JP" altLang="en-US" sz="49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DC8869F-BB45-C130-9BF6-CA72464E2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2" y="2177935"/>
            <a:ext cx="11093490" cy="430599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/>
              <a:t>LPWAN (Low-power wide area network) protocol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sz="3200" dirty="0"/>
              <a:t>⊕ </a:t>
            </a:r>
            <a:r>
              <a:rPr lang="en-US" altLang="ja-JP" sz="3200" dirty="0"/>
              <a:t>Low power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sz="3200" dirty="0"/>
              <a:t>⊕ </a:t>
            </a:r>
            <a:r>
              <a:rPr lang="en-US" altLang="ja-JP" sz="3200" dirty="0"/>
              <a:t>Long-term operation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sz="3200" dirty="0"/>
              <a:t>⊖</a:t>
            </a:r>
            <a:r>
              <a:rPr lang="ja-JP" altLang="en-US" sz="3200" dirty="0">
                <a:solidFill>
                  <a:schemeClr val="accent1"/>
                </a:solidFill>
              </a:rPr>
              <a:t> </a:t>
            </a:r>
            <a:r>
              <a:rPr lang="en-US" altLang="ja-JP" sz="3200" dirty="0">
                <a:solidFill>
                  <a:schemeClr val="accent4"/>
                </a:solidFill>
              </a:rPr>
              <a:t>Small payload </a:t>
            </a:r>
            <a:r>
              <a:rPr lang="en-US" altLang="ja-JP" sz="3200" dirty="0"/>
              <a:t>(11 bytes maximum)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 b="1" dirty="0"/>
              <a:t>Efficient compression method </a:t>
            </a:r>
            <a:r>
              <a:rPr lang="en-US" altLang="ja-JP" sz="3200" dirty="0"/>
              <a:t>must be needed for early flood alerts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8B35E-1A52-AC68-3A5A-CF9754E78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6018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8F803-9C78-437B-FCF8-126F68803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0801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5400" dirty="0"/>
              <a:t>Project Goal</a:t>
            </a:r>
            <a:endParaRPr kumimoji="1" lang="ja-JP" alt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AB8DD-06F4-EFDB-0958-88EF5566D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7429"/>
            <a:ext cx="11159990" cy="437679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ja-JP" sz="3600" dirty="0"/>
              <a:t>To propose a data compression method for a flood detection sensor system</a:t>
            </a:r>
            <a:endParaRPr lang="en-US" altLang="ja-JP" sz="3600" dirty="0"/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altLang="ja-JP" sz="3200" dirty="0"/>
              <a:t>Increase data compression rate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altLang="ja-JP" sz="3200" dirty="0"/>
              <a:t>Decrease sensor data send counts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ja-JP" sz="3600" b="1" dirty="0"/>
              <a:t>Fundamental compressio</a:t>
            </a:r>
            <a:r>
              <a:rPr lang="en-US" altLang="ja-JP" sz="3600" b="1" dirty="0"/>
              <a:t>n method: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kumimoji="1" lang="en-US" altLang="ja-JP" sz="3600" dirty="0"/>
              <a:t>Huffman Coding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E8B33-1EEF-674D-2237-7F4AE9AB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9366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BF4DA-BF4E-F2A2-D7EB-FF2ECF079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57FA050-83E5-8634-072B-8418AF472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55488"/>
            <a:ext cx="8970249" cy="1320800"/>
          </a:xfrm>
        </p:spPr>
        <p:txBody>
          <a:bodyPr>
            <a:noAutofit/>
          </a:bodyPr>
          <a:lstStyle/>
          <a:p>
            <a:r>
              <a:rPr lang="en-US" altLang="ja-JP" sz="5400" dirty="0"/>
              <a:t>Huffman Coding</a:t>
            </a:r>
            <a:endParaRPr kumimoji="1" lang="ja-JP" alt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E3A3E-20D0-645C-4376-234E75F56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943860" cy="40878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kumimoji="1" lang="en-US" altLang="ja-JP" sz="3600" dirty="0"/>
              <a:t>Lossless data compression algorithm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kumimoji="1" lang="en-US" altLang="ja-JP" sz="3600" dirty="0"/>
              <a:t>Assign </a:t>
            </a:r>
            <a:r>
              <a:rPr lang="en-US" altLang="ja-JP" sz="3600" dirty="0"/>
              <a:t>codes with length based on frequencies of the input characters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3600" b="1" dirty="0"/>
              <a:t> Efficient for biased distributions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42A11-5EE2-8737-A5CE-D6DD7A5A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5402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11951-103B-3103-E08C-69BD97E95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823A59E3-A543-AF09-7DF2-691106E1B681}"/>
              </a:ext>
            </a:extLst>
          </p:cNvPr>
          <p:cNvSpPr/>
          <p:nvPr/>
        </p:nvSpPr>
        <p:spPr>
          <a:xfrm>
            <a:off x="3298886" y="3659725"/>
            <a:ext cx="835411" cy="8282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51</a:t>
            </a:r>
            <a:endParaRPr kumimoji="1" lang="ja-JP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206C2D-CDD1-83AD-6DE9-3EDFB79B6FAF}"/>
              </a:ext>
            </a:extLst>
          </p:cNvPr>
          <p:cNvSpPr/>
          <p:nvPr/>
        </p:nvSpPr>
        <p:spPr>
          <a:xfrm>
            <a:off x="7373800" y="2447634"/>
            <a:ext cx="835411" cy="8282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49</a:t>
            </a:r>
            <a:endParaRPr kumimoji="1" lang="ja-JP" altLang="en-US" sz="28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86349DA-AF77-9F25-7507-2317DF5FFDAD}"/>
              </a:ext>
            </a:extLst>
          </p:cNvPr>
          <p:cNvSpPr/>
          <p:nvPr/>
        </p:nvSpPr>
        <p:spPr>
          <a:xfrm>
            <a:off x="2463475" y="4871816"/>
            <a:ext cx="835411" cy="8282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26</a:t>
            </a:r>
            <a:endParaRPr kumimoji="1" lang="ja-JP" altLang="en-US" sz="28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C8B8D3-710E-A7C6-46A4-107C59E34870}"/>
              </a:ext>
            </a:extLst>
          </p:cNvPr>
          <p:cNvSpPr/>
          <p:nvPr/>
        </p:nvSpPr>
        <p:spPr>
          <a:xfrm>
            <a:off x="4067378" y="4886174"/>
            <a:ext cx="841512" cy="8282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25</a:t>
            </a:r>
            <a:endParaRPr kumimoji="1" lang="ja-JP" altLang="en-US" sz="28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654152-DAB3-DD06-C015-44B67B6FE012}"/>
              </a:ext>
            </a:extLst>
          </p:cNvPr>
          <p:cNvSpPr/>
          <p:nvPr/>
        </p:nvSpPr>
        <p:spPr>
          <a:xfrm>
            <a:off x="7367700" y="4886174"/>
            <a:ext cx="841511" cy="828262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13</a:t>
            </a:r>
            <a:endParaRPr kumimoji="1" lang="ja-JP" altLang="en-US" sz="28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0A388F-974F-3DF9-BC58-539ADBC60C57}"/>
              </a:ext>
            </a:extLst>
          </p:cNvPr>
          <p:cNvSpPr/>
          <p:nvPr/>
        </p:nvSpPr>
        <p:spPr>
          <a:xfrm>
            <a:off x="8977704" y="4871816"/>
            <a:ext cx="835411" cy="8282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12</a:t>
            </a:r>
            <a:endParaRPr kumimoji="1" lang="ja-JP" altLang="en-US" sz="28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B366384-5295-DEB6-030D-4AA009C911DF}"/>
              </a:ext>
            </a:extLst>
          </p:cNvPr>
          <p:cNvSpPr/>
          <p:nvPr/>
        </p:nvSpPr>
        <p:spPr>
          <a:xfrm>
            <a:off x="8209211" y="3659725"/>
            <a:ext cx="835411" cy="8282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25</a:t>
            </a:r>
            <a:endParaRPr kumimoji="1" lang="ja-JP" altLang="en-US" sz="2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FA10E3E-FEAC-458C-94D4-3511B4B5DCD5}"/>
              </a:ext>
            </a:extLst>
          </p:cNvPr>
          <p:cNvSpPr/>
          <p:nvPr/>
        </p:nvSpPr>
        <p:spPr>
          <a:xfrm>
            <a:off x="5717539" y="4871816"/>
            <a:ext cx="841511" cy="8282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24</a:t>
            </a:r>
            <a:endParaRPr kumimoji="1" lang="ja-JP" altLang="en-US" sz="28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9BC0F7-7096-5365-EAA2-F87BACA3FD17}"/>
              </a:ext>
            </a:extLst>
          </p:cNvPr>
          <p:cNvSpPr/>
          <p:nvPr/>
        </p:nvSpPr>
        <p:spPr>
          <a:xfrm>
            <a:off x="5036695" y="1274164"/>
            <a:ext cx="1101600" cy="10694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100</a:t>
            </a:r>
            <a:endParaRPr kumimoji="1" lang="ja-JP" altLang="en-US" sz="28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E0EBD5-3790-566D-2DAD-7B96721204D9}"/>
              </a:ext>
            </a:extLst>
          </p:cNvPr>
          <p:cNvCxnSpPr>
            <a:cxnSpLocks/>
            <a:stCxn id="14" idx="6"/>
            <a:endCxn id="7" idx="1"/>
          </p:cNvCxnSpPr>
          <p:nvPr/>
        </p:nvCxnSpPr>
        <p:spPr>
          <a:xfrm>
            <a:off x="6138295" y="1808889"/>
            <a:ext cx="1357848" cy="760041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82B1E0-1716-2394-D3A3-6CFC87EFEBE1}"/>
              </a:ext>
            </a:extLst>
          </p:cNvPr>
          <p:cNvCxnSpPr>
            <a:cxnSpLocks/>
            <a:stCxn id="7" idx="5"/>
            <a:endCxn id="12" idx="0"/>
          </p:cNvCxnSpPr>
          <p:nvPr/>
        </p:nvCxnSpPr>
        <p:spPr>
          <a:xfrm>
            <a:off x="8086868" y="3154600"/>
            <a:ext cx="540049" cy="505125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D2D08A-DDDF-C323-4B7D-14DC29773E4F}"/>
              </a:ext>
            </a:extLst>
          </p:cNvPr>
          <p:cNvCxnSpPr>
            <a:cxnSpLocks/>
            <a:stCxn id="12" idx="3"/>
            <a:endCxn id="10" idx="0"/>
          </p:cNvCxnSpPr>
          <p:nvPr/>
        </p:nvCxnSpPr>
        <p:spPr>
          <a:xfrm flipH="1">
            <a:off x="7788456" y="4366691"/>
            <a:ext cx="543098" cy="51948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26A632-62AB-F937-0771-55C046CA6122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 flipH="1">
            <a:off x="2881181" y="4366691"/>
            <a:ext cx="540048" cy="5051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CAEDFEF-42E4-693F-AB7F-698F331C5FC5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4011954" y="4366691"/>
            <a:ext cx="476180" cy="51948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6AA83C4-3478-845B-294F-AC0F09B8109C}"/>
              </a:ext>
            </a:extLst>
          </p:cNvPr>
          <p:cNvCxnSpPr>
            <a:cxnSpLocks/>
            <a:stCxn id="12" idx="5"/>
            <a:endCxn id="11" idx="0"/>
          </p:cNvCxnSpPr>
          <p:nvPr/>
        </p:nvCxnSpPr>
        <p:spPr>
          <a:xfrm>
            <a:off x="8922279" y="4366691"/>
            <a:ext cx="473131" cy="50512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FB15186-B334-E8C4-4EC8-2F9170358DE5}"/>
              </a:ext>
            </a:extLst>
          </p:cNvPr>
          <p:cNvCxnSpPr>
            <a:cxnSpLocks/>
            <a:stCxn id="13" idx="0"/>
            <a:endCxn id="7" idx="3"/>
          </p:cNvCxnSpPr>
          <p:nvPr/>
        </p:nvCxnSpPr>
        <p:spPr>
          <a:xfrm flipV="1">
            <a:off x="6138295" y="3154600"/>
            <a:ext cx="1357848" cy="17172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B6408E0-77E4-DFAD-618B-588A67BAB5A5}"/>
              </a:ext>
            </a:extLst>
          </p:cNvPr>
          <p:cNvCxnSpPr>
            <a:cxnSpLocks/>
            <a:stCxn id="6" idx="0"/>
            <a:endCxn id="14" idx="3"/>
          </p:cNvCxnSpPr>
          <p:nvPr/>
        </p:nvCxnSpPr>
        <p:spPr>
          <a:xfrm flipV="1">
            <a:off x="3716592" y="2186996"/>
            <a:ext cx="1481429" cy="147272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7F35CB2-8B9E-AC08-F993-C746C0838F31}"/>
              </a:ext>
            </a:extLst>
          </p:cNvPr>
          <p:cNvSpPr txBox="1"/>
          <p:nvPr/>
        </p:nvSpPr>
        <p:spPr>
          <a:xfrm>
            <a:off x="2535577" y="5811432"/>
            <a:ext cx="1283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/>
              <a:t>“A”</a:t>
            </a:r>
            <a:endParaRPr lang="ja-JP" altLang="en-US" sz="3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FC4CA1-D1C1-CC85-AFBD-3FD16DDEFB50}"/>
              </a:ext>
            </a:extLst>
          </p:cNvPr>
          <p:cNvSpPr txBox="1"/>
          <p:nvPr/>
        </p:nvSpPr>
        <p:spPr>
          <a:xfrm>
            <a:off x="4137451" y="5811431"/>
            <a:ext cx="1060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/>
              <a:t>“B”</a:t>
            </a:r>
            <a:endParaRPr lang="ja-JP" altLang="en-US" sz="3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819203-CBCA-DA22-4CEB-515688B598E0}"/>
              </a:ext>
            </a:extLst>
          </p:cNvPr>
          <p:cNvSpPr txBox="1"/>
          <p:nvPr/>
        </p:nvSpPr>
        <p:spPr>
          <a:xfrm>
            <a:off x="5793015" y="5811430"/>
            <a:ext cx="1060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/>
              <a:t>“C”</a:t>
            </a:r>
            <a:endParaRPr lang="ja-JP" altLang="en-US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0CE315-9D9C-F514-3FD3-50F0F63931FF}"/>
              </a:ext>
            </a:extLst>
          </p:cNvPr>
          <p:cNvSpPr txBox="1"/>
          <p:nvPr/>
        </p:nvSpPr>
        <p:spPr>
          <a:xfrm>
            <a:off x="7458364" y="5813477"/>
            <a:ext cx="11531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/>
              <a:t>“D”</a:t>
            </a:r>
            <a:endParaRPr lang="ja-JP" altLang="en-US" sz="3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5673DC-0125-999D-6FA0-2E62E87AC0EC}"/>
              </a:ext>
            </a:extLst>
          </p:cNvPr>
          <p:cNvSpPr txBox="1"/>
          <p:nvPr/>
        </p:nvSpPr>
        <p:spPr>
          <a:xfrm>
            <a:off x="9062268" y="5811430"/>
            <a:ext cx="11531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/>
              <a:t>“E”</a:t>
            </a:r>
            <a:endParaRPr lang="ja-JP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FDEA4-C57B-9E0A-4B9A-77DDF842217B}"/>
              </a:ext>
            </a:extLst>
          </p:cNvPr>
          <p:cNvSpPr txBox="1"/>
          <p:nvPr/>
        </p:nvSpPr>
        <p:spPr>
          <a:xfrm>
            <a:off x="4475700" y="2039772"/>
            <a:ext cx="6177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00B0F0"/>
                </a:solidFill>
              </a:rPr>
              <a:t>0</a:t>
            </a:r>
            <a:endParaRPr lang="ja-JP" altLang="en-US" sz="3200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DB457-1BFF-0341-9F15-A2A97F2E6069}"/>
              </a:ext>
            </a:extLst>
          </p:cNvPr>
          <p:cNvSpPr txBox="1"/>
          <p:nvPr/>
        </p:nvSpPr>
        <p:spPr>
          <a:xfrm>
            <a:off x="6903706" y="1806601"/>
            <a:ext cx="8354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00B0F0"/>
                </a:solidFill>
              </a:rPr>
              <a:t>1</a:t>
            </a:r>
            <a:endParaRPr lang="ja-JP" altLang="en-US" sz="3200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3C965-603E-FD92-349E-A1EA7915100A}"/>
              </a:ext>
            </a:extLst>
          </p:cNvPr>
          <p:cNvSpPr txBox="1"/>
          <p:nvPr/>
        </p:nvSpPr>
        <p:spPr>
          <a:xfrm>
            <a:off x="8385569" y="3006145"/>
            <a:ext cx="8354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00B0F0"/>
                </a:solidFill>
              </a:rPr>
              <a:t>1</a:t>
            </a:r>
            <a:endParaRPr lang="ja-JP" altLang="en-US" sz="3200" dirty="0">
              <a:solidFill>
                <a:srgbClr val="00B0F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4056B8-7803-6B0F-943F-2C65092C465D}"/>
              </a:ext>
            </a:extLst>
          </p:cNvPr>
          <p:cNvSpPr txBox="1"/>
          <p:nvPr/>
        </p:nvSpPr>
        <p:spPr>
          <a:xfrm>
            <a:off x="9186557" y="4257154"/>
            <a:ext cx="8354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00B0F0"/>
                </a:solidFill>
              </a:rPr>
              <a:t>1</a:t>
            </a:r>
            <a:endParaRPr lang="ja-JP" altLang="en-US" sz="3200" dirty="0">
              <a:solidFill>
                <a:srgbClr val="00B0F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64A3AF-D254-D080-DAC4-6F75AC702DE4}"/>
              </a:ext>
            </a:extLst>
          </p:cNvPr>
          <p:cNvSpPr txBox="1"/>
          <p:nvPr/>
        </p:nvSpPr>
        <p:spPr>
          <a:xfrm>
            <a:off x="4393504" y="4225415"/>
            <a:ext cx="8354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00B0F0"/>
                </a:solidFill>
              </a:rPr>
              <a:t>1</a:t>
            </a:r>
            <a:endParaRPr lang="ja-JP" altLang="en-US" sz="3200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6D86F8-8B66-ED19-4002-4B3858219C14}"/>
              </a:ext>
            </a:extLst>
          </p:cNvPr>
          <p:cNvSpPr txBox="1"/>
          <p:nvPr/>
        </p:nvSpPr>
        <p:spPr>
          <a:xfrm>
            <a:off x="2803454" y="4152780"/>
            <a:ext cx="6177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00B0F0"/>
                </a:solidFill>
              </a:rPr>
              <a:t>0</a:t>
            </a:r>
            <a:endParaRPr lang="ja-JP" altLang="en-US" sz="3200" dirty="0">
              <a:solidFill>
                <a:srgbClr val="00B0F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84A7C8-BFF2-24A1-000B-973C035D1242}"/>
              </a:ext>
            </a:extLst>
          </p:cNvPr>
          <p:cNvSpPr txBox="1"/>
          <p:nvPr/>
        </p:nvSpPr>
        <p:spPr>
          <a:xfrm>
            <a:off x="6817219" y="3055559"/>
            <a:ext cx="6177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00B0F0"/>
                </a:solidFill>
              </a:rPr>
              <a:t>0</a:t>
            </a:r>
            <a:endParaRPr lang="ja-JP" altLang="en-US" sz="3200" dirty="0">
              <a:solidFill>
                <a:srgbClr val="00B0F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3FD34B-355B-591D-51D2-DDDC6855960C}"/>
              </a:ext>
            </a:extLst>
          </p:cNvPr>
          <p:cNvSpPr txBox="1"/>
          <p:nvPr/>
        </p:nvSpPr>
        <p:spPr>
          <a:xfrm>
            <a:off x="7729321" y="4170623"/>
            <a:ext cx="3477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00B0F0"/>
                </a:solidFill>
              </a:rPr>
              <a:t>0</a:t>
            </a:r>
            <a:endParaRPr lang="ja-JP" altLang="en-US" sz="3200" dirty="0">
              <a:solidFill>
                <a:srgbClr val="00B0F0"/>
              </a:solidFill>
            </a:endParaRPr>
          </a:p>
        </p:txBody>
      </p:sp>
      <p:pic>
        <p:nvPicPr>
          <p:cNvPr id="26" name="Graphic 25" descr="Speech with solid fill">
            <a:extLst>
              <a:ext uri="{FF2B5EF4-FFF2-40B4-BE49-F238E27FC236}">
                <a16:creationId xmlns:a16="http://schemas.microsoft.com/office/drawing/2014/main" id="{891FC5BE-E728-0DE7-7F6D-66600D49A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7992" y="3616081"/>
            <a:ext cx="3159284" cy="159833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7B7B51D-B02B-FCFE-01D0-17D3FAE1EEFC}"/>
              </a:ext>
            </a:extLst>
          </p:cNvPr>
          <p:cNvSpPr txBox="1"/>
          <p:nvPr/>
        </p:nvSpPr>
        <p:spPr>
          <a:xfrm>
            <a:off x="5422803" y="4027299"/>
            <a:ext cx="2040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“D” is 110</a:t>
            </a:r>
            <a:endParaRPr kumimoji="1" lang="ja-JP" altLang="en-US" sz="3200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6ED9DD18-71C1-3FE2-DE09-5E68DE4F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8B044498-BCB8-74BF-5CF5-EFD871793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60282"/>
            <a:ext cx="8970249" cy="1320800"/>
          </a:xfrm>
        </p:spPr>
        <p:txBody>
          <a:bodyPr>
            <a:noAutofit/>
          </a:bodyPr>
          <a:lstStyle/>
          <a:p>
            <a:r>
              <a:rPr lang="en-US" altLang="ja-JP" sz="5400" dirty="0"/>
              <a:t>Huffman Coding</a:t>
            </a:r>
            <a:endParaRPr kumimoji="1" lang="ja-JP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48271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9A805-E661-4592-FF6D-2FA11AF0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5997FB-334B-663A-BB04-1D200BE20BC8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 flipV="1">
            <a:off x="3515796" y="2216528"/>
            <a:ext cx="4871098" cy="15688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E519A-BC96-B96D-DEDF-A3D8D722A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40422"/>
            <a:ext cx="11514666" cy="1320800"/>
          </a:xfrm>
        </p:spPr>
        <p:txBody>
          <a:bodyPr>
            <a:noAutofit/>
          </a:bodyPr>
          <a:lstStyle/>
          <a:p>
            <a:r>
              <a:rPr kumimoji="1" lang="en-US" altLang="ja-JP" sz="4800" dirty="0"/>
              <a:t>Prior Work: </a:t>
            </a:r>
            <a:r>
              <a:rPr kumimoji="1" lang="en-US" altLang="ja-JP" sz="4800" dirty="0">
                <a:solidFill>
                  <a:schemeClr val="accent6"/>
                </a:solidFill>
              </a:rPr>
              <a:t>Seasonal Huffman Coding</a:t>
            </a:r>
            <a:endParaRPr kumimoji="1" lang="ja-JP" altLang="en-US" sz="4800" dirty="0">
              <a:solidFill>
                <a:schemeClr val="accent6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D5E80-6AFF-AF71-13A1-50AA7DA9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11" name="Graphic 10" descr="Share with solid fill">
            <a:extLst>
              <a:ext uri="{FF2B5EF4-FFF2-40B4-BE49-F238E27FC236}">
                <a16:creationId xmlns:a16="http://schemas.microsoft.com/office/drawing/2014/main" id="{B1D7806C-7E99-3B64-5B9E-3ABF1C759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6894" y="1745508"/>
            <a:ext cx="942039" cy="942039"/>
          </a:xfrm>
          <a:prstGeom prst="rect">
            <a:avLst/>
          </a:prstGeom>
        </p:spPr>
      </p:pic>
      <p:pic>
        <p:nvPicPr>
          <p:cNvPr id="15" name="Graphic 14" descr="Processor outline">
            <a:extLst>
              <a:ext uri="{FF2B5EF4-FFF2-40B4-BE49-F238E27FC236}">
                <a16:creationId xmlns:a16="http://schemas.microsoft.com/office/drawing/2014/main" id="{280CD80E-2963-1BCB-B641-697B06183C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04152" y="1676394"/>
            <a:ext cx="1111644" cy="11116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A6C90D9-037C-D6BD-D19D-1F875C668F58}"/>
              </a:ext>
            </a:extLst>
          </p:cNvPr>
          <p:cNvSpPr txBox="1"/>
          <p:nvPr/>
        </p:nvSpPr>
        <p:spPr>
          <a:xfrm>
            <a:off x="1687608" y="2910520"/>
            <a:ext cx="3089875" cy="2239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/>
              <a:t>Sensor Data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ja-JP" sz="3200" dirty="0"/>
              <a:t>Temperature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ja-JP" sz="3200" dirty="0"/>
              <a:t>Humidity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ECB454-B4E0-2E66-AA66-5A6B57D66023}"/>
              </a:ext>
            </a:extLst>
          </p:cNvPr>
          <p:cNvSpPr txBox="1"/>
          <p:nvPr/>
        </p:nvSpPr>
        <p:spPr>
          <a:xfrm>
            <a:off x="5842088" y="2910520"/>
            <a:ext cx="6004015" cy="1500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ja-JP" sz="3200" dirty="0"/>
              <a:t>Compress </a:t>
            </a:r>
            <a:r>
              <a:rPr lang="en-US" altLang="ja-JP" sz="3200" dirty="0">
                <a:ea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altLang="ja-JP" sz="3200" dirty="0"/>
              <a:t> Send</a:t>
            </a:r>
          </a:p>
          <a:p>
            <a:pPr algn="ctr">
              <a:lnSpc>
                <a:spcPct val="150000"/>
              </a:lnSpc>
            </a:pPr>
            <a:r>
              <a:rPr lang="en-US" altLang="ja-JP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ja-JP" sz="3200" b="1" dirty="0">
                <a:solidFill>
                  <a:schemeClr val="accent6"/>
                </a:solidFill>
              </a:rPr>
              <a:t>Seasonal Huffman Coding</a:t>
            </a:r>
            <a:r>
              <a:rPr lang="en-US" altLang="ja-JP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7A0A70-9ED8-9FB0-A0BC-6C0CABAFC765}"/>
              </a:ext>
            </a:extLst>
          </p:cNvPr>
          <p:cNvSpPr txBox="1"/>
          <p:nvPr/>
        </p:nvSpPr>
        <p:spPr>
          <a:xfrm>
            <a:off x="1193562" y="5272269"/>
            <a:ext cx="10482210" cy="1324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2800" dirty="0"/>
              <a:t>Create Huffman trees based on seasonal temperature and humidity data (Summer, Fall, Winter, Spring)</a:t>
            </a:r>
          </a:p>
        </p:txBody>
      </p:sp>
    </p:spTree>
    <p:extLst>
      <p:ext uri="{BB962C8B-B14F-4D97-AF65-F5344CB8AC3E}">
        <p14:creationId xmlns:p14="http://schemas.microsoft.com/office/powerpoint/2010/main" val="10919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4F9A-56E3-A6FC-4EDE-6E4398C07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2C4F-8B39-F75F-D9C0-8445062F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584119"/>
            <a:ext cx="10837333" cy="1320800"/>
          </a:xfrm>
        </p:spPr>
        <p:txBody>
          <a:bodyPr>
            <a:noAutofit/>
          </a:bodyPr>
          <a:lstStyle/>
          <a:p>
            <a:r>
              <a:rPr kumimoji="1" lang="en-US" altLang="ja-JP" sz="4800" dirty="0"/>
              <a:t>Prior Work: </a:t>
            </a:r>
            <a:r>
              <a:rPr kumimoji="1" lang="en-US" altLang="ja-JP" sz="4800" dirty="0">
                <a:solidFill>
                  <a:schemeClr val="accent6"/>
                </a:solidFill>
              </a:rPr>
              <a:t>Seasonal </a:t>
            </a:r>
            <a:r>
              <a:rPr lang="en-US" altLang="ja-JP" sz="4800" dirty="0">
                <a:solidFill>
                  <a:schemeClr val="accent6"/>
                </a:solidFill>
              </a:rPr>
              <a:t>Huffman Coding</a:t>
            </a:r>
            <a:endParaRPr kumimoji="1" lang="ja-JP" altLang="en-US" sz="4800" dirty="0">
              <a:solidFill>
                <a:schemeClr val="accent6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88C7B6E-69B9-EFCA-0631-25A46B2D5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50505"/>
            <a:ext cx="11060238" cy="49695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3000" dirty="0"/>
              <a:t>Result: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ja-JP" sz="2600" dirty="0"/>
              <a:t>Compression performance (reduction rate):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ja-JP" sz="3000" dirty="0"/>
          </a:p>
          <a:p>
            <a:pPr marL="0" indent="0">
              <a:lnSpc>
                <a:spcPct val="150000"/>
              </a:lnSpc>
              <a:buNone/>
            </a:pPr>
            <a:endParaRPr lang="en-US" altLang="ja-JP" sz="3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000" dirty="0"/>
              <a:t>-&gt; </a:t>
            </a:r>
            <a:r>
              <a:rPr lang="en-US" altLang="ja-JP" sz="3000" b="1" dirty="0">
                <a:solidFill>
                  <a:schemeClr val="accent6"/>
                </a:solidFill>
              </a:rPr>
              <a:t>Seasonal Huffman coding </a:t>
            </a:r>
            <a:r>
              <a:rPr lang="en-US" altLang="ja-JP" sz="3000" dirty="0"/>
              <a:t>outperforms raw or standard ZIP compression.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DE86A-7D04-940B-8310-6CA86D91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8</a:t>
            </a:fld>
            <a:endParaRPr kumimoji="1" lang="ja-JP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BE6F6D-F47F-58E8-8569-44D2B1392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994730"/>
              </p:ext>
            </p:extLst>
          </p:nvPr>
        </p:nvGraphicFramePr>
        <p:xfrm>
          <a:off x="2022452" y="3031994"/>
          <a:ext cx="814709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970">
                  <a:extLst>
                    <a:ext uri="{9D8B030D-6E8A-4147-A177-3AD203B41FA5}">
                      <a16:colId xmlns:a16="http://schemas.microsoft.com/office/drawing/2014/main" val="503633356"/>
                    </a:ext>
                  </a:extLst>
                </a:gridCol>
                <a:gridCol w="3992905">
                  <a:extLst>
                    <a:ext uri="{9D8B030D-6E8A-4147-A177-3AD203B41FA5}">
                      <a16:colId xmlns:a16="http://schemas.microsoft.com/office/drawing/2014/main" val="741735584"/>
                    </a:ext>
                  </a:extLst>
                </a:gridCol>
                <a:gridCol w="2219218">
                  <a:extLst>
                    <a:ext uri="{9D8B030D-6E8A-4147-A177-3AD203B41FA5}">
                      <a16:colId xmlns:a16="http://schemas.microsoft.com/office/drawing/2014/main" val="1642640864"/>
                    </a:ext>
                  </a:extLst>
                </a:gridCol>
              </a:tblGrid>
              <a:tr h="35140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solidFill>
                            <a:schemeClr val="tx1"/>
                          </a:solidFill>
                        </a:rPr>
                        <a:t>Huffman Coding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Huffman Coding + </a:t>
                      </a:r>
                    </a:p>
                    <a:p>
                      <a:pPr algn="ctr"/>
                      <a:r>
                        <a:rPr kumimoji="1" lang="en-US" altLang="ja-JP" sz="2400" dirty="0"/>
                        <a:t>Run-length Compression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ZIP Compression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912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88.8%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94.8%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87.5%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856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575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5F6CE-31D3-7447-0994-F41A74AD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25C7-9EB7-2297-2DCD-A643A6783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890736" cy="1320800"/>
          </a:xfrm>
        </p:spPr>
        <p:txBody>
          <a:bodyPr>
            <a:noAutofit/>
          </a:bodyPr>
          <a:lstStyle/>
          <a:p>
            <a:r>
              <a:rPr lang="en-US" altLang="ja-JP" sz="4700" dirty="0"/>
              <a:t>Research Question</a:t>
            </a:r>
            <a:endParaRPr kumimoji="1" lang="ja-JP" altLang="en-US" sz="47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8A88952-FA50-CC9F-0FF0-8E5C0B081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50505"/>
            <a:ext cx="10994110" cy="4969566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ja-JP" sz="3000" dirty="0"/>
              <a:t>Is </a:t>
            </a:r>
            <a:r>
              <a:rPr lang="en-US" altLang="ja-JP" sz="3000" dirty="0">
                <a:solidFill>
                  <a:schemeClr val="accent6"/>
                </a:solidFill>
              </a:rPr>
              <a:t>seasonal Huffman coding </a:t>
            </a:r>
            <a:r>
              <a:rPr lang="en-US" altLang="ja-JP" sz="3000" dirty="0"/>
              <a:t>more effective than </a:t>
            </a:r>
            <a:r>
              <a:rPr lang="en-US" altLang="ja-JP" sz="3000" dirty="0">
                <a:solidFill>
                  <a:schemeClr val="accent2"/>
                </a:solidFill>
              </a:rPr>
              <a:t>all-season Huffman coding</a:t>
            </a:r>
            <a:r>
              <a:rPr lang="en-US" altLang="ja-JP" sz="3000" dirty="0"/>
              <a:t>?</a:t>
            </a:r>
          </a:p>
          <a:p>
            <a:pPr marL="857250" lvl="1" indent="-45720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3000" dirty="0"/>
              <a:t>Compare both seasonal and all-season Huffman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ja-JP" sz="3000" dirty="0">
                <a:solidFill>
                  <a:schemeClr val="bg1">
                    <a:lumMod val="75000"/>
                  </a:schemeClr>
                </a:solidFill>
              </a:rPr>
              <a:t>The current method doesn’t consider a threshold for sending data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3000" dirty="0">
                <a:solidFill>
                  <a:schemeClr val="bg1">
                    <a:lumMod val="75000"/>
                  </a:schemeClr>
                </a:solidFill>
              </a:rPr>
              <a:t>Introduce Flood Probability(FP) as a threshold, and assign higher weights to data with higher FP values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714F4-EEF8-F601-21F7-925E5A16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842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16907-DD7D-7889-01E9-D6679026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1A241-ED2C-8E5C-E69C-101120418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67336"/>
            <a:ext cx="8890736" cy="1320800"/>
          </a:xfrm>
        </p:spPr>
        <p:txBody>
          <a:bodyPr>
            <a:noAutofit/>
          </a:bodyPr>
          <a:lstStyle/>
          <a:p>
            <a:r>
              <a:rPr kumimoji="1" lang="en-US" altLang="ja-JP" sz="4000" dirty="0"/>
              <a:t>Compression Methods</a:t>
            </a:r>
            <a:endParaRPr kumimoji="1" lang="ja-JP" altLang="en-US" sz="40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9D72C29-2093-EBF9-8BAE-0A978A7FB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114" y="1550505"/>
            <a:ext cx="4729624" cy="4969566"/>
          </a:xfr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3"/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3200" b="1" dirty="0">
                <a:solidFill>
                  <a:schemeClr val="accent6"/>
                </a:solidFill>
              </a:rPr>
              <a:t>Seasonal Huffman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ja-JP" sz="3200" dirty="0">
              <a:solidFill>
                <a:schemeClr val="accent6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6AC3E-17A3-0A4C-BDDA-5C4A8AAD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4560F-3E4F-AD4F-C2E4-AC41730328FF}"/>
              </a:ext>
            </a:extLst>
          </p:cNvPr>
          <p:cNvSpPr txBox="1">
            <a:spLocks/>
          </p:cNvSpPr>
          <p:nvPr/>
        </p:nvSpPr>
        <p:spPr>
          <a:xfrm>
            <a:off x="6245788" y="1550505"/>
            <a:ext cx="4729624" cy="49695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 3" charset="2"/>
              <a:buNone/>
            </a:pPr>
            <a:r>
              <a:rPr lang="en-US" altLang="ja-JP" sz="3200" b="1" dirty="0">
                <a:solidFill>
                  <a:schemeClr val="accent2"/>
                </a:solidFill>
              </a:rPr>
              <a:t>All-Season Huffman</a:t>
            </a:r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US" altLang="ja-JP" sz="3200" dirty="0">
              <a:solidFill>
                <a:schemeClr val="accent2"/>
              </a:solidFill>
            </a:endParaRPr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US" altLang="ja-JP" sz="3200" dirty="0">
              <a:solidFill>
                <a:schemeClr val="accent2"/>
              </a:solidFill>
            </a:endParaRPr>
          </a:p>
        </p:txBody>
      </p:sp>
      <p:pic>
        <p:nvPicPr>
          <p:cNvPr id="6" name="Graphic 5" descr="Plant With Roots with solid fill">
            <a:extLst>
              <a:ext uri="{FF2B5EF4-FFF2-40B4-BE49-F238E27FC236}">
                <a16:creationId xmlns:a16="http://schemas.microsoft.com/office/drawing/2014/main" id="{53274D3D-530E-6DA3-B7D9-A14D70427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809" y="2514600"/>
            <a:ext cx="914400" cy="914400"/>
          </a:xfrm>
          <a:prstGeom prst="rect">
            <a:avLst/>
          </a:prstGeom>
        </p:spPr>
      </p:pic>
      <p:pic>
        <p:nvPicPr>
          <p:cNvPr id="8" name="Graphic 7" descr="Deciduous tree with solid fill">
            <a:extLst>
              <a:ext uri="{FF2B5EF4-FFF2-40B4-BE49-F238E27FC236}">
                <a16:creationId xmlns:a16="http://schemas.microsoft.com/office/drawing/2014/main" id="{41BF78DC-F95B-21ED-ACC4-12820F14F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77864" y="2514600"/>
            <a:ext cx="914400" cy="914400"/>
          </a:xfrm>
          <a:prstGeom prst="rect">
            <a:avLst/>
          </a:prstGeom>
        </p:spPr>
      </p:pic>
      <p:pic>
        <p:nvPicPr>
          <p:cNvPr id="10" name="Graphic 9" descr="Holiday tree with solid fill">
            <a:extLst>
              <a:ext uri="{FF2B5EF4-FFF2-40B4-BE49-F238E27FC236}">
                <a16:creationId xmlns:a16="http://schemas.microsoft.com/office/drawing/2014/main" id="{A33041D6-47B4-D4FF-D95A-421B00E12C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12146" y="2514600"/>
            <a:ext cx="914400" cy="914400"/>
          </a:xfrm>
          <a:prstGeom prst="rect">
            <a:avLst/>
          </a:prstGeom>
        </p:spPr>
      </p:pic>
      <p:pic>
        <p:nvPicPr>
          <p:cNvPr id="12" name="Graphic 11" descr="Withering Tree with solid fill">
            <a:extLst>
              <a:ext uri="{FF2B5EF4-FFF2-40B4-BE49-F238E27FC236}">
                <a16:creationId xmlns:a16="http://schemas.microsoft.com/office/drawing/2014/main" id="{99CD5BCC-A19A-C8EA-310F-32B1C29DA5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95005" y="2514600"/>
            <a:ext cx="914400" cy="914400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4FEC4548-F116-0FD8-5650-CD576D024C4D}"/>
              </a:ext>
            </a:extLst>
          </p:cNvPr>
          <p:cNvSpPr/>
          <p:nvPr/>
        </p:nvSpPr>
        <p:spPr>
          <a:xfrm>
            <a:off x="1557130" y="3606228"/>
            <a:ext cx="215757" cy="585627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79960ADC-9549-C6AC-EA38-D78B2E49B4EE}"/>
              </a:ext>
            </a:extLst>
          </p:cNvPr>
          <p:cNvSpPr/>
          <p:nvPr/>
        </p:nvSpPr>
        <p:spPr>
          <a:xfrm>
            <a:off x="2527185" y="3606225"/>
            <a:ext cx="215757" cy="585627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D202D33-EAB4-343B-A7CD-E8054A18E3E9}"/>
              </a:ext>
            </a:extLst>
          </p:cNvPr>
          <p:cNvSpPr/>
          <p:nvPr/>
        </p:nvSpPr>
        <p:spPr>
          <a:xfrm>
            <a:off x="3522961" y="3606226"/>
            <a:ext cx="215757" cy="585627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A38A0B44-B9DA-64EC-95B3-1698B640E758}"/>
              </a:ext>
            </a:extLst>
          </p:cNvPr>
          <p:cNvSpPr/>
          <p:nvPr/>
        </p:nvSpPr>
        <p:spPr>
          <a:xfrm>
            <a:off x="4560019" y="3606225"/>
            <a:ext cx="215757" cy="585627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Graphic 17" descr="Document with solid fill">
            <a:extLst>
              <a:ext uri="{FF2B5EF4-FFF2-40B4-BE49-F238E27FC236}">
                <a16:creationId xmlns:a16="http://schemas.microsoft.com/office/drawing/2014/main" id="{05A1D3BB-4DAD-E321-885E-0B9E6897C2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07809" y="4441563"/>
            <a:ext cx="914400" cy="914400"/>
          </a:xfrm>
          <a:prstGeom prst="rect">
            <a:avLst/>
          </a:prstGeom>
        </p:spPr>
      </p:pic>
      <p:pic>
        <p:nvPicPr>
          <p:cNvPr id="19" name="Graphic 18" descr="Document with solid fill">
            <a:extLst>
              <a:ext uri="{FF2B5EF4-FFF2-40B4-BE49-F238E27FC236}">
                <a16:creationId xmlns:a16="http://schemas.microsoft.com/office/drawing/2014/main" id="{FFB2EA02-ECEC-D905-B76A-E86FC42EA0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14677" y="4470401"/>
            <a:ext cx="914400" cy="914400"/>
          </a:xfrm>
          <a:prstGeom prst="rect">
            <a:avLst/>
          </a:prstGeom>
        </p:spPr>
      </p:pic>
      <p:pic>
        <p:nvPicPr>
          <p:cNvPr id="20" name="Graphic 19" descr="Document with solid fill">
            <a:extLst>
              <a:ext uri="{FF2B5EF4-FFF2-40B4-BE49-F238E27FC236}">
                <a16:creationId xmlns:a16="http://schemas.microsoft.com/office/drawing/2014/main" id="{484CEB79-C172-F429-36CA-93D4603A9F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21545" y="4470401"/>
            <a:ext cx="914400" cy="914400"/>
          </a:xfrm>
          <a:prstGeom prst="rect">
            <a:avLst/>
          </a:prstGeom>
        </p:spPr>
      </p:pic>
      <p:pic>
        <p:nvPicPr>
          <p:cNvPr id="21" name="Graphic 20" descr="Document with solid fill">
            <a:extLst>
              <a:ext uri="{FF2B5EF4-FFF2-40B4-BE49-F238E27FC236}">
                <a16:creationId xmlns:a16="http://schemas.microsoft.com/office/drawing/2014/main" id="{0F6C0A08-F064-EDD7-625B-6D544D68CB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28413" y="4470401"/>
            <a:ext cx="914400" cy="914400"/>
          </a:xfrm>
          <a:prstGeom prst="rect">
            <a:avLst/>
          </a:prstGeom>
        </p:spPr>
      </p:pic>
      <p:pic>
        <p:nvPicPr>
          <p:cNvPr id="22" name="Graphic 21" descr="Plant With Roots with solid fill">
            <a:extLst>
              <a:ext uri="{FF2B5EF4-FFF2-40B4-BE49-F238E27FC236}">
                <a16:creationId xmlns:a16="http://schemas.microsoft.com/office/drawing/2014/main" id="{805C39C9-FB47-0480-9FA3-F1F249B07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2374" y="2437294"/>
            <a:ext cx="914400" cy="914400"/>
          </a:xfrm>
          <a:prstGeom prst="rect">
            <a:avLst/>
          </a:prstGeom>
        </p:spPr>
      </p:pic>
      <p:pic>
        <p:nvPicPr>
          <p:cNvPr id="24" name="Graphic 23" descr="Deciduous tree with solid fill">
            <a:extLst>
              <a:ext uri="{FF2B5EF4-FFF2-40B4-BE49-F238E27FC236}">
                <a16:creationId xmlns:a16="http://schemas.microsoft.com/office/drawing/2014/main" id="{A61F3936-2572-5F53-DAC3-847D127584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2429" y="2437294"/>
            <a:ext cx="914400" cy="914400"/>
          </a:xfrm>
          <a:prstGeom prst="rect">
            <a:avLst/>
          </a:prstGeom>
        </p:spPr>
      </p:pic>
      <p:pic>
        <p:nvPicPr>
          <p:cNvPr id="25" name="Graphic 24" descr="Holiday tree with solid fill">
            <a:extLst>
              <a:ext uri="{FF2B5EF4-FFF2-40B4-BE49-F238E27FC236}">
                <a16:creationId xmlns:a16="http://schemas.microsoft.com/office/drawing/2014/main" id="{3A66C9FA-977D-1950-EDBF-39E41361CF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6711" y="2437294"/>
            <a:ext cx="914400" cy="914400"/>
          </a:xfrm>
          <a:prstGeom prst="rect">
            <a:avLst/>
          </a:prstGeom>
        </p:spPr>
      </p:pic>
      <p:pic>
        <p:nvPicPr>
          <p:cNvPr id="26" name="Graphic 25" descr="Withering Tree with solid fill">
            <a:extLst>
              <a:ext uri="{FF2B5EF4-FFF2-40B4-BE49-F238E27FC236}">
                <a16:creationId xmlns:a16="http://schemas.microsoft.com/office/drawing/2014/main" id="{CEAB7B18-BF7D-D4A3-98BD-5AE21F421E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99570" y="2437294"/>
            <a:ext cx="914400" cy="914400"/>
          </a:xfrm>
          <a:prstGeom prst="rect">
            <a:avLst/>
          </a:prstGeom>
        </p:spPr>
      </p:pic>
      <p:sp>
        <p:nvSpPr>
          <p:cNvPr id="27" name="Arrow: Down 26">
            <a:extLst>
              <a:ext uri="{FF2B5EF4-FFF2-40B4-BE49-F238E27FC236}">
                <a16:creationId xmlns:a16="http://schemas.microsoft.com/office/drawing/2014/main" id="{B0BBAC5F-1C9C-0F12-D9CF-6D5D94DE993C}"/>
              </a:ext>
            </a:extLst>
          </p:cNvPr>
          <p:cNvSpPr/>
          <p:nvPr/>
        </p:nvSpPr>
        <p:spPr>
          <a:xfrm>
            <a:off x="8518231" y="3506307"/>
            <a:ext cx="215757" cy="585627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Graphic 27" descr="Document with solid fill">
            <a:extLst>
              <a:ext uri="{FF2B5EF4-FFF2-40B4-BE49-F238E27FC236}">
                <a16:creationId xmlns:a16="http://schemas.microsoft.com/office/drawing/2014/main" id="{B6C2F4FE-05D4-4AA2-1598-B3D9AC6C1A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99634" y="4375924"/>
            <a:ext cx="914400" cy="914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8320B51-3F76-9B14-4A54-5AAE22D479DE}"/>
              </a:ext>
            </a:extLst>
          </p:cNvPr>
          <p:cNvSpPr txBox="1"/>
          <p:nvPr/>
        </p:nvSpPr>
        <p:spPr>
          <a:xfrm>
            <a:off x="908937" y="5676407"/>
            <a:ext cx="4366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kumimoji="1" lang="en-US" altLang="ja-JP" sz="2800" dirty="0"/>
              <a:t> Capture seasonal bias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37FC8E-20BA-3D4D-151A-A02623B0C6B9}"/>
              </a:ext>
            </a:extLst>
          </p:cNvPr>
          <p:cNvSpPr txBox="1"/>
          <p:nvPr/>
        </p:nvSpPr>
        <p:spPr>
          <a:xfrm>
            <a:off x="6550661" y="5631726"/>
            <a:ext cx="4366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kumimoji="1" lang="en-US" altLang="ja-JP" sz="2800" dirty="0"/>
              <a:t> Simpler deployment</a:t>
            </a:r>
          </a:p>
        </p:txBody>
      </p:sp>
    </p:spTree>
    <p:extLst>
      <p:ext uri="{BB962C8B-B14F-4D97-AF65-F5344CB8AC3E}">
        <p14:creationId xmlns:p14="http://schemas.microsoft.com/office/powerpoint/2010/main" val="626637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6865-227F-6A80-4856-2D9FB16DE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A5F9-B34E-F90B-2072-C13B36C7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890736" cy="1320800"/>
          </a:xfrm>
        </p:spPr>
        <p:txBody>
          <a:bodyPr>
            <a:noAutofit/>
          </a:bodyPr>
          <a:lstStyle/>
          <a:p>
            <a:r>
              <a:rPr lang="en-US" altLang="ja-JP" sz="4700" dirty="0"/>
              <a:t>Research Question</a:t>
            </a:r>
            <a:endParaRPr kumimoji="1" lang="ja-JP" altLang="en-US" sz="47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6D18F48-1F18-3FCD-C063-55D92361D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50505"/>
            <a:ext cx="9712371" cy="4969566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ja-JP" sz="3000" dirty="0">
                <a:solidFill>
                  <a:schemeClr val="bg1">
                    <a:lumMod val="75000"/>
                  </a:schemeClr>
                </a:solidFill>
              </a:rPr>
              <a:t>Is seasonal Huffman coding more effective than all-season Huffman coding?</a:t>
            </a:r>
          </a:p>
          <a:p>
            <a:pPr marL="857250" lvl="1" indent="-45720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</a:rPr>
              <a:t>Compare both seasonal and all-season Huffman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ja-JP" sz="3000" dirty="0"/>
              <a:t>The current method doesn’t consider a threshold for sending data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2800" dirty="0"/>
              <a:t>Introduce</a:t>
            </a:r>
            <a:r>
              <a:rPr lang="en-US" altLang="ja-JP" sz="2800" dirty="0">
                <a:solidFill>
                  <a:schemeClr val="accent1"/>
                </a:solidFill>
              </a:rPr>
              <a:t> </a:t>
            </a:r>
            <a:r>
              <a:rPr lang="en-US" altLang="ja-JP" sz="2800" dirty="0">
                <a:solidFill>
                  <a:schemeClr val="accent4"/>
                </a:solidFill>
              </a:rPr>
              <a:t>Flood Probability(FP) </a:t>
            </a:r>
            <a:r>
              <a:rPr lang="en-US" altLang="ja-JP" sz="2800" dirty="0"/>
              <a:t>as a threshold, and assign higher weights to data with higher FP values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35A8E-80DC-52F7-889F-36718E176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0962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9A045-EF68-9DBF-1C76-84794F3DB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0F024-3FD4-1E8E-0CDD-44EE212C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78785"/>
            <a:ext cx="8890736" cy="1320800"/>
          </a:xfrm>
        </p:spPr>
        <p:txBody>
          <a:bodyPr>
            <a:noAutofit/>
          </a:bodyPr>
          <a:lstStyle/>
          <a:p>
            <a:r>
              <a:rPr kumimoji="1" lang="en-US" altLang="ja-JP" sz="4000" dirty="0"/>
              <a:t>Symbol Weighting Strategy</a:t>
            </a:r>
            <a:endParaRPr kumimoji="1" lang="ja-JP" altLang="en-US" sz="40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7C011BC-1078-82CB-65D7-B2BF3BAB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50505"/>
            <a:ext cx="4541939" cy="4969566"/>
          </a:xfrm>
          <a:ln w="38100"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3200" b="1" dirty="0"/>
              <a:t>Unweighted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FEC96-679A-D975-B8A9-11D66C62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524E4-B171-3502-0EE7-5CAEE676EF2C}"/>
              </a:ext>
            </a:extLst>
          </p:cNvPr>
          <p:cNvSpPr txBox="1">
            <a:spLocks/>
          </p:cNvSpPr>
          <p:nvPr/>
        </p:nvSpPr>
        <p:spPr>
          <a:xfrm>
            <a:off x="5330179" y="1550505"/>
            <a:ext cx="4697400" cy="4969566"/>
          </a:xfrm>
          <a:prstGeom prst="rect">
            <a:avLst/>
          </a:prstGeom>
          <a:ln w="38100">
            <a:solidFill>
              <a:schemeClr val="accent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 3" charset="2"/>
              <a:buNone/>
            </a:pPr>
            <a:r>
              <a:rPr lang="en-US" altLang="ja-JP" sz="3200" b="1" dirty="0"/>
              <a:t>Flood-Risk Weighted</a:t>
            </a:r>
          </a:p>
        </p:txBody>
      </p:sp>
      <p:pic>
        <p:nvPicPr>
          <p:cNvPr id="6" name="Graphic 5" descr="Document with solid fill">
            <a:extLst>
              <a:ext uri="{FF2B5EF4-FFF2-40B4-BE49-F238E27FC236}">
                <a16:creationId xmlns:a16="http://schemas.microsoft.com/office/drawing/2014/main" id="{CA2B68BB-477E-A9C4-EFDF-AD3638680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916" y="3440720"/>
            <a:ext cx="914400" cy="914400"/>
          </a:xfrm>
          <a:prstGeom prst="rect">
            <a:avLst/>
          </a:prstGeom>
        </p:spPr>
      </p:pic>
      <p:pic>
        <p:nvPicPr>
          <p:cNvPr id="8" name="Graphic 7" descr="Document with solid fill">
            <a:extLst>
              <a:ext uri="{FF2B5EF4-FFF2-40B4-BE49-F238E27FC236}">
                <a16:creationId xmlns:a16="http://schemas.microsoft.com/office/drawing/2014/main" id="{D69305B2-62BD-7A94-8A1D-09D9A5AD26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1960" y="4369905"/>
            <a:ext cx="914400" cy="914400"/>
          </a:xfrm>
          <a:prstGeom prst="rect">
            <a:avLst/>
          </a:prstGeom>
        </p:spPr>
      </p:pic>
      <p:pic>
        <p:nvPicPr>
          <p:cNvPr id="9" name="Graphic 8" descr="Document with solid fill">
            <a:extLst>
              <a:ext uri="{FF2B5EF4-FFF2-40B4-BE49-F238E27FC236}">
                <a16:creationId xmlns:a16="http://schemas.microsoft.com/office/drawing/2014/main" id="{B89C7082-5182-953B-531E-9371E22549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1960" y="2514600"/>
            <a:ext cx="914400" cy="914400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41A1C0BF-C4E9-3FDD-5C9C-424D39973FC8}"/>
              </a:ext>
            </a:extLst>
          </p:cNvPr>
          <p:cNvSpPr/>
          <p:nvPr/>
        </p:nvSpPr>
        <p:spPr>
          <a:xfrm>
            <a:off x="6120733" y="3660156"/>
            <a:ext cx="256854" cy="565079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0A094-5E10-CFB4-746F-E90A768197FE}"/>
              </a:ext>
            </a:extLst>
          </p:cNvPr>
          <p:cNvSpPr txBox="1"/>
          <p:nvPr/>
        </p:nvSpPr>
        <p:spPr>
          <a:xfrm>
            <a:off x="2608097" y="3667087"/>
            <a:ext cx="2242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Raw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BBDE93-7D09-1D15-8A54-D86244FE80C4}"/>
              </a:ext>
            </a:extLst>
          </p:cNvPr>
          <p:cNvSpPr txBox="1"/>
          <p:nvPr/>
        </p:nvSpPr>
        <p:spPr>
          <a:xfrm>
            <a:off x="838200" y="5433912"/>
            <a:ext cx="44799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è"/>
            </a:pPr>
            <a:r>
              <a:rPr kumimoji="1" lang="en-US" altLang="ja-JP" sz="2800" dirty="0"/>
              <a:t>Don’t consider flood risk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346A5-EA0E-23C3-FE7C-EE129078BAE9}"/>
              </a:ext>
            </a:extLst>
          </p:cNvPr>
          <p:cNvSpPr txBox="1"/>
          <p:nvPr/>
        </p:nvSpPr>
        <p:spPr>
          <a:xfrm>
            <a:off x="7168140" y="2765218"/>
            <a:ext cx="2283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Raw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EE7591-C9E8-CB37-90B2-0DB7EED43332}"/>
              </a:ext>
            </a:extLst>
          </p:cNvPr>
          <p:cNvSpPr txBox="1"/>
          <p:nvPr/>
        </p:nvSpPr>
        <p:spPr>
          <a:xfrm>
            <a:off x="6941376" y="3667087"/>
            <a:ext cx="2853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Weight with </a:t>
            </a:r>
            <a:r>
              <a:rPr kumimoji="1" lang="en-US" altLang="ja-JP" sz="2800" dirty="0">
                <a:solidFill>
                  <a:schemeClr val="accent4"/>
                </a:solidFill>
              </a:rPr>
              <a:t>FP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1BAFD4-7058-EA74-5D0C-62B25DF469CF}"/>
              </a:ext>
            </a:extLst>
          </p:cNvPr>
          <p:cNvSpPr txBox="1"/>
          <p:nvPr/>
        </p:nvSpPr>
        <p:spPr>
          <a:xfrm>
            <a:off x="6824782" y="4634442"/>
            <a:ext cx="2970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Weighted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2D4CD5-2DDC-A0C0-E162-19ED065818B6}"/>
              </a:ext>
            </a:extLst>
          </p:cNvPr>
          <p:cNvSpPr txBox="1"/>
          <p:nvPr/>
        </p:nvSpPr>
        <p:spPr>
          <a:xfrm>
            <a:off x="5791960" y="5649356"/>
            <a:ext cx="3915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è"/>
            </a:pPr>
            <a:r>
              <a:rPr kumimoji="1" lang="en-US" altLang="ja-JP" sz="2800" dirty="0"/>
              <a:t>Consider flood risk</a:t>
            </a:r>
          </a:p>
        </p:txBody>
      </p:sp>
    </p:spTree>
    <p:extLst>
      <p:ext uri="{BB962C8B-B14F-4D97-AF65-F5344CB8AC3E}">
        <p14:creationId xmlns:p14="http://schemas.microsoft.com/office/powerpoint/2010/main" val="664653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36D84-0BD0-A0EE-A3C4-A360E4E6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386262-5C27-9F83-DDAD-E6D76278DD4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336536" y="2015160"/>
            <a:ext cx="6443949" cy="0"/>
          </a:xfrm>
          <a:prstGeom prst="straightConnector1">
            <a:avLst/>
          </a:prstGeom>
          <a:ln w="762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105556-3C5F-942E-BB0A-33DA06BA0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15" y="403294"/>
            <a:ext cx="9025466" cy="1320800"/>
          </a:xfrm>
        </p:spPr>
        <p:txBody>
          <a:bodyPr>
            <a:noAutofit/>
          </a:bodyPr>
          <a:lstStyle/>
          <a:p>
            <a:r>
              <a:rPr kumimoji="1" lang="en-US" altLang="ja-JP" sz="4500" dirty="0"/>
              <a:t>Approach</a:t>
            </a:r>
            <a:endParaRPr kumimoji="1" lang="ja-JP" altLang="en-US" sz="4500" dirty="0"/>
          </a:p>
        </p:txBody>
      </p:sp>
      <p:pic>
        <p:nvPicPr>
          <p:cNvPr id="9" name="Content Placeholder 8" descr="Question Mark outline">
            <a:extLst>
              <a:ext uri="{FF2B5EF4-FFF2-40B4-BE49-F238E27FC236}">
                <a16:creationId xmlns:a16="http://schemas.microsoft.com/office/drawing/2014/main" id="{DD34FBBC-25B6-3323-8933-3CAF593F9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6839" y="1550713"/>
            <a:ext cx="914400" cy="9144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EC6B6-5FE3-553F-74C7-61E39DB1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11" name="Graphic 10" descr="Share with solid fill">
            <a:extLst>
              <a:ext uri="{FF2B5EF4-FFF2-40B4-BE49-F238E27FC236}">
                <a16:creationId xmlns:a16="http://schemas.microsoft.com/office/drawing/2014/main" id="{AD2FA460-AF13-8FD0-9544-EB442A8994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0485" y="1557960"/>
            <a:ext cx="914400" cy="914400"/>
          </a:xfrm>
          <a:prstGeom prst="rect">
            <a:avLst/>
          </a:prstGeom>
        </p:spPr>
      </p:pic>
      <p:pic>
        <p:nvPicPr>
          <p:cNvPr id="13" name="Graphic 12" descr="Bar chart outline">
            <a:extLst>
              <a:ext uri="{FF2B5EF4-FFF2-40B4-BE49-F238E27FC236}">
                <a16:creationId xmlns:a16="http://schemas.microsoft.com/office/drawing/2014/main" id="{1944E8E5-D7E8-5E5B-1FC6-1C3593B480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82497" y="1522685"/>
            <a:ext cx="914400" cy="914400"/>
          </a:xfrm>
          <a:prstGeom prst="rect">
            <a:avLst/>
          </a:prstGeom>
        </p:spPr>
      </p:pic>
      <p:pic>
        <p:nvPicPr>
          <p:cNvPr id="15" name="Graphic 14" descr="Processor outline">
            <a:extLst>
              <a:ext uri="{FF2B5EF4-FFF2-40B4-BE49-F238E27FC236}">
                <a16:creationId xmlns:a16="http://schemas.microsoft.com/office/drawing/2014/main" id="{8C9409A5-39D7-D968-99D3-177BBD0307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44727" y="1550713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491E29-CB85-A34E-0C20-D18972792BA9}"/>
              </a:ext>
            </a:extLst>
          </p:cNvPr>
          <p:cNvSpPr txBox="1"/>
          <p:nvPr/>
        </p:nvSpPr>
        <p:spPr>
          <a:xfrm>
            <a:off x="518548" y="2437085"/>
            <a:ext cx="2707537" cy="1970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Sensor Data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Temperature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Humidity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B337D1-F9AA-6D20-221F-6A7B128DA164}"/>
              </a:ext>
            </a:extLst>
          </p:cNvPr>
          <p:cNvSpPr txBox="1"/>
          <p:nvPr/>
        </p:nvSpPr>
        <p:spPr>
          <a:xfrm>
            <a:off x="3042507" y="2437085"/>
            <a:ext cx="2791542" cy="678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2800" dirty="0">
                <a:solidFill>
                  <a:schemeClr val="accent4"/>
                </a:solidFill>
              </a:rPr>
              <a:t>FP Calculation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F9DB1C-2F7F-1E31-D4FF-8172BBB6CD60}"/>
              </a:ext>
            </a:extLst>
          </p:cNvPr>
          <p:cNvSpPr txBox="1"/>
          <p:nvPr/>
        </p:nvSpPr>
        <p:spPr>
          <a:xfrm>
            <a:off x="5657238" y="2417483"/>
            <a:ext cx="2243304" cy="678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</a:t>
            </a:r>
            <a:r>
              <a:rPr lang="en-US" altLang="ja-JP" sz="2800" dirty="0">
                <a:solidFill>
                  <a:schemeClr val="accent4"/>
                </a:solidFill>
              </a:rPr>
              <a:t>FP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ja-JP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≥ 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626365-FF86-A3AA-1469-5BDF57326ED9}"/>
              </a:ext>
            </a:extLst>
          </p:cNvPr>
          <p:cNvSpPr txBox="1"/>
          <p:nvPr/>
        </p:nvSpPr>
        <p:spPr>
          <a:xfrm>
            <a:off x="8140478" y="2417483"/>
            <a:ext cx="4540000" cy="1970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Compress 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Send</a:t>
            </a:r>
          </a:p>
          <a:p>
            <a:pPr>
              <a:lnSpc>
                <a:spcPct val="150000"/>
              </a:lnSpc>
            </a:pP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ja-JP" sz="2800" dirty="0">
                <a:solidFill>
                  <a:schemeClr val="accent6"/>
                </a:solidFill>
              </a:rPr>
              <a:t>Seasonal Huffman 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altLang="ja-JP" sz="2800" dirty="0">
                <a:solidFill>
                  <a:schemeClr val="accent2"/>
                </a:solidFill>
              </a:rPr>
              <a:t>All-season Huffman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B7DF6B-6C84-B1C6-8A08-81DC71EB35A0}"/>
              </a:ext>
            </a:extLst>
          </p:cNvPr>
          <p:cNvSpPr txBox="1"/>
          <p:nvPr/>
        </p:nvSpPr>
        <p:spPr>
          <a:xfrm>
            <a:off x="362511" y="4861366"/>
            <a:ext cx="11690944" cy="1324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2800" b="1" dirty="0">
                <a:solidFill>
                  <a:schemeClr val="accent4"/>
                </a:solidFill>
              </a:rPr>
              <a:t> </a:t>
            </a:r>
            <a:r>
              <a:rPr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 a better way to generate a Huffman tree </a:t>
            </a:r>
            <a:r>
              <a:rPr lang="en-US" altLang="ja-JP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data sent under high </a:t>
            </a:r>
            <a:r>
              <a:rPr lang="en-US" altLang="ja-JP" sz="2800" b="1" dirty="0">
                <a:solidFill>
                  <a:schemeClr val="accent4"/>
                </a:solidFill>
              </a:rPr>
              <a:t>Flood Probability (FP) </a:t>
            </a:r>
            <a:r>
              <a:rPr lang="en-US" altLang="ja-JP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conditions</a:t>
            </a:r>
          </a:p>
        </p:txBody>
      </p:sp>
    </p:spTree>
    <p:extLst>
      <p:ext uri="{BB962C8B-B14F-4D97-AF65-F5344CB8AC3E}">
        <p14:creationId xmlns:p14="http://schemas.microsoft.com/office/powerpoint/2010/main" val="4165187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55732-C4B3-CFD8-93DD-295B029A1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D0102-39DC-C3EC-9E6E-AC2CCF85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59971"/>
            <a:ext cx="8890736" cy="1320800"/>
          </a:xfrm>
        </p:spPr>
        <p:txBody>
          <a:bodyPr>
            <a:noAutofit/>
          </a:bodyPr>
          <a:lstStyle/>
          <a:p>
            <a:r>
              <a:rPr kumimoji="1" lang="en-US" altLang="ja-JP" sz="4500" dirty="0"/>
              <a:t>Approach: </a:t>
            </a:r>
            <a:r>
              <a:rPr kumimoji="1" lang="en-US" altLang="ja-JP" sz="4500" dirty="0">
                <a:solidFill>
                  <a:schemeClr val="accent4"/>
                </a:solidFill>
              </a:rPr>
              <a:t>Flood Probability(FP)</a:t>
            </a:r>
            <a:endParaRPr kumimoji="1" lang="ja-JP" altLang="en-US" sz="4500" dirty="0">
              <a:solidFill>
                <a:schemeClr val="accent4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CD60A97-EE55-77E7-39D3-2E8FEFA5E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8592"/>
            <a:ext cx="9712371" cy="49695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/>
              <a:t>Method: </a:t>
            </a:r>
            <a:r>
              <a:rPr lang="en-US" altLang="ja-JP" sz="3200" b="1" dirty="0"/>
              <a:t>Logistic regression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/>
              <a:t>Trained on: 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altLang="ja-JP" sz="3000" dirty="0"/>
              <a:t>Inputs: </a:t>
            </a:r>
            <a:r>
              <a:rPr lang="en-US" altLang="ja-JP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temperature, humidity, precipitation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altLang="ja-JP" sz="3000" dirty="0"/>
              <a:t>Precipitation </a:t>
            </a:r>
            <a:r>
              <a:rPr lang="ja-JP" altLang="en-US" sz="3000" dirty="0"/>
              <a:t>≥ </a:t>
            </a:r>
            <a:r>
              <a:rPr lang="en-US" altLang="ja-JP" sz="3000" dirty="0"/>
              <a:t>10mm (2023-2024)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altLang="ja-JP" sz="3000" dirty="0"/>
              <a:t>8 regions across 4 seasons in Japan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35D26-CBFC-A285-0DDE-BF6F4CB7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88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BBB5B-392F-48BF-53D4-AD9C1FBC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A94BA-0FC7-0B1F-AE1E-BCDDAF2AB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530288"/>
            <a:ext cx="8437755" cy="953477"/>
          </a:xfrm>
        </p:spPr>
        <p:txBody>
          <a:bodyPr>
            <a:normAutofit/>
          </a:bodyPr>
          <a:lstStyle/>
          <a:p>
            <a:r>
              <a:rPr kumimoji="1" lang="en-US" altLang="ja-JP" sz="4400" dirty="0"/>
              <a:t>Approach: Compression Strategy</a:t>
            </a:r>
            <a:endParaRPr kumimoji="1" lang="ja-JP" altLang="en-US" sz="4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08DFD-35AB-B7A4-1F38-B6F4D4F5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6F32A3-D4FE-42B4-ED8F-1AE40F888C3E}"/>
              </a:ext>
            </a:extLst>
          </p:cNvPr>
          <p:cNvSpPr/>
          <p:nvPr/>
        </p:nvSpPr>
        <p:spPr>
          <a:xfrm>
            <a:off x="4590695" y="1418530"/>
            <a:ext cx="2721160" cy="5951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Huffman Tree</a:t>
            </a:r>
            <a:endParaRPr kumimoji="1" lang="ja-JP" alt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96A8D1-AD96-15AB-6159-160D6796D1CB}"/>
              </a:ext>
            </a:extLst>
          </p:cNvPr>
          <p:cNvGrpSpPr/>
          <p:nvPr/>
        </p:nvGrpSpPr>
        <p:grpSpPr>
          <a:xfrm>
            <a:off x="4069228" y="2009305"/>
            <a:ext cx="3855817" cy="1058069"/>
            <a:chOff x="3233113" y="2078831"/>
            <a:chExt cx="3855817" cy="105806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0648FC6-F949-16A5-B662-BB07FD8B1F3A}"/>
                </a:ext>
              </a:extLst>
            </p:cNvPr>
            <p:cNvCxnSpPr>
              <a:cxnSpLocks/>
            </p:cNvCxnSpPr>
            <p:nvPr/>
          </p:nvCxnSpPr>
          <p:spPr>
            <a:xfrm>
              <a:off x="5104886" y="2078831"/>
              <a:ext cx="0" cy="5143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90B06FD-622C-BACE-CCD8-9B7D4E823E0A}"/>
                </a:ext>
              </a:extLst>
            </p:cNvPr>
            <p:cNvCxnSpPr>
              <a:cxnSpLocks/>
            </p:cNvCxnSpPr>
            <p:nvPr/>
          </p:nvCxnSpPr>
          <p:spPr>
            <a:xfrm>
              <a:off x="3233113" y="2606675"/>
              <a:ext cx="385581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EA2CC8B-ADE7-CB4B-C717-973869F3A567}"/>
                </a:ext>
              </a:extLst>
            </p:cNvPr>
            <p:cNvCxnSpPr/>
            <p:nvPr/>
          </p:nvCxnSpPr>
          <p:spPr>
            <a:xfrm>
              <a:off x="3233113" y="2606675"/>
              <a:ext cx="0" cy="5143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6BE804D-4566-42A8-06AF-AB76182D9564}"/>
                </a:ext>
              </a:extLst>
            </p:cNvPr>
            <p:cNvCxnSpPr/>
            <p:nvPr/>
          </p:nvCxnSpPr>
          <p:spPr>
            <a:xfrm>
              <a:off x="7084832" y="2622550"/>
              <a:ext cx="0" cy="5143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66F3E49-2C04-9B61-B9F0-ED23A7A5C517}"/>
              </a:ext>
            </a:extLst>
          </p:cNvPr>
          <p:cNvSpPr/>
          <p:nvPr/>
        </p:nvSpPr>
        <p:spPr>
          <a:xfrm>
            <a:off x="2933365" y="3040460"/>
            <a:ext cx="1951906" cy="49476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</a:rPr>
              <a:t>Seasonal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C1D03D-FAB0-0A5C-6F70-FC0167A451A8}"/>
              </a:ext>
            </a:extLst>
          </p:cNvPr>
          <p:cNvSpPr/>
          <p:nvPr/>
        </p:nvSpPr>
        <p:spPr>
          <a:xfrm>
            <a:off x="7125454" y="3051575"/>
            <a:ext cx="2407735" cy="5137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</a:rPr>
              <a:t>All-season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D3EBFB-BCDB-C249-F62F-A802EDEA37C8}"/>
              </a:ext>
            </a:extLst>
          </p:cNvPr>
          <p:cNvGrpSpPr/>
          <p:nvPr/>
        </p:nvGrpSpPr>
        <p:grpSpPr>
          <a:xfrm>
            <a:off x="2434318" y="3536388"/>
            <a:ext cx="1576121" cy="1055688"/>
            <a:chOff x="4519834" y="2065337"/>
            <a:chExt cx="911668" cy="105568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1267786-269D-84AA-94AF-932A4D60B3B7}"/>
                </a:ext>
              </a:extLst>
            </p:cNvPr>
            <p:cNvCxnSpPr/>
            <p:nvPr/>
          </p:nvCxnSpPr>
          <p:spPr>
            <a:xfrm>
              <a:off x="4975668" y="2065337"/>
              <a:ext cx="0" cy="5143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706974F-D119-2388-011B-4A2DC91CB3A9}"/>
                </a:ext>
              </a:extLst>
            </p:cNvPr>
            <p:cNvCxnSpPr>
              <a:cxnSpLocks/>
            </p:cNvCxnSpPr>
            <p:nvPr/>
          </p:nvCxnSpPr>
          <p:spPr>
            <a:xfrm>
              <a:off x="4519834" y="2590800"/>
              <a:ext cx="91166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4526D1C-1481-EE54-33B2-E1DCFD3BBF37}"/>
                </a:ext>
              </a:extLst>
            </p:cNvPr>
            <p:cNvCxnSpPr/>
            <p:nvPr/>
          </p:nvCxnSpPr>
          <p:spPr>
            <a:xfrm>
              <a:off x="4519834" y="2606675"/>
              <a:ext cx="0" cy="5143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BEDC249-57E0-D328-DC91-8D86FCE8A71B}"/>
                </a:ext>
              </a:extLst>
            </p:cNvPr>
            <p:cNvCxnSpPr/>
            <p:nvPr/>
          </p:nvCxnSpPr>
          <p:spPr>
            <a:xfrm>
              <a:off x="5431502" y="2590800"/>
              <a:ext cx="0" cy="5143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0E740AB-0E58-1DD0-5E45-D017DF099015}"/>
              </a:ext>
            </a:extLst>
          </p:cNvPr>
          <p:cNvGrpSpPr/>
          <p:nvPr/>
        </p:nvGrpSpPr>
        <p:grpSpPr>
          <a:xfrm>
            <a:off x="8371281" y="3581055"/>
            <a:ext cx="1576121" cy="1055688"/>
            <a:chOff x="4519834" y="2065337"/>
            <a:chExt cx="911668" cy="105568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D5C4E0F-D7E4-E6BF-1178-EF4C772B1F60}"/>
                </a:ext>
              </a:extLst>
            </p:cNvPr>
            <p:cNvCxnSpPr/>
            <p:nvPr/>
          </p:nvCxnSpPr>
          <p:spPr>
            <a:xfrm>
              <a:off x="4975668" y="2065337"/>
              <a:ext cx="0" cy="5143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F1C53FC-1C4E-6C8D-9E99-6EBEFCB56039}"/>
                </a:ext>
              </a:extLst>
            </p:cNvPr>
            <p:cNvCxnSpPr>
              <a:cxnSpLocks/>
            </p:cNvCxnSpPr>
            <p:nvPr/>
          </p:nvCxnSpPr>
          <p:spPr>
            <a:xfrm>
              <a:off x="4519834" y="2590800"/>
              <a:ext cx="91166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6DBEB5A-D55D-328A-1B9B-9CF2292108EA}"/>
                </a:ext>
              </a:extLst>
            </p:cNvPr>
            <p:cNvCxnSpPr/>
            <p:nvPr/>
          </p:nvCxnSpPr>
          <p:spPr>
            <a:xfrm>
              <a:off x="4519834" y="2606675"/>
              <a:ext cx="0" cy="5143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6BB7C06-A6DA-7E07-AABA-7721CB6B5B5B}"/>
                </a:ext>
              </a:extLst>
            </p:cNvPr>
            <p:cNvCxnSpPr/>
            <p:nvPr/>
          </p:nvCxnSpPr>
          <p:spPr>
            <a:xfrm>
              <a:off x="5431502" y="2590800"/>
              <a:ext cx="0" cy="5143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41E08BFF-FA26-D244-D673-D93F8058B2B3}"/>
              </a:ext>
            </a:extLst>
          </p:cNvPr>
          <p:cNvSpPr/>
          <p:nvPr/>
        </p:nvSpPr>
        <p:spPr>
          <a:xfrm>
            <a:off x="3086795" y="4472975"/>
            <a:ext cx="1902976" cy="51856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weighted</a:t>
            </a:r>
            <a:endParaRPr kumimoji="1" lang="ja-JP" altLang="en-US" sz="2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EF2345-8AD7-1D58-D9CC-4A2444FDB07E}"/>
              </a:ext>
            </a:extLst>
          </p:cNvPr>
          <p:cNvSpPr/>
          <p:nvPr/>
        </p:nvSpPr>
        <p:spPr>
          <a:xfrm>
            <a:off x="538829" y="4474108"/>
            <a:ext cx="2125403" cy="5174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unweighted</a:t>
            </a:r>
            <a:endParaRPr kumimoji="1" lang="ja-JP" alt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600563-D729-E52C-888F-162D42BA1505}"/>
              </a:ext>
            </a:extLst>
          </p:cNvPr>
          <p:cNvSpPr/>
          <p:nvPr/>
        </p:nvSpPr>
        <p:spPr>
          <a:xfrm>
            <a:off x="9521621" y="4572862"/>
            <a:ext cx="1816891" cy="4769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weighted</a:t>
            </a:r>
            <a:endParaRPr kumimoji="1" lang="ja-JP" altLang="en-US" sz="28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FF7E38-7E60-FE43-BEC8-42D5CC94BA4D}"/>
              </a:ext>
            </a:extLst>
          </p:cNvPr>
          <p:cNvSpPr/>
          <p:nvPr/>
        </p:nvSpPr>
        <p:spPr>
          <a:xfrm>
            <a:off x="6912780" y="4572862"/>
            <a:ext cx="2246561" cy="4970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unweighted</a:t>
            </a:r>
            <a:endParaRPr kumimoji="1" lang="ja-JP" alt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BBD216-A2B6-3DB5-BD7E-8BA36E00587D}"/>
              </a:ext>
            </a:extLst>
          </p:cNvPr>
          <p:cNvSpPr txBox="1"/>
          <p:nvPr/>
        </p:nvSpPr>
        <p:spPr>
          <a:xfrm>
            <a:off x="2530870" y="5549743"/>
            <a:ext cx="6840809" cy="76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3200" dirty="0"/>
              <a:t> Compared between 4 strategies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4BE0C-305D-5A26-EA1F-9ACCAE304F82}"/>
              </a:ext>
            </a:extLst>
          </p:cNvPr>
          <p:cNvSpPr txBox="1"/>
          <p:nvPr/>
        </p:nvSpPr>
        <p:spPr>
          <a:xfrm>
            <a:off x="4910773" y="2966642"/>
            <a:ext cx="218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Compression methods</a:t>
            </a:r>
            <a:endParaRPr kumimoji="1" lang="ja-JP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92B69-8289-F5FA-A1EF-A90F31D593B9}"/>
              </a:ext>
            </a:extLst>
          </p:cNvPr>
          <p:cNvSpPr txBox="1"/>
          <p:nvPr/>
        </p:nvSpPr>
        <p:spPr>
          <a:xfrm>
            <a:off x="5145510" y="4132091"/>
            <a:ext cx="1611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Symbol Weighting Strategy</a:t>
            </a:r>
            <a:endParaRPr kumimoji="1" lang="ja-JP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978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2A314-3168-8987-1266-4CFCE3B9C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73C9-8850-AF73-34BF-005860A18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44" y="309999"/>
            <a:ext cx="10197494" cy="1099457"/>
          </a:xfrm>
        </p:spPr>
        <p:txBody>
          <a:bodyPr>
            <a:normAutofit/>
          </a:bodyPr>
          <a:lstStyle/>
          <a:p>
            <a:r>
              <a:rPr kumimoji="1" lang="en-US" altLang="ja-JP" sz="4800" dirty="0"/>
              <a:t>Experimental Methodology</a:t>
            </a:r>
            <a:endParaRPr kumimoji="1" lang="ja-JP" altLang="en-US" sz="4800" dirty="0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401B27D0-FA98-8617-ED68-BC48A5F71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4647586"/>
              </p:ext>
            </p:extLst>
          </p:nvPr>
        </p:nvGraphicFramePr>
        <p:xfrm>
          <a:off x="1060608" y="1500118"/>
          <a:ext cx="1065014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074B7-518B-82CA-1B39-F7190046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801FD68-533F-478A-A5D4-F2799E4EB7D9}" type="slidenum">
              <a:rPr kumimoji="1" lang="ja-JP" altLang="en-US" smtClean="0"/>
              <a:pPr>
                <a:spcAft>
                  <a:spcPts val="600"/>
                </a:spcAft>
              </a:pPr>
              <a:t>16</a:t>
            </a:fld>
            <a:endParaRPr kumimoji="1" lang="ja-JP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BE0F77-2595-1474-A574-1FFADAA6F339}"/>
              </a:ext>
            </a:extLst>
          </p:cNvPr>
          <p:cNvSpPr txBox="1"/>
          <p:nvPr/>
        </p:nvSpPr>
        <p:spPr>
          <a:xfrm>
            <a:off x="1060608" y="5953415"/>
            <a:ext cx="6447366" cy="59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2400" dirty="0"/>
              <a:t>Source:</a:t>
            </a:r>
            <a:r>
              <a:rPr lang="ja-JP" altLang="en-US" sz="2400" dirty="0"/>
              <a:t> </a:t>
            </a:r>
            <a:r>
              <a:rPr lang="en-US" altLang="ja-JP" sz="2400" dirty="0"/>
              <a:t>Japan</a:t>
            </a:r>
            <a:r>
              <a:rPr lang="ja-JP" altLang="en-US" sz="2400" dirty="0"/>
              <a:t> </a:t>
            </a:r>
            <a:r>
              <a:rPr lang="en-US" altLang="ja-JP" sz="2400" dirty="0"/>
              <a:t>Meteorological</a:t>
            </a:r>
            <a:r>
              <a:rPr lang="ja-JP" altLang="en-US" sz="2400" dirty="0"/>
              <a:t> </a:t>
            </a:r>
            <a:r>
              <a:rPr lang="en-US" altLang="ja-JP" sz="2400" dirty="0"/>
              <a:t>Agency(JMA)</a:t>
            </a:r>
          </a:p>
        </p:txBody>
      </p:sp>
    </p:spTree>
    <p:extLst>
      <p:ext uri="{BB962C8B-B14F-4D97-AF65-F5344CB8AC3E}">
        <p14:creationId xmlns:p14="http://schemas.microsoft.com/office/powerpoint/2010/main" val="3364973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ABD21-33D6-A5C5-68A7-84D039A9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476A8-3AA8-7EF5-A97D-D0E25A10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76" y="473717"/>
            <a:ext cx="8596668" cy="760194"/>
          </a:xfrm>
        </p:spPr>
        <p:txBody>
          <a:bodyPr anchor="t">
            <a:noAutofit/>
          </a:bodyPr>
          <a:lstStyle/>
          <a:p>
            <a:r>
              <a:rPr kumimoji="1" lang="en-US" altLang="ja-JP" sz="4700" dirty="0"/>
              <a:t>Experimental Methodology: FP</a:t>
            </a:r>
            <a:endParaRPr kumimoji="1" lang="ja-JP" altLang="en-US" sz="47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DFCCCAB-FB57-65B5-9019-B7052642A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68105" y="2902439"/>
            <a:ext cx="8855789" cy="190223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DE357-C95D-DE2A-7187-2D43D512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801FD68-533F-478A-A5D4-F2799E4EB7D9}" type="slidenum">
              <a:rPr kumimoji="1" lang="ja-JP" altLang="en-US" smtClean="0"/>
              <a:pPr>
                <a:spcAft>
                  <a:spcPts val="600"/>
                </a:spcAft>
              </a:pPr>
              <a:t>17</a:t>
            </a:fld>
            <a:endParaRPr kumimoji="1" lang="ja-JP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B91CC9-0BFD-429D-275F-5D79E89C991A}"/>
              </a:ext>
            </a:extLst>
          </p:cNvPr>
          <p:cNvSpPr/>
          <p:nvPr/>
        </p:nvSpPr>
        <p:spPr>
          <a:xfrm>
            <a:off x="2971581" y="3476563"/>
            <a:ext cx="1353839" cy="437891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111CB5-DA6A-C843-4785-0A817F7C2C81}"/>
              </a:ext>
            </a:extLst>
          </p:cNvPr>
          <p:cNvSpPr/>
          <p:nvPr/>
        </p:nvSpPr>
        <p:spPr>
          <a:xfrm>
            <a:off x="5616943" y="3490278"/>
            <a:ext cx="1353839" cy="437891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2B9794-2E25-423F-57CA-80E25ABB9D40}"/>
              </a:ext>
            </a:extLst>
          </p:cNvPr>
          <p:cNvSpPr/>
          <p:nvPr/>
        </p:nvSpPr>
        <p:spPr>
          <a:xfrm>
            <a:off x="8185865" y="3476563"/>
            <a:ext cx="1709669" cy="437891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F6E0B2-ECF3-6B7F-15AC-AD35681D9C1D}"/>
                  </a:ext>
                </a:extLst>
              </p:cNvPr>
              <p:cNvSpPr txBox="1"/>
              <p:nvPr/>
            </p:nvSpPr>
            <p:spPr>
              <a:xfrm>
                <a:off x="2803392" y="1410550"/>
                <a:ext cx="6585214" cy="10593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kumimoji="1" lang="en-US" altLang="ja-JP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𝑇𝑒𝑚𝑝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ja-JP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1" lang="en-US" altLang="ja-JP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𝐻𝑢𝑚𝑑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F6E0B2-ECF3-6B7F-15AC-AD35681D9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392" y="1410550"/>
                <a:ext cx="6585214" cy="1059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6EC7E5-7C5E-51EE-82D9-674BCBBEA6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7" t="71502" r="37581" b="10784"/>
          <a:stretch>
            <a:fillRect/>
          </a:stretch>
        </p:blipFill>
        <p:spPr>
          <a:xfrm>
            <a:off x="2258338" y="5257703"/>
            <a:ext cx="7675323" cy="6660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B6A88A-90EA-B74A-6241-0B62C9786DB0}"/>
              </a:ext>
            </a:extLst>
          </p:cNvPr>
          <p:cNvSpPr txBox="1"/>
          <p:nvPr/>
        </p:nvSpPr>
        <p:spPr>
          <a:xfrm>
            <a:off x="5820092" y="5277459"/>
            <a:ext cx="2456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-&gt; coefficient (</a:t>
            </a:r>
            <a:r>
              <a:rPr kumimoji="1" lang="en-US" altLang="ja-JP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coef</a:t>
            </a:r>
            <a:r>
              <a:rPr kumimoji="1"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)</a:t>
            </a:r>
          </a:p>
          <a:p>
            <a:r>
              <a:rPr kumimoji="1"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-&gt; intercept</a:t>
            </a:r>
            <a:endParaRPr kumimoji="1" lang="ja-JP" altLang="en-US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791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5977-20AC-452D-E877-D68133D0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EF4E3-2416-2A70-C6BE-146C0F2E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02420" cy="1325563"/>
          </a:xfrm>
        </p:spPr>
        <p:txBody>
          <a:bodyPr>
            <a:noAutofit/>
          </a:bodyPr>
          <a:lstStyle/>
          <a:p>
            <a:r>
              <a:rPr kumimoji="1" lang="en-US" altLang="ja-JP" sz="5400" dirty="0"/>
              <a:t>Experimental Methodology: Metrics</a:t>
            </a:r>
            <a:endParaRPr kumimoji="1" lang="ja-JP" altLang="en-US" sz="54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D76B770-8077-CDC3-4CA2-34EAFC2A7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639" y="1592197"/>
            <a:ext cx="9712371" cy="46704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4000" b="1" dirty="0"/>
              <a:t>Compression Ratio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3600" dirty="0"/>
              <a:t>Compressed size vs raw data size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4000" b="1" dirty="0"/>
              <a:t>Transmission Count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3600" dirty="0"/>
              <a:t>How often data had to be sent</a:t>
            </a:r>
          </a:p>
          <a:p>
            <a:pPr>
              <a:lnSpc>
                <a:spcPct val="150000"/>
              </a:lnSpc>
              <a:buFontTx/>
              <a:buChar char="-"/>
            </a:pPr>
            <a:endParaRPr lang="en-US" altLang="ja-JP" sz="4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9EBA2-EF3D-7F51-74A2-D5B7ADBD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18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32137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4382D-4F5A-EB7F-F131-24A5051D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C525E-CC2D-7D10-B5D8-9914BE28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5400" dirty="0"/>
              <a:t>Results –File Size</a:t>
            </a:r>
            <a:endParaRPr kumimoji="1" lang="ja-JP" altLang="en-US" sz="5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61607-C713-8B91-3C88-CBFE151C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3712" y="6188161"/>
            <a:ext cx="683339" cy="365125"/>
          </a:xfrm>
        </p:spPr>
        <p:txBody>
          <a:bodyPr/>
          <a:lstStyle/>
          <a:p>
            <a:fld id="{1801FD68-533F-478A-A5D4-F2799E4EB7D9}" type="slidenum">
              <a:rPr kumimoji="1" lang="ja-JP" altLang="en-US" smtClean="0"/>
              <a:t>19</a:t>
            </a:fld>
            <a:endParaRPr kumimoji="1" lang="ja-JP" alt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4EC1213-77D5-F05B-BEC1-A91B61134D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3675619"/>
              </p:ext>
            </p:extLst>
          </p:nvPr>
        </p:nvGraphicFramePr>
        <p:xfrm>
          <a:off x="580528" y="1452000"/>
          <a:ext cx="11030941" cy="4403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2E2DC04-DFF7-E898-3558-8BCCC6770D31}"/>
              </a:ext>
            </a:extLst>
          </p:cNvPr>
          <p:cNvSpPr txBox="1"/>
          <p:nvPr/>
        </p:nvSpPr>
        <p:spPr>
          <a:xfrm>
            <a:off x="0" y="5855335"/>
            <a:ext cx="12440175" cy="76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3200" dirty="0"/>
              <a:t> Flood risk weighting outperformed seasonal distribution</a:t>
            </a: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C6844551-07F0-A8EF-EA4C-A914AA87A634}"/>
              </a:ext>
            </a:extLst>
          </p:cNvPr>
          <p:cNvSpPr/>
          <p:nvPr/>
        </p:nvSpPr>
        <p:spPr>
          <a:xfrm>
            <a:off x="4366517" y="1355810"/>
            <a:ext cx="3071973" cy="715847"/>
          </a:xfrm>
          <a:prstGeom prst="wedgeRectCallout">
            <a:avLst>
              <a:gd name="adj1" fmla="val -46920"/>
              <a:gd name="adj2" fmla="val 7828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Fall and Winter data can become a noise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771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5F522-0DF1-1DAE-F72F-D7E0228A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3B69-366D-E95F-9ACB-F13573068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5400" dirty="0"/>
              <a:t>Results –File Size</a:t>
            </a:r>
            <a:endParaRPr kumimoji="1" lang="ja-JP" altLang="en-US" sz="5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D4F6-7BF3-CF6A-B578-C46BD625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3712" y="6188161"/>
            <a:ext cx="683339" cy="365125"/>
          </a:xfrm>
        </p:spPr>
        <p:txBody>
          <a:bodyPr/>
          <a:lstStyle/>
          <a:p>
            <a:fld id="{1801FD68-533F-478A-A5D4-F2799E4EB7D9}" type="slidenum">
              <a:rPr kumimoji="1" lang="ja-JP" altLang="en-US" smtClean="0"/>
              <a:t>20</a:t>
            </a:fld>
            <a:endParaRPr kumimoji="1" lang="ja-JP" alt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60BB3F9-DC14-EE3A-901F-9DBE8AE93452}"/>
              </a:ext>
            </a:extLst>
          </p:cNvPr>
          <p:cNvGraphicFramePr/>
          <p:nvPr/>
        </p:nvGraphicFramePr>
        <p:xfrm>
          <a:off x="580528" y="1452000"/>
          <a:ext cx="11030941" cy="4403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7895301-4B7F-5DFE-7803-6D5546FB3485}"/>
              </a:ext>
            </a:extLst>
          </p:cNvPr>
          <p:cNvSpPr txBox="1"/>
          <p:nvPr/>
        </p:nvSpPr>
        <p:spPr>
          <a:xfrm>
            <a:off x="0" y="5855335"/>
            <a:ext cx="12440175" cy="76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3200" dirty="0"/>
              <a:t> Flood risk weighting outperformed seasonal distribution</a:t>
            </a: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F95548E8-7105-57B9-2A2D-738922923B6E}"/>
              </a:ext>
            </a:extLst>
          </p:cNvPr>
          <p:cNvSpPr/>
          <p:nvPr/>
        </p:nvSpPr>
        <p:spPr>
          <a:xfrm>
            <a:off x="4808306" y="1713734"/>
            <a:ext cx="3071973" cy="715847"/>
          </a:xfrm>
          <a:prstGeom prst="wedgeRectCallout">
            <a:avLst>
              <a:gd name="adj1" fmla="val -46920"/>
              <a:gd name="adj2" fmla="val 7828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Weights on FP rather than temperature itself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552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B41109-8042-2320-6315-8F8D13D1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21</a:t>
            </a:fld>
            <a:endParaRPr kumimoji="1" lang="ja-JP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D8C731-5A66-5CF2-321A-61C367BEA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587640"/>
              </p:ext>
            </p:extLst>
          </p:nvPr>
        </p:nvGraphicFramePr>
        <p:xfrm>
          <a:off x="1063170" y="5069130"/>
          <a:ext cx="9693498" cy="1525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456">
                  <a:extLst>
                    <a:ext uri="{9D8B030D-6E8A-4147-A177-3AD203B41FA5}">
                      <a16:colId xmlns:a16="http://schemas.microsoft.com/office/drawing/2014/main" val="1005243350"/>
                    </a:ext>
                  </a:extLst>
                </a:gridCol>
                <a:gridCol w="2074916">
                  <a:extLst>
                    <a:ext uri="{9D8B030D-6E8A-4147-A177-3AD203B41FA5}">
                      <a16:colId xmlns:a16="http://schemas.microsoft.com/office/drawing/2014/main" val="2383248479"/>
                    </a:ext>
                  </a:extLst>
                </a:gridCol>
                <a:gridCol w="2059076">
                  <a:extLst>
                    <a:ext uri="{9D8B030D-6E8A-4147-A177-3AD203B41FA5}">
                      <a16:colId xmlns:a16="http://schemas.microsoft.com/office/drawing/2014/main" val="3195947496"/>
                    </a:ext>
                  </a:extLst>
                </a:gridCol>
                <a:gridCol w="2312502">
                  <a:extLst>
                    <a:ext uri="{9D8B030D-6E8A-4147-A177-3AD203B41FA5}">
                      <a16:colId xmlns:a16="http://schemas.microsoft.com/office/drawing/2014/main" val="3275994696"/>
                    </a:ext>
                  </a:extLst>
                </a:gridCol>
                <a:gridCol w="1520548">
                  <a:extLst>
                    <a:ext uri="{9D8B030D-6E8A-4147-A177-3AD203B41FA5}">
                      <a16:colId xmlns:a16="http://schemas.microsoft.com/office/drawing/2014/main" val="2459583899"/>
                    </a:ext>
                  </a:extLst>
                </a:gridCol>
              </a:tblGrid>
              <a:tr h="819459">
                <a:tc>
                  <a:txBody>
                    <a:bodyPr/>
                    <a:lstStyle/>
                    <a:p>
                      <a:r>
                        <a:rPr kumimoji="1" lang="en-US" altLang="ja-JP" sz="2400" dirty="0">
                          <a:solidFill>
                            <a:schemeClr val="tx1"/>
                          </a:solidFill>
                        </a:rPr>
                        <a:t>Seasonal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400" dirty="0"/>
                        <a:t>Seasonal weighted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4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All-season</a:t>
                      </a:r>
                      <a:endParaRPr kumimoji="1" lang="ja-JP" altLang="en-US" sz="2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400" dirty="0"/>
                        <a:t>All-season weighted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400" dirty="0"/>
                        <a:t>ZIP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943654"/>
                  </a:ext>
                </a:extLst>
              </a:tr>
              <a:tr h="702394">
                <a:tc>
                  <a:txBody>
                    <a:bodyPr/>
                    <a:lstStyle/>
                    <a:p>
                      <a:r>
                        <a:rPr kumimoji="1" lang="en-US" altLang="ja-JP" sz="2400" dirty="0"/>
                        <a:t>92.06%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400" dirty="0"/>
                        <a:t>92.06%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400" dirty="0"/>
                        <a:t>87.56%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400" dirty="0"/>
                        <a:t>93.08%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400" dirty="0"/>
                        <a:t>88.58%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87474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8A8E612-BD91-7918-6BBC-68CC3398F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544" y="975098"/>
            <a:ext cx="8499880" cy="15602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B62815-2822-D2F3-CF10-8EC1BC818DA3}"/>
              </a:ext>
            </a:extLst>
          </p:cNvPr>
          <p:cNvSpPr txBox="1"/>
          <p:nvPr/>
        </p:nvSpPr>
        <p:spPr>
          <a:xfrm>
            <a:off x="1063169" y="4484355"/>
            <a:ext cx="6926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4 Huffman Coding Strategies:</a:t>
            </a:r>
            <a:endParaRPr kumimoji="1" lang="ja-JP" altLang="en-US" sz="2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9FF465-7746-4BD9-2488-CC2C239DA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598694"/>
              </p:ext>
            </p:extLst>
          </p:nvPr>
        </p:nvGraphicFramePr>
        <p:xfrm>
          <a:off x="1063170" y="2964030"/>
          <a:ext cx="10290629" cy="1313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0055">
                  <a:extLst>
                    <a:ext uri="{9D8B030D-6E8A-4147-A177-3AD203B41FA5}">
                      <a16:colId xmlns:a16="http://schemas.microsoft.com/office/drawing/2014/main" val="503633356"/>
                    </a:ext>
                  </a:extLst>
                </a:gridCol>
                <a:gridCol w="4324624">
                  <a:extLst>
                    <a:ext uri="{9D8B030D-6E8A-4147-A177-3AD203B41FA5}">
                      <a16:colId xmlns:a16="http://schemas.microsoft.com/office/drawing/2014/main" val="741735584"/>
                    </a:ext>
                  </a:extLst>
                </a:gridCol>
                <a:gridCol w="2915950">
                  <a:extLst>
                    <a:ext uri="{9D8B030D-6E8A-4147-A177-3AD203B41FA5}">
                      <a16:colId xmlns:a16="http://schemas.microsoft.com/office/drawing/2014/main" val="1666435283"/>
                    </a:ext>
                  </a:extLst>
                </a:gridCol>
              </a:tblGrid>
              <a:tr h="752104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2400" dirty="0">
                          <a:solidFill>
                            <a:schemeClr val="tx1"/>
                          </a:solidFill>
                        </a:rPr>
                        <a:t>Huffman Coding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2400" dirty="0"/>
                        <a:t>Huffman Coding + </a:t>
                      </a:r>
                    </a:p>
                    <a:p>
                      <a:pPr algn="l"/>
                      <a:r>
                        <a:rPr kumimoji="1" lang="en-US" altLang="ja-JP" sz="2400" dirty="0"/>
                        <a:t>Run-length Compression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2400" dirty="0"/>
                        <a:t>Zip Compression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912089"/>
                  </a:ext>
                </a:extLst>
              </a:tr>
              <a:tr h="49017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2400" dirty="0"/>
                        <a:t>88.8%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2400" dirty="0"/>
                        <a:t>94.8%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2400" dirty="0"/>
                        <a:t>87.5%</a:t>
                      </a:r>
                      <a:endParaRPr kumimoji="1" lang="ja-JP" altLang="en-US" sz="2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8563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7C840DF-CB72-34BF-3889-69263540F07E}"/>
              </a:ext>
            </a:extLst>
          </p:cNvPr>
          <p:cNvSpPr txBox="1"/>
          <p:nvPr/>
        </p:nvSpPr>
        <p:spPr>
          <a:xfrm>
            <a:off x="1063169" y="2392835"/>
            <a:ext cx="2810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Prior Work:</a:t>
            </a:r>
            <a:endParaRPr kumimoji="1" lang="ja-JP" altLang="en-US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0FE7E5-E742-E83C-EF39-A37B82069C2B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en-US" altLang="ja-JP" sz="5400" dirty="0">
                <a:solidFill>
                  <a:schemeClr val="tx1"/>
                </a:solidFill>
              </a:rPr>
              <a:t>Results</a:t>
            </a:r>
            <a:endParaRPr lang="ja-JP" altLang="en-US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540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C6FD0-3139-DDD8-513F-8050C69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0547-3EA2-2586-1804-F0275C55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5400" dirty="0"/>
              <a:t>Results –Times Sent</a:t>
            </a:r>
            <a:endParaRPr kumimoji="1" lang="ja-JP" altLang="en-US" sz="5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078DA-67E4-2C44-C3AE-C0BBECB1C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22</a:t>
            </a:fld>
            <a:endParaRPr kumimoji="1" lang="ja-JP" alt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84E1D77-48B4-27AD-7FD7-1E607615FC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923800"/>
              </p:ext>
            </p:extLst>
          </p:nvPr>
        </p:nvGraphicFramePr>
        <p:xfrm>
          <a:off x="686617" y="1451999"/>
          <a:ext cx="10967827" cy="4311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B335AA-8210-3CD8-3293-C8D2E1545F5E}"/>
              </a:ext>
            </a:extLst>
          </p:cNvPr>
          <p:cNvSpPr txBox="1"/>
          <p:nvPr/>
        </p:nvSpPr>
        <p:spPr>
          <a:xfrm>
            <a:off x="231414" y="5763960"/>
            <a:ext cx="10597548" cy="76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3200" dirty="0"/>
              <a:t> Reduced transmission counts by more than 1/10</a:t>
            </a:r>
          </a:p>
        </p:txBody>
      </p:sp>
    </p:spTree>
    <p:extLst>
      <p:ext uri="{BB962C8B-B14F-4D97-AF65-F5344CB8AC3E}">
        <p14:creationId xmlns:p14="http://schemas.microsoft.com/office/powerpoint/2010/main" val="367678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1CEA-F11E-B9B6-CB47-3443A9D46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2847B-4DAE-AD52-B725-6697C2735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5400" dirty="0"/>
              <a:t>Results</a:t>
            </a:r>
            <a:endParaRPr kumimoji="1" lang="ja-JP" alt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98A69-4446-4583-3A0F-002A75378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77081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3600" b="1" dirty="0"/>
              <a:t>Best performance:</a:t>
            </a:r>
            <a:r>
              <a:rPr lang="en-US" altLang="ja-JP" sz="3600" b="1" dirty="0">
                <a:solidFill>
                  <a:schemeClr val="accent1"/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600" dirty="0">
                <a:solidFill>
                  <a:schemeClr val="accent2"/>
                </a:solidFill>
              </a:rPr>
              <a:t>All-season Huffman (Weighted)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ja-JP" sz="3600" dirty="0"/>
              <a:t> Flood-risk weighting improved the </a:t>
            </a:r>
            <a:r>
              <a:rPr lang="en-US" altLang="ja-JP" sz="3600" b="1" dirty="0"/>
              <a:t>compression efficiency </a:t>
            </a:r>
            <a:r>
              <a:rPr lang="en-US" altLang="ja-JP" sz="3600" dirty="0"/>
              <a:t>of all-season Huffman trees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6F1134-A4D5-3511-CB40-DAC57DF4C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5272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DD266-4D6A-8269-003D-51C982D37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E5666-D79E-A89F-171C-352F8441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5400" dirty="0"/>
              <a:t>Future Work</a:t>
            </a:r>
            <a:endParaRPr kumimoji="1" lang="ja-JP" altLang="en-US" sz="54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1CB390F-81A0-5DE3-A804-62108B51A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930"/>
            <a:ext cx="11049000" cy="489742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b="1" dirty="0"/>
              <a:t>Real-world deployment: 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dirty="0">
                <a:solidFill>
                  <a:schemeClr val="accent4"/>
                </a:solidFill>
              </a:rPr>
              <a:t>✔</a:t>
            </a:r>
            <a:r>
              <a:rPr lang="en-US" altLang="ja-JP" dirty="0"/>
              <a:t> Arduino + LoRaWAN sensor testing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b="1" dirty="0"/>
              <a:t>Hardware optimization: 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dirty="0">
                <a:solidFill>
                  <a:schemeClr val="accent4"/>
                </a:solidFill>
              </a:rPr>
              <a:t>✔</a:t>
            </a:r>
            <a:r>
              <a:rPr lang="en-US" altLang="ja-JP" dirty="0"/>
              <a:t> Investigate ASIC-based Huffman Deep Compression (HDC)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b="1" dirty="0"/>
              <a:t>Energy analysis: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dirty="0">
                <a:solidFill>
                  <a:schemeClr val="accent4"/>
                </a:solidFill>
              </a:rPr>
              <a:t>✔</a:t>
            </a:r>
            <a:r>
              <a:rPr lang="en-US" altLang="ja-JP" dirty="0"/>
              <a:t> Measure power savings per transmission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55D75-2AEE-FFA1-A69B-81EEB2FD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167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67B20-C4D2-9A82-DF24-874652FA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94291-3573-1F7D-49A7-DD245350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5400" dirty="0"/>
              <a:t>Conclusion</a:t>
            </a:r>
            <a:endParaRPr kumimoji="1" lang="ja-JP" altLang="en-US" sz="54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EF41C0F-60CB-3662-67CF-4636B1662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02674"/>
            <a:ext cx="9833913" cy="4603813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ja-JP" sz="3200" dirty="0">
                <a:solidFill>
                  <a:schemeClr val="accent6"/>
                </a:solidFill>
              </a:rPr>
              <a:t>Seasonal Huffman </a:t>
            </a:r>
            <a:r>
              <a:rPr lang="en-US" altLang="ja-JP" sz="3200" dirty="0"/>
              <a:t>showed better compression than </a:t>
            </a:r>
            <a:r>
              <a:rPr lang="en-US" altLang="ja-JP" sz="3200" dirty="0">
                <a:solidFill>
                  <a:schemeClr val="accent2"/>
                </a:solidFill>
              </a:rPr>
              <a:t>All-season Huffman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ja-JP" sz="3200" dirty="0"/>
              <a:t>With </a:t>
            </a:r>
            <a:r>
              <a:rPr lang="en-US" altLang="ja-JP" sz="3200" dirty="0">
                <a:solidFill>
                  <a:schemeClr val="accent4"/>
                </a:solidFill>
              </a:rPr>
              <a:t>FP</a:t>
            </a:r>
            <a:r>
              <a:rPr lang="en-US" altLang="ja-JP" sz="3200" dirty="0"/>
              <a:t> implementation, </a:t>
            </a:r>
            <a:r>
              <a:rPr lang="en-US" altLang="ja-JP" sz="3200" dirty="0">
                <a:solidFill>
                  <a:schemeClr val="accent2"/>
                </a:solidFill>
              </a:rPr>
              <a:t>All-season Huffman with flood-risk weighting </a:t>
            </a:r>
            <a:r>
              <a:rPr lang="en-US" altLang="ja-JP" sz="3200" dirty="0"/>
              <a:t>had the </a:t>
            </a:r>
            <a:r>
              <a:rPr lang="en-US" altLang="ja-JP" sz="3200" b="1" dirty="0"/>
              <a:t>best</a:t>
            </a:r>
            <a:r>
              <a:rPr lang="en-US" altLang="ja-JP" sz="3200" dirty="0"/>
              <a:t> </a:t>
            </a:r>
            <a:r>
              <a:rPr lang="en-US" altLang="ja-JP" sz="3200" b="1" dirty="0"/>
              <a:t>compression rate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 b="1" dirty="0"/>
              <a:t>Achieved: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>
                <a:solidFill>
                  <a:schemeClr val="accent1"/>
                </a:solidFill>
              </a:rPr>
              <a:t> ✔</a:t>
            </a:r>
            <a:r>
              <a:rPr lang="en-US" altLang="ja-JP" sz="3200" dirty="0"/>
              <a:t> Higher compression ratio</a:t>
            </a:r>
            <a:br>
              <a:rPr lang="en-US" altLang="ja-JP" sz="3200" dirty="0"/>
            </a:br>
            <a:r>
              <a:rPr lang="en-US" altLang="ja-JP" sz="3200" dirty="0"/>
              <a:t> </a:t>
            </a:r>
            <a:r>
              <a:rPr lang="en-US" altLang="ja-JP" sz="3200" dirty="0">
                <a:solidFill>
                  <a:schemeClr val="accent1"/>
                </a:solidFill>
              </a:rPr>
              <a:t>✔</a:t>
            </a:r>
            <a:r>
              <a:rPr lang="en-US" altLang="ja-JP" sz="3200" dirty="0"/>
              <a:t> Lower transmission frequency</a:t>
            </a:r>
            <a:endParaRPr lang="en-US" altLang="ja-JP" sz="3200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50667-ADDC-6DE2-EC33-0CC10EEB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1FD68-533F-478A-A5D4-F2799E4EB7D9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2747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ED724F-AC83-EFD9-A029-02DFAAB25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en-US" altLang="ja-JP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en-US" altLang="ja-JP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you for listening</a:t>
            </a:r>
            <a:endParaRPr kumimoji="1" lang="en-US" altLang="ja-JP" sz="54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6F0CD-8781-FA37-3EF4-18B5A55B0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altLang="ja-JP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Airi </a:t>
            </a:r>
            <a:r>
              <a:rPr lang="en-US" altLang="ja-JP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Kokuryo</a:t>
            </a:r>
            <a:endParaRPr lang="en-US" altLang="ja-JP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0" indent="0" algn="ctr">
              <a:buNone/>
            </a:pPr>
            <a:r>
              <a:rPr lang="en-US" altLang="ja-JP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cguh1034@mail4.doshisha.ac.jp</a:t>
            </a:r>
            <a:endParaRPr kumimoji="1" lang="en-US" altLang="ja-JP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1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9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DE0E8-731F-027F-53BA-1C84A692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01FD68-533F-478A-A5D4-F2799E4EB7D9}" type="slidenum">
              <a:rPr kumimoji="1" lang="en-US" altLang="ja-JP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26</a:t>
            </a:fld>
            <a:endParaRPr kumimoji="1" lang="en-US" altLang="ja-JP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451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CAB85819A8FBD44874ABF878BA73225" ma:contentTypeVersion="17" ma:contentTypeDescription="新しいドキュメントを作成します。" ma:contentTypeScope="" ma:versionID="cbfbeede292c5a9ee5043dc8d005961e">
  <xsd:schema xmlns:xsd="http://www.w3.org/2001/XMLSchema" xmlns:xs="http://www.w3.org/2001/XMLSchema" xmlns:p="http://schemas.microsoft.com/office/2006/metadata/properties" xmlns:ns3="7b385337-33f5-4d17-a26e-c4353ff76b48" xmlns:ns4="6c283f23-260d-4fa6-b7b2-49e1074524a6" targetNamespace="http://schemas.microsoft.com/office/2006/metadata/properties" ma:root="true" ma:fieldsID="78dd074ab3bf6b6f37680f632284c5dd" ns3:_="" ns4:_="">
    <xsd:import namespace="7b385337-33f5-4d17-a26e-c4353ff76b48"/>
    <xsd:import namespace="6c283f23-260d-4fa6-b7b2-49e1074524a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385337-33f5-4d17-a26e-c4353ff76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83f23-260d-4fa6-b7b2-49e1074524a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b385337-33f5-4d17-a26e-c4353ff76b4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3D21BB-FE70-4C3D-B89D-6F69894C23B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b385337-33f5-4d17-a26e-c4353ff76b48"/>
    <ds:schemaRef ds:uri="6c283f23-260d-4fa6-b7b2-49e1074524a6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BAEEC8-FA88-4D76-8FCD-B31FBB13AA07}">
  <ds:schemaRefs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6c283f23-260d-4fa6-b7b2-49e1074524a6"/>
    <ds:schemaRef ds:uri="7b385337-33f5-4d17-a26e-c4353ff76b48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F59939C-7104-4E12-A128-C7440B38CE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6102</TotalTime>
  <Words>2919</Words>
  <Application>Microsoft Office PowerPoint</Application>
  <PresentationFormat>Widescreen</PresentationFormat>
  <Paragraphs>387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游ゴシック</vt:lpstr>
      <vt:lpstr>游ゴシック Light</vt:lpstr>
      <vt:lpstr>Arial</vt:lpstr>
      <vt:lpstr>Calibri</vt:lpstr>
      <vt:lpstr>Cambria Math</vt:lpstr>
      <vt:lpstr>Wingdings</vt:lpstr>
      <vt:lpstr>Wingdings 3</vt:lpstr>
      <vt:lpstr>Office Theme</vt:lpstr>
      <vt:lpstr>Seasonally Adaptive Data Compression in LoRaWAN Using Huffman Coding</vt:lpstr>
      <vt:lpstr>Motivation</vt:lpstr>
      <vt:lpstr>LoRaWAN (Long Range Wide Area Network) </vt:lpstr>
      <vt:lpstr>Project Goal</vt:lpstr>
      <vt:lpstr>Huffman Coding</vt:lpstr>
      <vt:lpstr>Huffman Coding</vt:lpstr>
      <vt:lpstr>Prior Work: Seasonal Huffman Coding</vt:lpstr>
      <vt:lpstr>Prior Work: Seasonal Huffman Coding</vt:lpstr>
      <vt:lpstr>Research Question</vt:lpstr>
      <vt:lpstr>Compression Methods</vt:lpstr>
      <vt:lpstr>Research Question</vt:lpstr>
      <vt:lpstr>Symbol Weighting Strategy</vt:lpstr>
      <vt:lpstr>Approach</vt:lpstr>
      <vt:lpstr>Approach: Flood Probability(FP)</vt:lpstr>
      <vt:lpstr>Approach: Compression Strategy</vt:lpstr>
      <vt:lpstr>Experimental Methodology</vt:lpstr>
      <vt:lpstr>Experimental Methodology: FP</vt:lpstr>
      <vt:lpstr>Experimental Methodology: Metrics</vt:lpstr>
      <vt:lpstr>Results –File Size</vt:lpstr>
      <vt:lpstr>Results –File Size</vt:lpstr>
      <vt:lpstr>PowerPoint Presentation</vt:lpstr>
      <vt:lpstr>Results –Times Sent</vt:lpstr>
      <vt:lpstr>Results</vt:lpstr>
      <vt:lpstr>Future Work</vt:lpstr>
      <vt:lpstr>Conclusion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Seasonally Adaptive Data Compression in LoRaWAN Using Huffman Coding</dc:title>
  <dc:creator>cguh1034</dc:creator>
  <cp:lastModifiedBy>cguh1034</cp:lastModifiedBy>
  <cp:revision>178</cp:revision>
  <dcterms:created xsi:type="dcterms:W3CDTF">2025-06-24T05:45:35Z</dcterms:created>
  <dcterms:modified xsi:type="dcterms:W3CDTF">2025-07-04T23:55:10Z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0x010100BCAB85819A8FBD44874ABF878BA73225</vt:lpwstr>
  </property>
</Properties>
</file>