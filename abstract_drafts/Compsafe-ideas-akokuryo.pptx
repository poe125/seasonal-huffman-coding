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70" r:id="rId2"/>
    <p:sldId id="257" r:id="rId3"/>
    <p:sldId id="258" r:id="rId4"/>
    <p:sldId id="259" r:id="rId5"/>
    <p:sldId id="260" r:id="rId6"/>
    <p:sldId id="264" r:id="rId7"/>
    <p:sldId id="261" r:id="rId8"/>
    <p:sldId id="262" r:id="rId9"/>
    <p:sldId id="265" r:id="rId10"/>
    <p:sldId id="263" r:id="rId11"/>
    <p:sldId id="256" r:id="rId12"/>
    <p:sldId id="266" r:id="rId13"/>
    <p:sldId id="267" r:id="rId14"/>
    <p:sldId id="269" r:id="rId15"/>
    <p:sldId id="268" r:id="rId16"/>
    <p:sldId id="271" r:id="rId17"/>
    <p:sldId id="272" r:id="rId18"/>
    <p:sldId id="273" r:id="rId19"/>
    <p:sldId id="274" r:id="rId20"/>
    <p:sldId id="275" r:id="rId21"/>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4D4D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3" d="100"/>
          <a:sy n="103" d="100"/>
        </p:scale>
        <p:origin x="876"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3E4E08-D1B8-4528-86F9-45AFF21AE159}" type="datetimeFigureOut">
              <a:rPr kumimoji="1" lang="ja-JP" altLang="en-US" smtClean="0"/>
              <a:t>2025/3/21</a:t>
            </a:fld>
            <a:endParaRPr kumimoji="1" lang="ja-JP"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en-US" altLang="ja-JP"/>
              <a:t>Click to 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B97437-2934-4AC3-B6A9-97AEC493E270}" type="slidenum">
              <a:rPr kumimoji="1" lang="ja-JP" altLang="en-US" smtClean="0"/>
              <a:t>‹#›</a:t>
            </a:fld>
            <a:endParaRPr kumimoji="1" lang="ja-JP" altLang="en-US"/>
          </a:p>
        </p:txBody>
      </p:sp>
    </p:spTree>
    <p:extLst>
      <p:ext uri="{BB962C8B-B14F-4D97-AF65-F5344CB8AC3E}">
        <p14:creationId xmlns:p14="http://schemas.microsoft.com/office/powerpoint/2010/main" val="96801675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6FB97437-2934-4AC3-B6A9-97AEC493E270}" type="slidenum">
              <a:rPr kumimoji="1" lang="ja-JP" altLang="en-US" smtClean="0"/>
              <a:t>9</a:t>
            </a:fld>
            <a:endParaRPr kumimoji="1" lang="ja-JP" altLang="en-US"/>
          </a:p>
        </p:txBody>
      </p:sp>
    </p:spTree>
    <p:extLst>
      <p:ext uri="{BB962C8B-B14F-4D97-AF65-F5344CB8AC3E}">
        <p14:creationId xmlns:p14="http://schemas.microsoft.com/office/powerpoint/2010/main" val="6901951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6FB97437-2934-4AC3-B6A9-97AEC493E270}" type="slidenum">
              <a:rPr kumimoji="1" lang="ja-JP" altLang="en-US" smtClean="0"/>
              <a:t>11</a:t>
            </a:fld>
            <a:endParaRPr kumimoji="1" lang="ja-JP" altLang="en-US"/>
          </a:p>
        </p:txBody>
      </p:sp>
    </p:spTree>
    <p:extLst>
      <p:ext uri="{BB962C8B-B14F-4D97-AF65-F5344CB8AC3E}">
        <p14:creationId xmlns:p14="http://schemas.microsoft.com/office/powerpoint/2010/main" val="21993516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ja-JP" altLang="en-US" dirty="0"/>
              <a:t>数式の係数</a:t>
            </a:r>
            <a:r>
              <a:rPr kumimoji="1" lang="en-US" altLang="ja-JP" dirty="0"/>
              <a:t>: </a:t>
            </a:r>
            <a:r>
              <a:rPr kumimoji="1" lang="ja-JP" altLang="en-US" dirty="0"/>
              <a:t>説明する必要がある</a:t>
            </a:r>
            <a:endParaRPr kumimoji="1" lang="en-US" altLang="ja-JP" dirty="0"/>
          </a:p>
          <a:p>
            <a:r>
              <a:rPr kumimoji="1" lang="ja-JP" altLang="en-US" dirty="0"/>
              <a:t>説明できない部分</a:t>
            </a:r>
            <a:r>
              <a:rPr kumimoji="1" lang="en-US" altLang="ja-JP" dirty="0"/>
              <a:t>: k, PW</a:t>
            </a:r>
            <a:r>
              <a:rPr kumimoji="1" lang="ja-JP" altLang="en-US" dirty="0"/>
              <a:t>の</a:t>
            </a:r>
            <a:r>
              <a:rPr kumimoji="1" lang="en-US" altLang="ja-JP" dirty="0"/>
              <a:t>0.1</a:t>
            </a:r>
            <a:r>
              <a:rPr kumimoji="1" lang="ja-JP" altLang="en-US" dirty="0"/>
              <a:t>等</a:t>
            </a:r>
          </a:p>
        </p:txBody>
      </p:sp>
      <p:sp>
        <p:nvSpPr>
          <p:cNvPr id="4" name="Slide Number Placeholder 3"/>
          <p:cNvSpPr>
            <a:spLocks noGrp="1"/>
          </p:cNvSpPr>
          <p:nvPr>
            <p:ph type="sldNum" sz="quarter" idx="5"/>
          </p:nvPr>
        </p:nvSpPr>
        <p:spPr/>
        <p:txBody>
          <a:bodyPr/>
          <a:lstStyle/>
          <a:p>
            <a:fld id="{6FB97437-2934-4AC3-B6A9-97AEC493E270}" type="slidenum">
              <a:rPr kumimoji="1" lang="ja-JP" altLang="en-US" smtClean="0"/>
              <a:t>14</a:t>
            </a:fld>
            <a:endParaRPr kumimoji="1" lang="ja-JP" altLang="en-US"/>
          </a:p>
        </p:txBody>
      </p:sp>
    </p:spTree>
    <p:extLst>
      <p:ext uri="{BB962C8B-B14F-4D97-AF65-F5344CB8AC3E}">
        <p14:creationId xmlns:p14="http://schemas.microsoft.com/office/powerpoint/2010/main" val="13811632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kumimoji="1" lang="ja-JP" altLang="en-US" dirty="0"/>
              <a:t>式の係数</a:t>
            </a:r>
            <a:r>
              <a:rPr kumimoji="1" lang="en-US" altLang="ja-JP" dirty="0"/>
              <a:t>:</a:t>
            </a:r>
            <a:r>
              <a:rPr lang="ja-JP" altLang="en-US" dirty="0"/>
              <a:t>カルマンフィルタの簡易版</a:t>
            </a:r>
          </a:p>
          <a:p>
            <a:pPr>
              <a:buNone/>
            </a:pPr>
            <a:r>
              <a:rPr lang="ja-JP" altLang="en-US" dirty="0"/>
              <a:t>過去データの移動平均取るのでもいい。</a:t>
            </a:r>
          </a:p>
          <a:p>
            <a:pPr>
              <a:buNone/>
            </a:pPr>
            <a:r>
              <a:rPr lang="ja-JP" altLang="en-US" dirty="0"/>
              <a:t>過去</a:t>
            </a:r>
            <a:r>
              <a:rPr lang="en-US" altLang="ja-JP" dirty="0"/>
              <a:t>5</a:t>
            </a:r>
            <a:r>
              <a:rPr lang="ja-JP" altLang="en-US" dirty="0"/>
              <a:t>つくらいのデータから移動平均取って、次どれくらいになるかとか計算してもいい。</a:t>
            </a:r>
          </a:p>
          <a:p>
            <a:r>
              <a:rPr lang="ja-JP" altLang="en-US" dirty="0"/>
              <a:t>線形近似、非線形近似して参照二乗法をとって値出してもいい。</a:t>
            </a:r>
          </a:p>
          <a:p>
            <a:endParaRPr kumimoji="1" lang="ja-JP" altLang="en-US" dirty="0"/>
          </a:p>
        </p:txBody>
      </p:sp>
      <p:sp>
        <p:nvSpPr>
          <p:cNvPr id="4" name="Slide Number Placeholder 3"/>
          <p:cNvSpPr>
            <a:spLocks noGrp="1"/>
          </p:cNvSpPr>
          <p:nvPr>
            <p:ph type="sldNum" sz="quarter" idx="5"/>
          </p:nvPr>
        </p:nvSpPr>
        <p:spPr/>
        <p:txBody>
          <a:bodyPr/>
          <a:lstStyle/>
          <a:p>
            <a:fld id="{6FB97437-2934-4AC3-B6A9-97AEC493E270}" type="slidenum">
              <a:rPr kumimoji="1" lang="ja-JP" altLang="en-US" smtClean="0"/>
              <a:t>18</a:t>
            </a:fld>
            <a:endParaRPr kumimoji="1" lang="ja-JP" altLang="en-US"/>
          </a:p>
        </p:txBody>
      </p:sp>
    </p:spTree>
    <p:extLst>
      <p:ext uri="{BB962C8B-B14F-4D97-AF65-F5344CB8AC3E}">
        <p14:creationId xmlns:p14="http://schemas.microsoft.com/office/powerpoint/2010/main" val="36277435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8139E-793E-8171-26C5-CBEEBF5C43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A11543-91CA-4945-D4A3-E8E70061CF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6BC137-1F6C-AD82-B0DD-F94105A4A993}"/>
              </a:ext>
            </a:extLst>
          </p:cNvPr>
          <p:cNvSpPr>
            <a:spLocks noGrp="1"/>
          </p:cNvSpPr>
          <p:nvPr>
            <p:ph type="body" idx="1"/>
          </p:nvPr>
        </p:nvSpPr>
        <p:spPr/>
        <p:txBody>
          <a:bodyPr/>
          <a:lstStyle/>
          <a:p>
            <a:endParaRPr kumimoji="1" lang="ja-JP" altLang="en-US" dirty="0"/>
          </a:p>
        </p:txBody>
      </p:sp>
      <p:sp>
        <p:nvSpPr>
          <p:cNvPr id="4" name="Slide Number Placeholder 3">
            <a:extLst>
              <a:ext uri="{FF2B5EF4-FFF2-40B4-BE49-F238E27FC236}">
                <a16:creationId xmlns:a16="http://schemas.microsoft.com/office/drawing/2014/main" id="{80B65B10-B49B-4243-FA73-B49A794CC321}"/>
              </a:ext>
            </a:extLst>
          </p:cNvPr>
          <p:cNvSpPr>
            <a:spLocks noGrp="1"/>
          </p:cNvSpPr>
          <p:nvPr>
            <p:ph type="sldNum" sz="quarter" idx="5"/>
          </p:nvPr>
        </p:nvSpPr>
        <p:spPr/>
        <p:txBody>
          <a:bodyPr/>
          <a:lstStyle/>
          <a:p>
            <a:fld id="{6FB97437-2934-4AC3-B6A9-97AEC493E270}" type="slidenum">
              <a:rPr kumimoji="1" lang="ja-JP" altLang="en-US" smtClean="0"/>
              <a:t>19</a:t>
            </a:fld>
            <a:endParaRPr kumimoji="1" lang="ja-JP" altLang="en-US"/>
          </a:p>
        </p:txBody>
      </p:sp>
    </p:spTree>
    <p:extLst>
      <p:ext uri="{BB962C8B-B14F-4D97-AF65-F5344CB8AC3E}">
        <p14:creationId xmlns:p14="http://schemas.microsoft.com/office/powerpoint/2010/main" val="15366819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57EB5-74E9-3ACA-93D7-CD35D7EEC8A5}"/>
              </a:ext>
            </a:extLst>
          </p:cNvPr>
          <p:cNvSpPr>
            <a:spLocks noGrp="1"/>
          </p:cNvSpPr>
          <p:nvPr>
            <p:ph type="ctrTitle"/>
          </p:nvPr>
        </p:nvSpPr>
        <p:spPr>
          <a:xfrm>
            <a:off x="1524000" y="1122363"/>
            <a:ext cx="9144000" cy="2387600"/>
          </a:xfrm>
        </p:spPr>
        <p:txBody>
          <a:bodyPr anchor="b"/>
          <a:lstStyle>
            <a:lvl1pPr algn="ctr">
              <a:defRPr sz="6000"/>
            </a:lvl1pPr>
          </a:lstStyle>
          <a:p>
            <a:r>
              <a:rPr kumimoji="1" lang="en-US" altLang="ja-JP"/>
              <a:t>Click to edit Master title style</a:t>
            </a:r>
            <a:endParaRPr kumimoji="1" lang="ja-JP" altLang="en-US"/>
          </a:p>
        </p:txBody>
      </p:sp>
      <p:sp>
        <p:nvSpPr>
          <p:cNvPr id="3" name="Subtitle 2">
            <a:extLst>
              <a:ext uri="{FF2B5EF4-FFF2-40B4-BE49-F238E27FC236}">
                <a16:creationId xmlns:a16="http://schemas.microsoft.com/office/drawing/2014/main" id="{4420669D-8468-5118-B477-DF4BE96CA1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en-US" altLang="ja-JP"/>
              <a:t>Click to edit Master subtitle style</a:t>
            </a:r>
            <a:endParaRPr kumimoji="1" lang="ja-JP" altLang="en-US"/>
          </a:p>
        </p:txBody>
      </p:sp>
      <p:sp>
        <p:nvSpPr>
          <p:cNvPr id="4" name="Date Placeholder 3">
            <a:extLst>
              <a:ext uri="{FF2B5EF4-FFF2-40B4-BE49-F238E27FC236}">
                <a16:creationId xmlns:a16="http://schemas.microsoft.com/office/drawing/2014/main" id="{A01FBF57-9467-19C5-C76A-4DE8277D0B14}"/>
              </a:ext>
            </a:extLst>
          </p:cNvPr>
          <p:cNvSpPr>
            <a:spLocks noGrp="1"/>
          </p:cNvSpPr>
          <p:nvPr>
            <p:ph type="dt" sz="half" idx="10"/>
          </p:nvPr>
        </p:nvSpPr>
        <p:spPr/>
        <p:txBody>
          <a:bodyPr/>
          <a:lstStyle/>
          <a:p>
            <a:fld id="{F03DB397-56AA-4C3F-8E06-BD4CCD0478BF}" type="datetimeFigureOut">
              <a:rPr kumimoji="1" lang="ja-JP" altLang="en-US" smtClean="0"/>
              <a:t>2025/3/21</a:t>
            </a:fld>
            <a:endParaRPr kumimoji="1" lang="ja-JP" altLang="en-US"/>
          </a:p>
        </p:txBody>
      </p:sp>
      <p:sp>
        <p:nvSpPr>
          <p:cNvPr id="5" name="Footer Placeholder 4">
            <a:extLst>
              <a:ext uri="{FF2B5EF4-FFF2-40B4-BE49-F238E27FC236}">
                <a16:creationId xmlns:a16="http://schemas.microsoft.com/office/drawing/2014/main" id="{0F5B8439-E5FC-96F4-DCEB-8681F75BB42E}"/>
              </a:ext>
            </a:extLst>
          </p:cNvPr>
          <p:cNvSpPr>
            <a:spLocks noGrp="1"/>
          </p:cNvSpPr>
          <p:nvPr>
            <p:ph type="ftr" sz="quarter" idx="11"/>
          </p:nvPr>
        </p:nvSpPr>
        <p:spPr/>
        <p:txBody>
          <a:bodyPr/>
          <a:lstStyle/>
          <a:p>
            <a:endParaRPr kumimoji="1" lang="ja-JP" altLang="en-US"/>
          </a:p>
        </p:txBody>
      </p:sp>
      <p:sp>
        <p:nvSpPr>
          <p:cNvPr id="6" name="Slide Number Placeholder 5">
            <a:extLst>
              <a:ext uri="{FF2B5EF4-FFF2-40B4-BE49-F238E27FC236}">
                <a16:creationId xmlns:a16="http://schemas.microsoft.com/office/drawing/2014/main" id="{B3838C38-4D5C-2A86-A278-EB7F2E087E3A}"/>
              </a:ext>
            </a:extLst>
          </p:cNvPr>
          <p:cNvSpPr>
            <a:spLocks noGrp="1"/>
          </p:cNvSpPr>
          <p:nvPr>
            <p:ph type="sldNum" sz="quarter" idx="12"/>
          </p:nvPr>
        </p:nvSpPr>
        <p:spPr/>
        <p:txBody>
          <a:bodyPr/>
          <a:lstStyle/>
          <a:p>
            <a:fld id="{9ECD87CA-6B24-4B97-ADD3-F0263EEB7074}" type="slidenum">
              <a:rPr kumimoji="1" lang="ja-JP" altLang="en-US" smtClean="0"/>
              <a:t>‹#›</a:t>
            </a:fld>
            <a:endParaRPr kumimoji="1" lang="ja-JP" altLang="en-US"/>
          </a:p>
        </p:txBody>
      </p:sp>
    </p:spTree>
    <p:extLst>
      <p:ext uri="{BB962C8B-B14F-4D97-AF65-F5344CB8AC3E}">
        <p14:creationId xmlns:p14="http://schemas.microsoft.com/office/powerpoint/2010/main" val="40484773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2914B-6190-E776-62E9-0D519A3CA347}"/>
              </a:ext>
            </a:extLst>
          </p:cNvPr>
          <p:cNvSpPr>
            <a:spLocks noGrp="1"/>
          </p:cNvSpPr>
          <p:nvPr>
            <p:ph type="title"/>
          </p:nvPr>
        </p:nvSpPr>
        <p:spPr/>
        <p:txBody>
          <a:bodyPr/>
          <a:lstStyle/>
          <a:p>
            <a:r>
              <a:rPr kumimoji="1" lang="en-US" altLang="ja-JP"/>
              <a:t>Click to edit Master title style</a:t>
            </a:r>
            <a:endParaRPr kumimoji="1" lang="ja-JP" altLang="en-US"/>
          </a:p>
        </p:txBody>
      </p:sp>
      <p:sp>
        <p:nvSpPr>
          <p:cNvPr id="3" name="Content Placeholder 2">
            <a:extLst>
              <a:ext uri="{FF2B5EF4-FFF2-40B4-BE49-F238E27FC236}">
                <a16:creationId xmlns:a16="http://schemas.microsoft.com/office/drawing/2014/main" id="{5D6A0757-5873-00BF-AF0D-3AD7ADAE0770}"/>
              </a:ext>
            </a:extLst>
          </p:cNvPr>
          <p:cNvSpPr>
            <a:spLocks noGrp="1"/>
          </p:cNvSpPr>
          <p:nvPr>
            <p:ph idx="1"/>
          </p:nvPr>
        </p:nvSpPr>
        <p:spPr/>
        <p:txBody>
          <a:bodyPr/>
          <a:lstStyle/>
          <a:p>
            <a:pPr lvl="0"/>
            <a:r>
              <a:rPr kumimoji="1" lang="en-US" altLang="ja-JP"/>
              <a:t>Click to 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4" name="Date Placeholder 3">
            <a:extLst>
              <a:ext uri="{FF2B5EF4-FFF2-40B4-BE49-F238E27FC236}">
                <a16:creationId xmlns:a16="http://schemas.microsoft.com/office/drawing/2014/main" id="{2AAB769B-33DD-6442-55EF-884CADBF11B1}"/>
              </a:ext>
            </a:extLst>
          </p:cNvPr>
          <p:cNvSpPr>
            <a:spLocks noGrp="1"/>
          </p:cNvSpPr>
          <p:nvPr>
            <p:ph type="dt" sz="half" idx="10"/>
          </p:nvPr>
        </p:nvSpPr>
        <p:spPr/>
        <p:txBody>
          <a:bodyPr/>
          <a:lstStyle/>
          <a:p>
            <a:fld id="{F03DB397-56AA-4C3F-8E06-BD4CCD0478BF}" type="datetimeFigureOut">
              <a:rPr kumimoji="1" lang="ja-JP" altLang="en-US" smtClean="0"/>
              <a:t>2025/3/21</a:t>
            </a:fld>
            <a:endParaRPr kumimoji="1" lang="ja-JP" altLang="en-US"/>
          </a:p>
        </p:txBody>
      </p:sp>
      <p:sp>
        <p:nvSpPr>
          <p:cNvPr id="5" name="Footer Placeholder 4">
            <a:extLst>
              <a:ext uri="{FF2B5EF4-FFF2-40B4-BE49-F238E27FC236}">
                <a16:creationId xmlns:a16="http://schemas.microsoft.com/office/drawing/2014/main" id="{21A7C2AE-8901-9918-E49E-62176B941280}"/>
              </a:ext>
            </a:extLst>
          </p:cNvPr>
          <p:cNvSpPr>
            <a:spLocks noGrp="1"/>
          </p:cNvSpPr>
          <p:nvPr>
            <p:ph type="ftr" sz="quarter" idx="11"/>
          </p:nvPr>
        </p:nvSpPr>
        <p:spPr/>
        <p:txBody>
          <a:bodyPr/>
          <a:lstStyle/>
          <a:p>
            <a:endParaRPr kumimoji="1" lang="ja-JP" altLang="en-US"/>
          </a:p>
        </p:txBody>
      </p:sp>
      <p:sp>
        <p:nvSpPr>
          <p:cNvPr id="6" name="Slide Number Placeholder 5">
            <a:extLst>
              <a:ext uri="{FF2B5EF4-FFF2-40B4-BE49-F238E27FC236}">
                <a16:creationId xmlns:a16="http://schemas.microsoft.com/office/drawing/2014/main" id="{E2D0667A-9C6E-558F-7A18-719EB7AE3DFC}"/>
              </a:ext>
            </a:extLst>
          </p:cNvPr>
          <p:cNvSpPr>
            <a:spLocks noGrp="1"/>
          </p:cNvSpPr>
          <p:nvPr>
            <p:ph type="sldNum" sz="quarter" idx="12"/>
          </p:nvPr>
        </p:nvSpPr>
        <p:spPr/>
        <p:txBody>
          <a:bodyPr/>
          <a:lstStyle/>
          <a:p>
            <a:fld id="{9ECD87CA-6B24-4B97-ADD3-F0263EEB7074}" type="slidenum">
              <a:rPr kumimoji="1" lang="ja-JP" altLang="en-US" smtClean="0"/>
              <a:t>‹#›</a:t>
            </a:fld>
            <a:endParaRPr kumimoji="1" lang="ja-JP" altLang="en-US"/>
          </a:p>
        </p:txBody>
      </p:sp>
    </p:spTree>
    <p:extLst>
      <p:ext uri="{BB962C8B-B14F-4D97-AF65-F5344CB8AC3E}">
        <p14:creationId xmlns:p14="http://schemas.microsoft.com/office/powerpoint/2010/main" val="3637358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40E14-64E0-9707-5143-DE9C6159D4E4}"/>
              </a:ext>
            </a:extLst>
          </p:cNvPr>
          <p:cNvSpPr>
            <a:spLocks noGrp="1"/>
          </p:cNvSpPr>
          <p:nvPr>
            <p:ph type="title"/>
          </p:nvPr>
        </p:nvSpPr>
        <p:spPr>
          <a:xfrm>
            <a:off x="831850" y="1709738"/>
            <a:ext cx="10515600" cy="2852737"/>
          </a:xfrm>
        </p:spPr>
        <p:txBody>
          <a:bodyPr anchor="b"/>
          <a:lstStyle>
            <a:lvl1pPr>
              <a:defRPr sz="6000"/>
            </a:lvl1pPr>
          </a:lstStyle>
          <a:p>
            <a:r>
              <a:rPr kumimoji="1" lang="en-US" altLang="ja-JP"/>
              <a:t>Click to edit Master title style</a:t>
            </a:r>
            <a:endParaRPr kumimoji="1" lang="ja-JP" altLang="en-US"/>
          </a:p>
        </p:txBody>
      </p:sp>
      <p:sp>
        <p:nvSpPr>
          <p:cNvPr id="3" name="Text Placeholder 2">
            <a:extLst>
              <a:ext uri="{FF2B5EF4-FFF2-40B4-BE49-F238E27FC236}">
                <a16:creationId xmlns:a16="http://schemas.microsoft.com/office/drawing/2014/main" id="{5551DF54-8379-F5F9-F2AA-35BF74AEA2D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en-US" altLang="ja-JP"/>
              <a:t>Click to edit Master text styles</a:t>
            </a:r>
          </a:p>
        </p:txBody>
      </p:sp>
      <p:sp>
        <p:nvSpPr>
          <p:cNvPr id="4" name="Date Placeholder 3">
            <a:extLst>
              <a:ext uri="{FF2B5EF4-FFF2-40B4-BE49-F238E27FC236}">
                <a16:creationId xmlns:a16="http://schemas.microsoft.com/office/drawing/2014/main" id="{133DA9F9-C745-56BF-B344-1D8373A09668}"/>
              </a:ext>
            </a:extLst>
          </p:cNvPr>
          <p:cNvSpPr>
            <a:spLocks noGrp="1"/>
          </p:cNvSpPr>
          <p:nvPr>
            <p:ph type="dt" sz="half" idx="10"/>
          </p:nvPr>
        </p:nvSpPr>
        <p:spPr/>
        <p:txBody>
          <a:bodyPr/>
          <a:lstStyle/>
          <a:p>
            <a:fld id="{F03DB397-56AA-4C3F-8E06-BD4CCD0478BF}" type="datetimeFigureOut">
              <a:rPr kumimoji="1" lang="ja-JP" altLang="en-US" smtClean="0"/>
              <a:t>2025/3/21</a:t>
            </a:fld>
            <a:endParaRPr kumimoji="1" lang="ja-JP" altLang="en-US"/>
          </a:p>
        </p:txBody>
      </p:sp>
      <p:sp>
        <p:nvSpPr>
          <p:cNvPr id="5" name="Footer Placeholder 4">
            <a:extLst>
              <a:ext uri="{FF2B5EF4-FFF2-40B4-BE49-F238E27FC236}">
                <a16:creationId xmlns:a16="http://schemas.microsoft.com/office/drawing/2014/main" id="{A1A4B6E6-22BC-F0C5-3737-AA6190C730D4}"/>
              </a:ext>
            </a:extLst>
          </p:cNvPr>
          <p:cNvSpPr>
            <a:spLocks noGrp="1"/>
          </p:cNvSpPr>
          <p:nvPr>
            <p:ph type="ftr" sz="quarter" idx="11"/>
          </p:nvPr>
        </p:nvSpPr>
        <p:spPr/>
        <p:txBody>
          <a:bodyPr/>
          <a:lstStyle/>
          <a:p>
            <a:endParaRPr kumimoji="1" lang="ja-JP" altLang="en-US"/>
          </a:p>
        </p:txBody>
      </p:sp>
      <p:sp>
        <p:nvSpPr>
          <p:cNvPr id="6" name="Slide Number Placeholder 5">
            <a:extLst>
              <a:ext uri="{FF2B5EF4-FFF2-40B4-BE49-F238E27FC236}">
                <a16:creationId xmlns:a16="http://schemas.microsoft.com/office/drawing/2014/main" id="{200009D2-3141-F8CB-C312-4585C874EE8A}"/>
              </a:ext>
            </a:extLst>
          </p:cNvPr>
          <p:cNvSpPr>
            <a:spLocks noGrp="1"/>
          </p:cNvSpPr>
          <p:nvPr>
            <p:ph type="sldNum" sz="quarter" idx="12"/>
          </p:nvPr>
        </p:nvSpPr>
        <p:spPr/>
        <p:txBody>
          <a:bodyPr/>
          <a:lstStyle/>
          <a:p>
            <a:fld id="{9ECD87CA-6B24-4B97-ADD3-F0263EEB7074}" type="slidenum">
              <a:rPr kumimoji="1" lang="ja-JP" altLang="en-US" smtClean="0"/>
              <a:t>‹#›</a:t>
            </a:fld>
            <a:endParaRPr kumimoji="1" lang="ja-JP" altLang="en-US"/>
          </a:p>
        </p:txBody>
      </p:sp>
    </p:spTree>
    <p:extLst>
      <p:ext uri="{BB962C8B-B14F-4D97-AF65-F5344CB8AC3E}">
        <p14:creationId xmlns:p14="http://schemas.microsoft.com/office/powerpoint/2010/main" val="29564524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A9A9A-F465-BBC5-B8EB-11D885C288A8}"/>
              </a:ext>
            </a:extLst>
          </p:cNvPr>
          <p:cNvSpPr>
            <a:spLocks noGrp="1"/>
          </p:cNvSpPr>
          <p:nvPr>
            <p:ph type="title"/>
          </p:nvPr>
        </p:nvSpPr>
        <p:spPr/>
        <p:txBody>
          <a:bodyPr/>
          <a:lstStyle/>
          <a:p>
            <a:r>
              <a:rPr kumimoji="1" lang="en-US" altLang="ja-JP"/>
              <a:t>Click to edit Master title style</a:t>
            </a:r>
            <a:endParaRPr kumimoji="1" lang="ja-JP" altLang="en-US"/>
          </a:p>
        </p:txBody>
      </p:sp>
      <p:sp>
        <p:nvSpPr>
          <p:cNvPr id="3" name="Content Placeholder 2">
            <a:extLst>
              <a:ext uri="{FF2B5EF4-FFF2-40B4-BE49-F238E27FC236}">
                <a16:creationId xmlns:a16="http://schemas.microsoft.com/office/drawing/2014/main" id="{117C4303-D15B-FFF4-A3B2-01FF0B94468F}"/>
              </a:ext>
            </a:extLst>
          </p:cNvPr>
          <p:cNvSpPr>
            <a:spLocks noGrp="1"/>
          </p:cNvSpPr>
          <p:nvPr>
            <p:ph sz="half" idx="1"/>
          </p:nvPr>
        </p:nvSpPr>
        <p:spPr>
          <a:xfrm>
            <a:off x="838200" y="1825625"/>
            <a:ext cx="5181600" cy="4351338"/>
          </a:xfrm>
        </p:spPr>
        <p:txBody>
          <a:bodyPr/>
          <a:lstStyle/>
          <a:p>
            <a:pPr lvl="0"/>
            <a:r>
              <a:rPr kumimoji="1" lang="en-US" altLang="ja-JP"/>
              <a:t>Click to 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4" name="Content Placeholder 3">
            <a:extLst>
              <a:ext uri="{FF2B5EF4-FFF2-40B4-BE49-F238E27FC236}">
                <a16:creationId xmlns:a16="http://schemas.microsoft.com/office/drawing/2014/main" id="{E28B55DE-A5B9-BDDE-CD1C-470AE3EAF3FA}"/>
              </a:ext>
            </a:extLst>
          </p:cNvPr>
          <p:cNvSpPr>
            <a:spLocks noGrp="1"/>
          </p:cNvSpPr>
          <p:nvPr>
            <p:ph sz="half" idx="2"/>
          </p:nvPr>
        </p:nvSpPr>
        <p:spPr>
          <a:xfrm>
            <a:off x="6172200" y="1825625"/>
            <a:ext cx="5181600" cy="4351338"/>
          </a:xfrm>
        </p:spPr>
        <p:txBody>
          <a:bodyPr/>
          <a:lstStyle/>
          <a:p>
            <a:pPr lvl="0"/>
            <a:r>
              <a:rPr kumimoji="1" lang="en-US" altLang="ja-JP"/>
              <a:t>Click to 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5" name="Date Placeholder 4">
            <a:extLst>
              <a:ext uri="{FF2B5EF4-FFF2-40B4-BE49-F238E27FC236}">
                <a16:creationId xmlns:a16="http://schemas.microsoft.com/office/drawing/2014/main" id="{56BF0DBE-DA2E-715D-0432-D68A9DD701C3}"/>
              </a:ext>
            </a:extLst>
          </p:cNvPr>
          <p:cNvSpPr>
            <a:spLocks noGrp="1"/>
          </p:cNvSpPr>
          <p:nvPr>
            <p:ph type="dt" sz="half" idx="10"/>
          </p:nvPr>
        </p:nvSpPr>
        <p:spPr/>
        <p:txBody>
          <a:bodyPr/>
          <a:lstStyle/>
          <a:p>
            <a:fld id="{F03DB397-56AA-4C3F-8E06-BD4CCD0478BF}" type="datetimeFigureOut">
              <a:rPr kumimoji="1" lang="ja-JP" altLang="en-US" smtClean="0"/>
              <a:t>2025/3/21</a:t>
            </a:fld>
            <a:endParaRPr kumimoji="1" lang="ja-JP" altLang="en-US"/>
          </a:p>
        </p:txBody>
      </p:sp>
      <p:sp>
        <p:nvSpPr>
          <p:cNvPr id="6" name="Footer Placeholder 5">
            <a:extLst>
              <a:ext uri="{FF2B5EF4-FFF2-40B4-BE49-F238E27FC236}">
                <a16:creationId xmlns:a16="http://schemas.microsoft.com/office/drawing/2014/main" id="{44FEC367-1707-7FD5-2346-454C67B8309C}"/>
              </a:ext>
            </a:extLst>
          </p:cNvPr>
          <p:cNvSpPr>
            <a:spLocks noGrp="1"/>
          </p:cNvSpPr>
          <p:nvPr>
            <p:ph type="ftr" sz="quarter" idx="11"/>
          </p:nvPr>
        </p:nvSpPr>
        <p:spPr/>
        <p:txBody>
          <a:bodyPr/>
          <a:lstStyle/>
          <a:p>
            <a:endParaRPr kumimoji="1" lang="ja-JP" altLang="en-US"/>
          </a:p>
        </p:txBody>
      </p:sp>
      <p:sp>
        <p:nvSpPr>
          <p:cNvPr id="7" name="Slide Number Placeholder 6">
            <a:extLst>
              <a:ext uri="{FF2B5EF4-FFF2-40B4-BE49-F238E27FC236}">
                <a16:creationId xmlns:a16="http://schemas.microsoft.com/office/drawing/2014/main" id="{EFE1F4A8-9C86-2DB9-15CB-E5EF806D1EB4}"/>
              </a:ext>
            </a:extLst>
          </p:cNvPr>
          <p:cNvSpPr>
            <a:spLocks noGrp="1"/>
          </p:cNvSpPr>
          <p:nvPr>
            <p:ph type="sldNum" sz="quarter" idx="12"/>
          </p:nvPr>
        </p:nvSpPr>
        <p:spPr/>
        <p:txBody>
          <a:bodyPr/>
          <a:lstStyle/>
          <a:p>
            <a:fld id="{9ECD87CA-6B24-4B97-ADD3-F0263EEB7074}" type="slidenum">
              <a:rPr kumimoji="1" lang="ja-JP" altLang="en-US" smtClean="0"/>
              <a:t>‹#›</a:t>
            </a:fld>
            <a:endParaRPr kumimoji="1" lang="ja-JP" altLang="en-US"/>
          </a:p>
        </p:txBody>
      </p:sp>
    </p:spTree>
    <p:extLst>
      <p:ext uri="{BB962C8B-B14F-4D97-AF65-F5344CB8AC3E}">
        <p14:creationId xmlns:p14="http://schemas.microsoft.com/office/powerpoint/2010/main" val="2712129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4FC57-1F2B-126C-278A-86EB95FBB5F8}"/>
              </a:ext>
            </a:extLst>
          </p:cNvPr>
          <p:cNvSpPr>
            <a:spLocks noGrp="1"/>
          </p:cNvSpPr>
          <p:nvPr>
            <p:ph type="title"/>
          </p:nvPr>
        </p:nvSpPr>
        <p:spPr>
          <a:xfrm>
            <a:off x="839788" y="365125"/>
            <a:ext cx="10515600" cy="1325563"/>
          </a:xfrm>
        </p:spPr>
        <p:txBody>
          <a:bodyPr/>
          <a:lstStyle/>
          <a:p>
            <a:r>
              <a:rPr kumimoji="1" lang="en-US" altLang="ja-JP"/>
              <a:t>Click to edit Master title style</a:t>
            </a:r>
            <a:endParaRPr kumimoji="1" lang="ja-JP" altLang="en-US"/>
          </a:p>
        </p:txBody>
      </p:sp>
      <p:sp>
        <p:nvSpPr>
          <p:cNvPr id="3" name="Text Placeholder 2">
            <a:extLst>
              <a:ext uri="{FF2B5EF4-FFF2-40B4-BE49-F238E27FC236}">
                <a16:creationId xmlns:a16="http://schemas.microsoft.com/office/drawing/2014/main" id="{4A0DD52E-2387-A85F-C89B-DAEE6A1B15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en-US" altLang="ja-JP"/>
              <a:t>Click to edit Master text styles</a:t>
            </a:r>
          </a:p>
        </p:txBody>
      </p:sp>
      <p:sp>
        <p:nvSpPr>
          <p:cNvPr id="4" name="Content Placeholder 3">
            <a:extLst>
              <a:ext uri="{FF2B5EF4-FFF2-40B4-BE49-F238E27FC236}">
                <a16:creationId xmlns:a16="http://schemas.microsoft.com/office/drawing/2014/main" id="{27B47B0B-5AEC-3D1E-DE76-91A7FA83CCA5}"/>
              </a:ext>
            </a:extLst>
          </p:cNvPr>
          <p:cNvSpPr>
            <a:spLocks noGrp="1"/>
          </p:cNvSpPr>
          <p:nvPr>
            <p:ph sz="half" idx="2"/>
          </p:nvPr>
        </p:nvSpPr>
        <p:spPr>
          <a:xfrm>
            <a:off x="839788" y="2505075"/>
            <a:ext cx="5157787" cy="3684588"/>
          </a:xfrm>
        </p:spPr>
        <p:txBody>
          <a:bodyPr/>
          <a:lstStyle/>
          <a:p>
            <a:pPr lvl="0"/>
            <a:r>
              <a:rPr kumimoji="1" lang="en-US" altLang="ja-JP"/>
              <a:t>Click to 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5" name="Text Placeholder 4">
            <a:extLst>
              <a:ext uri="{FF2B5EF4-FFF2-40B4-BE49-F238E27FC236}">
                <a16:creationId xmlns:a16="http://schemas.microsoft.com/office/drawing/2014/main" id="{D587331D-2121-CE7E-4E9C-99F77E0B4C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en-US" altLang="ja-JP"/>
              <a:t>Click to edit Master text styles</a:t>
            </a:r>
          </a:p>
        </p:txBody>
      </p:sp>
      <p:sp>
        <p:nvSpPr>
          <p:cNvPr id="6" name="Content Placeholder 5">
            <a:extLst>
              <a:ext uri="{FF2B5EF4-FFF2-40B4-BE49-F238E27FC236}">
                <a16:creationId xmlns:a16="http://schemas.microsoft.com/office/drawing/2014/main" id="{F4F20E84-F440-7D00-DAD7-1BE8C0DFB92A}"/>
              </a:ext>
            </a:extLst>
          </p:cNvPr>
          <p:cNvSpPr>
            <a:spLocks noGrp="1"/>
          </p:cNvSpPr>
          <p:nvPr>
            <p:ph sz="quarter" idx="4"/>
          </p:nvPr>
        </p:nvSpPr>
        <p:spPr>
          <a:xfrm>
            <a:off x="6172200" y="2505075"/>
            <a:ext cx="5183188" cy="3684588"/>
          </a:xfrm>
        </p:spPr>
        <p:txBody>
          <a:bodyPr/>
          <a:lstStyle/>
          <a:p>
            <a:pPr lvl="0"/>
            <a:r>
              <a:rPr kumimoji="1" lang="en-US" altLang="ja-JP"/>
              <a:t>Click to 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7" name="Date Placeholder 6">
            <a:extLst>
              <a:ext uri="{FF2B5EF4-FFF2-40B4-BE49-F238E27FC236}">
                <a16:creationId xmlns:a16="http://schemas.microsoft.com/office/drawing/2014/main" id="{615E02B9-3F3C-40FF-4CC9-C380D40A531F}"/>
              </a:ext>
            </a:extLst>
          </p:cNvPr>
          <p:cNvSpPr>
            <a:spLocks noGrp="1"/>
          </p:cNvSpPr>
          <p:nvPr>
            <p:ph type="dt" sz="half" idx="10"/>
          </p:nvPr>
        </p:nvSpPr>
        <p:spPr/>
        <p:txBody>
          <a:bodyPr/>
          <a:lstStyle/>
          <a:p>
            <a:fld id="{F03DB397-56AA-4C3F-8E06-BD4CCD0478BF}" type="datetimeFigureOut">
              <a:rPr kumimoji="1" lang="ja-JP" altLang="en-US" smtClean="0"/>
              <a:t>2025/3/21</a:t>
            </a:fld>
            <a:endParaRPr kumimoji="1" lang="ja-JP" altLang="en-US"/>
          </a:p>
        </p:txBody>
      </p:sp>
      <p:sp>
        <p:nvSpPr>
          <p:cNvPr id="8" name="Footer Placeholder 7">
            <a:extLst>
              <a:ext uri="{FF2B5EF4-FFF2-40B4-BE49-F238E27FC236}">
                <a16:creationId xmlns:a16="http://schemas.microsoft.com/office/drawing/2014/main" id="{70057642-12C3-35D8-3FFE-7BFD48B0C12F}"/>
              </a:ext>
            </a:extLst>
          </p:cNvPr>
          <p:cNvSpPr>
            <a:spLocks noGrp="1"/>
          </p:cNvSpPr>
          <p:nvPr>
            <p:ph type="ftr" sz="quarter" idx="11"/>
          </p:nvPr>
        </p:nvSpPr>
        <p:spPr/>
        <p:txBody>
          <a:bodyPr/>
          <a:lstStyle/>
          <a:p>
            <a:endParaRPr kumimoji="1" lang="ja-JP" altLang="en-US"/>
          </a:p>
        </p:txBody>
      </p:sp>
      <p:sp>
        <p:nvSpPr>
          <p:cNvPr id="9" name="Slide Number Placeholder 8">
            <a:extLst>
              <a:ext uri="{FF2B5EF4-FFF2-40B4-BE49-F238E27FC236}">
                <a16:creationId xmlns:a16="http://schemas.microsoft.com/office/drawing/2014/main" id="{CB0ED11D-08CB-94C4-8236-255DA4A03502}"/>
              </a:ext>
            </a:extLst>
          </p:cNvPr>
          <p:cNvSpPr>
            <a:spLocks noGrp="1"/>
          </p:cNvSpPr>
          <p:nvPr>
            <p:ph type="sldNum" sz="quarter" idx="12"/>
          </p:nvPr>
        </p:nvSpPr>
        <p:spPr/>
        <p:txBody>
          <a:bodyPr/>
          <a:lstStyle/>
          <a:p>
            <a:fld id="{9ECD87CA-6B24-4B97-ADD3-F0263EEB7074}" type="slidenum">
              <a:rPr kumimoji="1" lang="ja-JP" altLang="en-US" smtClean="0"/>
              <a:t>‹#›</a:t>
            </a:fld>
            <a:endParaRPr kumimoji="1" lang="ja-JP" altLang="en-US"/>
          </a:p>
        </p:txBody>
      </p:sp>
    </p:spTree>
    <p:extLst>
      <p:ext uri="{BB962C8B-B14F-4D97-AF65-F5344CB8AC3E}">
        <p14:creationId xmlns:p14="http://schemas.microsoft.com/office/powerpoint/2010/main" val="17546856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7EB50-96FB-EB69-8860-21BA65DA17CD}"/>
              </a:ext>
            </a:extLst>
          </p:cNvPr>
          <p:cNvSpPr>
            <a:spLocks noGrp="1"/>
          </p:cNvSpPr>
          <p:nvPr>
            <p:ph type="title"/>
          </p:nvPr>
        </p:nvSpPr>
        <p:spPr/>
        <p:txBody>
          <a:bodyPr/>
          <a:lstStyle/>
          <a:p>
            <a:r>
              <a:rPr kumimoji="1" lang="en-US" altLang="ja-JP"/>
              <a:t>Click to edit Master title style</a:t>
            </a:r>
            <a:endParaRPr kumimoji="1" lang="ja-JP" altLang="en-US"/>
          </a:p>
        </p:txBody>
      </p:sp>
      <p:sp>
        <p:nvSpPr>
          <p:cNvPr id="3" name="Date Placeholder 2">
            <a:extLst>
              <a:ext uri="{FF2B5EF4-FFF2-40B4-BE49-F238E27FC236}">
                <a16:creationId xmlns:a16="http://schemas.microsoft.com/office/drawing/2014/main" id="{1D4C2106-D6CA-3A99-D73B-CA23F4F27C56}"/>
              </a:ext>
            </a:extLst>
          </p:cNvPr>
          <p:cNvSpPr>
            <a:spLocks noGrp="1"/>
          </p:cNvSpPr>
          <p:nvPr>
            <p:ph type="dt" sz="half" idx="10"/>
          </p:nvPr>
        </p:nvSpPr>
        <p:spPr/>
        <p:txBody>
          <a:bodyPr/>
          <a:lstStyle/>
          <a:p>
            <a:fld id="{F03DB397-56AA-4C3F-8E06-BD4CCD0478BF}" type="datetimeFigureOut">
              <a:rPr kumimoji="1" lang="ja-JP" altLang="en-US" smtClean="0"/>
              <a:t>2025/3/21</a:t>
            </a:fld>
            <a:endParaRPr kumimoji="1" lang="ja-JP" altLang="en-US"/>
          </a:p>
        </p:txBody>
      </p:sp>
      <p:sp>
        <p:nvSpPr>
          <p:cNvPr id="4" name="Footer Placeholder 3">
            <a:extLst>
              <a:ext uri="{FF2B5EF4-FFF2-40B4-BE49-F238E27FC236}">
                <a16:creationId xmlns:a16="http://schemas.microsoft.com/office/drawing/2014/main" id="{6797EE5D-F939-C1D7-CF34-5F2FF7C6E34A}"/>
              </a:ext>
            </a:extLst>
          </p:cNvPr>
          <p:cNvSpPr>
            <a:spLocks noGrp="1"/>
          </p:cNvSpPr>
          <p:nvPr>
            <p:ph type="ftr" sz="quarter" idx="11"/>
          </p:nvPr>
        </p:nvSpPr>
        <p:spPr/>
        <p:txBody>
          <a:bodyPr/>
          <a:lstStyle/>
          <a:p>
            <a:endParaRPr kumimoji="1" lang="ja-JP" altLang="en-US"/>
          </a:p>
        </p:txBody>
      </p:sp>
      <p:sp>
        <p:nvSpPr>
          <p:cNvPr id="5" name="Slide Number Placeholder 4">
            <a:extLst>
              <a:ext uri="{FF2B5EF4-FFF2-40B4-BE49-F238E27FC236}">
                <a16:creationId xmlns:a16="http://schemas.microsoft.com/office/drawing/2014/main" id="{CED099A8-D2ED-4077-EE52-38745536D605}"/>
              </a:ext>
            </a:extLst>
          </p:cNvPr>
          <p:cNvSpPr>
            <a:spLocks noGrp="1"/>
          </p:cNvSpPr>
          <p:nvPr>
            <p:ph type="sldNum" sz="quarter" idx="12"/>
          </p:nvPr>
        </p:nvSpPr>
        <p:spPr/>
        <p:txBody>
          <a:bodyPr/>
          <a:lstStyle/>
          <a:p>
            <a:fld id="{9ECD87CA-6B24-4B97-ADD3-F0263EEB7074}" type="slidenum">
              <a:rPr kumimoji="1" lang="ja-JP" altLang="en-US" smtClean="0"/>
              <a:t>‹#›</a:t>
            </a:fld>
            <a:endParaRPr kumimoji="1" lang="ja-JP" altLang="en-US"/>
          </a:p>
        </p:txBody>
      </p:sp>
    </p:spTree>
    <p:extLst>
      <p:ext uri="{BB962C8B-B14F-4D97-AF65-F5344CB8AC3E}">
        <p14:creationId xmlns:p14="http://schemas.microsoft.com/office/powerpoint/2010/main" val="40341742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FF152C-3B0C-E5E5-66DF-EA328AB58B70}"/>
              </a:ext>
            </a:extLst>
          </p:cNvPr>
          <p:cNvSpPr>
            <a:spLocks noGrp="1"/>
          </p:cNvSpPr>
          <p:nvPr>
            <p:ph type="dt" sz="half" idx="10"/>
          </p:nvPr>
        </p:nvSpPr>
        <p:spPr/>
        <p:txBody>
          <a:bodyPr/>
          <a:lstStyle/>
          <a:p>
            <a:fld id="{F03DB397-56AA-4C3F-8E06-BD4CCD0478BF}" type="datetimeFigureOut">
              <a:rPr kumimoji="1" lang="ja-JP" altLang="en-US" smtClean="0"/>
              <a:t>2025/3/21</a:t>
            </a:fld>
            <a:endParaRPr kumimoji="1" lang="ja-JP" altLang="en-US"/>
          </a:p>
        </p:txBody>
      </p:sp>
      <p:sp>
        <p:nvSpPr>
          <p:cNvPr id="3" name="Footer Placeholder 2">
            <a:extLst>
              <a:ext uri="{FF2B5EF4-FFF2-40B4-BE49-F238E27FC236}">
                <a16:creationId xmlns:a16="http://schemas.microsoft.com/office/drawing/2014/main" id="{3412112C-89B4-7F4C-B791-02343D8F90D1}"/>
              </a:ext>
            </a:extLst>
          </p:cNvPr>
          <p:cNvSpPr>
            <a:spLocks noGrp="1"/>
          </p:cNvSpPr>
          <p:nvPr>
            <p:ph type="ftr" sz="quarter" idx="11"/>
          </p:nvPr>
        </p:nvSpPr>
        <p:spPr/>
        <p:txBody>
          <a:bodyPr/>
          <a:lstStyle/>
          <a:p>
            <a:endParaRPr kumimoji="1" lang="ja-JP" altLang="en-US"/>
          </a:p>
        </p:txBody>
      </p:sp>
      <p:sp>
        <p:nvSpPr>
          <p:cNvPr id="4" name="Slide Number Placeholder 3">
            <a:extLst>
              <a:ext uri="{FF2B5EF4-FFF2-40B4-BE49-F238E27FC236}">
                <a16:creationId xmlns:a16="http://schemas.microsoft.com/office/drawing/2014/main" id="{7E0F8782-E7E9-CDBF-1165-A0632C169965}"/>
              </a:ext>
            </a:extLst>
          </p:cNvPr>
          <p:cNvSpPr>
            <a:spLocks noGrp="1"/>
          </p:cNvSpPr>
          <p:nvPr>
            <p:ph type="sldNum" sz="quarter" idx="12"/>
          </p:nvPr>
        </p:nvSpPr>
        <p:spPr/>
        <p:txBody>
          <a:bodyPr/>
          <a:lstStyle/>
          <a:p>
            <a:fld id="{9ECD87CA-6B24-4B97-ADD3-F0263EEB7074}" type="slidenum">
              <a:rPr kumimoji="1" lang="ja-JP" altLang="en-US" smtClean="0"/>
              <a:t>‹#›</a:t>
            </a:fld>
            <a:endParaRPr kumimoji="1" lang="ja-JP" altLang="en-US"/>
          </a:p>
        </p:txBody>
      </p:sp>
    </p:spTree>
    <p:extLst>
      <p:ext uri="{BB962C8B-B14F-4D97-AF65-F5344CB8AC3E}">
        <p14:creationId xmlns:p14="http://schemas.microsoft.com/office/powerpoint/2010/main" val="87036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640F4-E82B-D692-8AC8-1703CB77D3A4}"/>
              </a:ext>
            </a:extLst>
          </p:cNvPr>
          <p:cNvSpPr>
            <a:spLocks noGrp="1"/>
          </p:cNvSpPr>
          <p:nvPr>
            <p:ph type="title"/>
          </p:nvPr>
        </p:nvSpPr>
        <p:spPr>
          <a:xfrm>
            <a:off x="839788" y="457200"/>
            <a:ext cx="3932237" cy="1600200"/>
          </a:xfrm>
        </p:spPr>
        <p:txBody>
          <a:bodyPr anchor="b"/>
          <a:lstStyle>
            <a:lvl1pPr>
              <a:defRPr sz="3200"/>
            </a:lvl1pPr>
          </a:lstStyle>
          <a:p>
            <a:r>
              <a:rPr kumimoji="1" lang="en-US" altLang="ja-JP"/>
              <a:t>Click to edit Master title style</a:t>
            </a:r>
            <a:endParaRPr kumimoji="1" lang="ja-JP" altLang="en-US"/>
          </a:p>
        </p:txBody>
      </p:sp>
      <p:sp>
        <p:nvSpPr>
          <p:cNvPr id="3" name="Content Placeholder 2">
            <a:extLst>
              <a:ext uri="{FF2B5EF4-FFF2-40B4-BE49-F238E27FC236}">
                <a16:creationId xmlns:a16="http://schemas.microsoft.com/office/drawing/2014/main" id="{B050DA54-A8BF-5518-F321-827B2BB5379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en-US" altLang="ja-JP"/>
              <a:t>Click to 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4" name="Text Placeholder 3">
            <a:extLst>
              <a:ext uri="{FF2B5EF4-FFF2-40B4-BE49-F238E27FC236}">
                <a16:creationId xmlns:a16="http://schemas.microsoft.com/office/drawing/2014/main" id="{AE8C0DBF-B5CD-8FE8-E7C4-4E15EF0766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en-US" altLang="ja-JP"/>
              <a:t>Click to edit Master text styles</a:t>
            </a:r>
          </a:p>
        </p:txBody>
      </p:sp>
      <p:sp>
        <p:nvSpPr>
          <p:cNvPr id="5" name="Date Placeholder 4">
            <a:extLst>
              <a:ext uri="{FF2B5EF4-FFF2-40B4-BE49-F238E27FC236}">
                <a16:creationId xmlns:a16="http://schemas.microsoft.com/office/drawing/2014/main" id="{40766A90-38D9-381A-EDF6-D2FE96239472}"/>
              </a:ext>
            </a:extLst>
          </p:cNvPr>
          <p:cNvSpPr>
            <a:spLocks noGrp="1"/>
          </p:cNvSpPr>
          <p:nvPr>
            <p:ph type="dt" sz="half" idx="10"/>
          </p:nvPr>
        </p:nvSpPr>
        <p:spPr/>
        <p:txBody>
          <a:bodyPr/>
          <a:lstStyle/>
          <a:p>
            <a:fld id="{F03DB397-56AA-4C3F-8E06-BD4CCD0478BF}" type="datetimeFigureOut">
              <a:rPr kumimoji="1" lang="ja-JP" altLang="en-US" smtClean="0"/>
              <a:t>2025/3/21</a:t>
            </a:fld>
            <a:endParaRPr kumimoji="1" lang="ja-JP" altLang="en-US"/>
          </a:p>
        </p:txBody>
      </p:sp>
      <p:sp>
        <p:nvSpPr>
          <p:cNvPr id="6" name="Footer Placeholder 5">
            <a:extLst>
              <a:ext uri="{FF2B5EF4-FFF2-40B4-BE49-F238E27FC236}">
                <a16:creationId xmlns:a16="http://schemas.microsoft.com/office/drawing/2014/main" id="{B30FCE64-FE8C-011C-25A5-5A3E7B18932B}"/>
              </a:ext>
            </a:extLst>
          </p:cNvPr>
          <p:cNvSpPr>
            <a:spLocks noGrp="1"/>
          </p:cNvSpPr>
          <p:nvPr>
            <p:ph type="ftr" sz="quarter" idx="11"/>
          </p:nvPr>
        </p:nvSpPr>
        <p:spPr/>
        <p:txBody>
          <a:bodyPr/>
          <a:lstStyle/>
          <a:p>
            <a:endParaRPr kumimoji="1" lang="ja-JP" altLang="en-US"/>
          </a:p>
        </p:txBody>
      </p:sp>
      <p:sp>
        <p:nvSpPr>
          <p:cNvPr id="7" name="Slide Number Placeholder 6">
            <a:extLst>
              <a:ext uri="{FF2B5EF4-FFF2-40B4-BE49-F238E27FC236}">
                <a16:creationId xmlns:a16="http://schemas.microsoft.com/office/drawing/2014/main" id="{F36A62B4-FA45-A4EC-011A-BA4ECDEFE689}"/>
              </a:ext>
            </a:extLst>
          </p:cNvPr>
          <p:cNvSpPr>
            <a:spLocks noGrp="1"/>
          </p:cNvSpPr>
          <p:nvPr>
            <p:ph type="sldNum" sz="quarter" idx="12"/>
          </p:nvPr>
        </p:nvSpPr>
        <p:spPr/>
        <p:txBody>
          <a:bodyPr/>
          <a:lstStyle/>
          <a:p>
            <a:fld id="{9ECD87CA-6B24-4B97-ADD3-F0263EEB7074}" type="slidenum">
              <a:rPr kumimoji="1" lang="ja-JP" altLang="en-US" smtClean="0"/>
              <a:t>‹#›</a:t>
            </a:fld>
            <a:endParaRPr kumimoji="1" lang="ja-JP" altLang="en-US"/>
          </a:p>
        </p:txBody>
      </p:sp>
    </p:spTree>
    <p:extLst>
      <p:ext uri="{BB962C8B-B14F-4D97-AF65-F5344CB8AC3E}">
        <p14:creationId xmlns:p14="http://schemas.microsoft.com/office/powerpoint/2010/main" val="6540867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C7DB6-7DB5-6C83-5669-6726E378A7FA}"/>
              </a:ext>
            </a:extLst>
          </p:cNvPr>
          <p:cNvSpPr>
            <a:spLocks noGrp="1"/>
          </p:cNvSpPr>
          <p:nvPr>
            <p:ph type="title"/>
          </p:nvPr>
        </p:nvSpPr>
        <p:spPr>
          <a:xfrm>
            <a:off x="839788" y="457200"/>
            <a:ext cx="3932237" cy="1600200"/>
          </a:xfrm>
        </p:spPr>
        <p:txBody>
          <a:bodyPr anchor="b"/>
          <a:lstStyle>
            <a:lvl1pPr>
              <a:defRPr sz="3200"/>
            </a:lvl1pPr>
          </a:lstStyle>
          <a:p>
            <a:r>
              <a:rPr kumimoji="1" lang="en-US" altLang="ja-JP"/>
              <a:t>Click to edit Master title style</a:t>
            </a:r>
            <a:endParaRPr kumimoji="1" lang="ja-JP" altLang="en-US"/>
          </a:p>
        </p:txBody>
      </p:sp>
      <p:sp>
        <p:nvSpPr>
          <p:cNvPr id="3" name="Picture Placeholder 2">
            <a:extLst>
              <a:ext uri="{FF2B5EF4-FFF2-40B4-BE49-F238E27FC236}">
                <a16:creationId xmlns:a16="http://schemas.microsoft.com/office/drawing/2014/main" id="{B2E75EF6-1032-AA88-3778-26CE6F578F7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Text Placeholder 3">
            <a:extLst>
              <a:ext uri="{FF2B5EF4-FFF2-40B4-BE49-F238E27FC236}">
                <a16:creationId xmlns:a16="http://schemas.microsoft.com/office/drawing/2014/main" id="{FCA208D7-67DD-B7BA-AFCC-D01878D082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en-US" altLang="ja-JP"/>
              <a:t>Click to edit Master text styles</a:t>
            </a:r>
          </a:p>
        </p:txBody>
      </p:sp>
      <p:sp>
        <p:nvSpPr>
          <p:cNvPr id="5" name="Date Placeholder 4">
            <a:extLst>
              <a:ext uri="{FF2B5EF4-FFF2-40B4-BE49-F238E27FC236}">
                <a16:creationId xmlns:a16="http://schemas.microsoft.com/office/drawing/2014/main" id="{90ADC2D7-96FA-0961-70DD-5FA5369FD081}"/>
              </a:ext>
            </a:extLst>
          </p:cNvPr>
          <p:cNvSpPr>
            <a:spLocks noGrp="1"/>
          </p:cNvSpPr>
          <p:nvPr>
            <p:ph type="dt" sz="half" idx="10"/>
          </p:nvPr>
        </p:nvSpPr>
        <p:spPr/>
        <p:txBody>
          <a:bodyPr/>
          <a:lstStyle/>
          <a:p>
            <a:fld id="{F03DB397-56AA-4C3F-8E06-BD4CCD0478BF}" type="datetimeFigureOut">
              <a:rPr kumimoji="1" lang="ja-JP" altLang="en-US" smtClean="0"/>
              <a:t>2025/3/21</a:t>
            </a:fld>
            <a:endParaRPr kumimoji="1" lang="ja-JP" altLang="en-US"/>
          </a:p>
        </p:txBody>
      </p:sp>
      <p:sp>
        <p:nvSpPr>
          <p:cNvPr id="6" name="Footer Placeholder 5">
            <a:extLst>
              <a:ext uri="{FF2B5EF4-FFF2-40B4-BE49-F238E27FC236}">
                <a16:creationId xmlns:a16="http://schemas.microsoft.com/office/drawing/2014/main" id="{B65BE966-0092-CF85-FE5F-B914A8C62DB0}"/>
              </a:ext>
            </a:extLst>
          </p:cNvPr>
          <p:cNvSpPr>
            <a:spLocks noGrp="1"/>
          </p:cNvSpPr>
          <p:nvPr>
            <p:ph type="ftr" sz="quarter" idx="11"/>
          </p:nvPr>
        </p:nvSpPr>
        <p:spPr/>
        <p:txBody>
          <a:bodyPr/>
          <a:lstStyle/>
          <a:p>
            <a:endParaRPr kumimoji="1" lang="ja-JP" altLang="en-US"/>
          </a:p>
        </p:txBody>
      </p:sp>
      <p:sp>
        <p:nvSpPr>
          <p:cNvPr id="7" name="Slide Number Placeholder 6">
            <a:extLst>
              <a:ext uri="{FF2B5EF4-FFF2-40B4-BE49-F238E27FC236}">
                <a16:creationId xmlns:a16="http://schemas.microsoft.com/office/drawing/2014/main" id="{A7F1C132-ADEC-3B39-A26E-434AE8C59861}"/>
              </a:ext>
            </a:extLst>
          </p:cNvPr>
          <p:cNvSpPr>
            <a:spLocks noGrp="1"/>
          </p:cNvSpPr>
          <p:nvPr>
            <p:ph type="sldNum" sz="quarter" idx="12"/>
          </p:nvPr>
        </p:nvSpPr>
        <p:spPr/>
        <p:txBody>
          <a:bodyPr/>
          <a:lstStyle/>
          <a:p>
            <a:fld id="{9ECD87CA-6B24-4B97-ADD3-F0263EEB7074}" type="slidenum">
              <a:rPr kumimoji="1" lang="ja-JP" altLang="en-US" smtClean="0"/>
              <a:t>‹#›</a:t>
            </a:fld>
            <a:endParaRPr kumimoji="1" lang="ja-JP" altLang="en-US"/>
          </a:p>
        </p:txBody>
      </p:sp>
    </p:spTree>
    <p:extLst>
      <p:ext uri="{BB962C8B-B14F-4D97-AF65-F5344CB8AC3E}">
        <p14:creationId xmlns:p14="http://schemas.microsoft.com/office/powerpoint/2010/main" val="1255789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976D5-929E-CB16-EB21-13F76F4D816C}"/>
              </a:ext>
            </a:extLst>
          </p:cNvPr>
          <p:cNvSpPr>
            <a:spLocks noGrp="1"/>
          </p:cNvSpPr>
          <p:nvPr>
            <p:ph type="title"/>
          </p:nvPr>
        </p:nvSpPr>
        <p:spPr/>
        <p:txBody>
          <a:bodyPr/>
          <a:lstStyle/>
          <a:p>
            <a:r>
              <a:rPr kumimoji="1" lang="en-US" altLang="ja-JP"/>
              <a:t>Click to edit Master title style</a:t>
            </a:r>
            <a:endParaRPr kumimoji="1" lang="ja-JP" altLang="en-US"/>
          </a:p>
        </p:txBody>
      </p:sp>
      <p:sp>
        <p:nvSpPr>
          <p:cNvPr id="3" name="Vertical Text Placeholder 2">
            <a:extLst>
              <a:ext uri="{FF2B5EF4-FFF2-40B4-BE49-F238E27FC236}">
                <a16:creationId xmlns:a16="http://schemas.microsoft.com/office/drawing/2014/main" id="{D39F279C-9DC2-130F-A123-D49459B21AE2}"/>
              </a:ext>
            </a:extLst>
          </p:cNvPr>
          <p:cNvSpPr>
            <a:spLocks noGrp="1"/>
          </p:cNvSpPr>
          <p:nvPr>
            <p:ph type="body" orient="vert" idx="1"/>
          </p:nvPr>
        </p:nvSpPr>
        <p:spPr/>
        <p:txBody>
          <a:bodyPr vert="eaVert"/>
          <a:lstStyle/>
          <a:p>
            <a:pPr lvl="0"/>
            <a:r>
              <a:rPr kumimoji="1" lang="en-US" altLang="ja-JP"/>
              <a:t>Click to 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4" name="Date Placeholder 3">
            <a:extLst>
              <a:ext uri="{FF2B5EF4-FFF2-40B4-BE49-F238E27FC236}">
                <a16:creationId xmlns:a16="http://schemas.microsoft.com/office/drawing/2014/main" id="{7B2CF503-60E2-0357-ADFE-671BEB8A7E12}"/>
              </a:ext>
            </a:extLst>
          </p:cNvPr>
          <p:cNvSpPr>
            <a:spLocks noGrp="1"/>
          </p:cNvSpPr>
          <p:nvPr>
            <p:ph type="dt" sz="half" idx="10"/>
          </p:nvPr>
        </p:nvSpPr>
        <p:spPr/>
        <p:txBody>
          <a:bodyPr/>
          <a:lstStyle/>
          <a:p>
            <a:fld id="{F03DB397-56AA-4C3F-8E06-BD4CCD0478BF}" type="datetimeFigureOut">
              <a:rPr kumimoji="1" lang="ja-JP" altLang="en-US" smtClean="0"/>
              <a:t>2025/3/21</a:t>
            </a:fld>
            <a:endParaRPr kumimoji="1" lang="ja-JP" altLang="en-US"/>
          </a:p>
        </p:txBody>
      </p:sp>
      <p:sp>
        <p:nvSpPr>
          <p:cNvPr id="5" name="Footer Placeholder 4">
            <a:extLst>
              <a:ext uri="{FF2B5EF4-FFF2-40B4-BE49-F238E27FC236}">
                <a16:creationId xmlns:a16="http://schemas.microsoft.com/office/drawing/2014/main" id="{C5FA2CB4-54C6-0FB1-3E39-3862AE62705D}"/>
              </a:ext>
            </a:extLst>
          </p:cNvPr>
          <p:cNvSpPr>
            <a:spLocks noGrp="1"/>
          </p:cNvSpPr>
          <p:nvPr>
            <p:ph type="ftr" sz="quarter" idx="11"/>
          </p:nvPr>
        </p:nvSpPr>
        <p:spPr/>
        <p:txBody>
          <a:bodyPr/>
          <a:lstStyle/>
          <a:p>
            <a:endParaRPr kumimoji="1" lang="ja-JP" altLang="en-US"/>
          </a:p>
        </p:txBody>
      </p:sp>
      <p:sp>
        <p:nvSpPr>
          <p:cNvPr id="6" name="Slide Number Placeholder 5">
            <a:extLst>
              <a:ext uri="{FF2B5EF4-FFF2-40B4-BE49-F238E27FC236}">
                <a16:creationId xmlns:a16="http://schemas.microsoft.com/office/drawing/2014/main" id="{BF1E83DD-41E0-68EE-7951-BBF61BEF4215}"/>
              </a:ext>
            </a:extLst>
          </p:cNvPr>
          <p:cNvSpPr>
            <a:spLocks noGrp="1"/>
          </p:cNvSpPr>
          <p:nvPr>
            <p:ph type="sldNum" sz="quarter" idx="12"/>
          </p:nvPr>
        </p:nvSpPr>
        <p:spPr/>
        <p:txBody>
          <a:bodyPr/>
          <a:lstStyle/>
          <a:p>
            <a:fld id="{9ECD87CA-6B24-4B97-ADD3-F0263EEB7074}" type="slidenum">
              <a:rPr kumimoji="1" lang="ja-JP" altLang="en-US" smtClean="0"/>
              <a:t>‹#›</a:t>
            </a:fld>
            <a:endParaRPr kumimoji="1" lang="ja-JP" altLang="en-US"/>
          </a:p>
        </p:txBody>
      </p:sp>
    </p:spTree>
    <p:extLst>
      <p:ext uri="{BB962C8B-B14F-4D97-AF65-F5344CB8AC3E}">
        <p14:creationId xmlns:p14="http://schemas.microsoft.com/office/powerpoint/2010/main" val="20608626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C05C5D-55EA-83CC-BD99-EC5675495646}"/>
              </a:ext>
            </a:extLst>
          </p:cNvPr>
          <p:cNvSpPr>
            <a:spLocks noGrp="1"/>
          </p:cNvSpPr>
          <p:nvPr>
            <p:ph type="title" orient="vert"/>
          </p:nvPr>
        </p:nvSpPr>
        <p:spPr>
          <a:xfrm>
            <a:off x="8724900" y="365125"/>
            <a:ext cx="2628900" cy="5811838"/>
          </a:xfrm>
        </p:spPr>
        <p:txBody>
          <a:bodyPr vert="eaVert"/>
          <a:lstStyle/>
          <a:p>
            <a:r>
              <a:rPr kumimoji="1" lang="en-US" altLang="ja-JP"/>
              <a:t>Click to edit Master title style</a:t>
            </a:r>
            <a:endParaRPr kumimoji="1" lang="ja-JP" altLang="en-US"/>
          </a:p>
        </p:txBody>
      </p:sp>
      <p:sp>
        <p:nvSpPr>
          <p:cNvPr id="3" name="Vertical Text Placeholder 2">
            <a:extLst>
              <a:ext uri="{FF2B5EF4-FFF2-40B4-BE49-F238E27FC236}">
                <a16:creationId xmlns:a16="http://schemas.microsoft.com/office/drawing/2014/main" id="{57D01FDE-5DE3-3562-7C29-E5F31F551223}"/>
              </a:ext>
            </a:extLst>
          </p:cNvPr>
          <p:cNvSpPr>
            <a:spLocks noGrp="1"/>
          </p:cNvSpPr>
          <p:nvPr>
            <p:ph type="body" orient="vert" idx="1"/>
          </p:nvPr>
        </p:nvSpPr>
        <p:spPr>
          <a:xfrm>
            <a:off x="838200" y="365125"/>
            <a:ext cx="7734300" cy="5811838"/>
          </a:xfrm>
        </p:spPr>
        <p:txBody>
          <a:bodyPr vert="eaVert"/>
          <a:lstStyle/>
          <a:p>
            <a:pPr lvl="0"/>
            <a:r>
              <a:rPr kumimoji="1" lang="en-US" altLang="ja-JP"/>
              <a:t>Click to 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4" name="Date Placeholder 3">
            <a:extLst>
              <a:ext uri="{FF2B5EF4-FFF2-40B4-BE49-F238E27FC236}">
                <a16:creationId xmlns:a16="http://schemas.microsoft.com/office/drawing/2014/main" id="{114D2861-F0CF-C4F0-E5C2-AF744053F314}"/>
              </a:ext>
            </a:extLst>
          </p:cNvPr>
          <p:cNvSpPr>
            <a:spLocks noGrp="1"/>
          </p:cNvSpPr>
          <p:nvPr>
            <p:ph type="dt" sz="half" idx="10"/>
          </p:nvPr>
        </p:nvSpPr>
        <p:spPr/>
        <p:txBody>
          <a:bodyPr/>
          <a:lstStyle/>
          <a:p>
            <a:fld id="{F03DB397-56AA-4C3F-8E06-BD4CCD0478BF}" type="datetimeFigureOut">
              <a:rPr kumimoji="1" lang="ja-JP" altLang="en-US" smtClean="0"/>
              <a:t>2025/3/21</a:t>
            </a:fld>
            <a:endParaRPr kumimoji="1" lang="ja-JP" altLang="en-US"/>
          </a:p>
        </p:txBody>
      </p:sp>
      <p:sp>
        <p:nvSpPr>
          <p:cNvPr id="5" name="Footer Placeholder 4">
            <a:extLst>
              <a:ext uri="{FF2B5EF4-FFF2-40B4-BE49-F238E27FC236}">
                <a16:creationId xmlns:a16="http://schemas.microsoft.com/office/drawing/2014/main" id="{847772D1-142D-49ED-EF62-9805F2FD2797}"/>
              </a:ext>
            </a:extLst>
          </p:cNvPr>
          <p:cNvSpPr>
            <a:spLocks noGrp="1"/>
          </p:cNvSpPr>
          <p:nvPr>
            <p:ph type="ftr" sz="quarter" idx="11"/>
          </p:nvPr>
        </p:nvSpPr>
        <p:spPr/>
        <p:txBody>
          <a:bodyPr/>
          <a:lstStyle/>
          <a:p>
            <a:endParaRPr kumimoji="1" lang="ja-JP" altLang="en-US"/>
          </a:p>
        </p:txBody>
      </p:sp>
      <p:sp>
        <p:nvSpPr>
          <p:cNvPr id="6" name="Slide Number Placeholder 5">
            <a:extLst>
              <a:ext uri="{FF2B5EF4-FFF2-40B4-BE49-F238E27FC236}">
                <a16:creationId xmlns:a16="http://schemas.microsoft.com/office/drawing/2014/main" id="{944AAF10-1E25-903B-8EB3-B40E6CE3693F}"/>
              </a:ext>
            </a:extLst>
          </p:cNvPr>
          <p:cNvSpPr>
            <a:spLocks noGrp="1"/>
          </p:cNvSpPr>
          <p:nvPr>
            <p:ph type="sldNum" sz="quarter" idx="12"/>
          </p:nvPr>
        </p:nvSpPr>
        <p:spPr/>
        <p:txBody>
          <a:bodyPr/>
          <a:lstStyle/>
          <a:p>
            <a:fld id="{9ECD87CA-6B24-4B97-ADD3-F0263EEB7074}" type="slidenum">
              <a:rPr kumimoji="1" lang="ja-JP" altLang="en-US" smtClean="0"/>
              <a:t>‹#›</a:t>
            </a:fld>
            <a:endParaRPr kumimoji="1" lang="ja-JP" altLang="en-US"/>
          </a:p>
        </p:txBody>
      </p:sp>
    </p:spTree>
    <p:extLst>
      <p:ext uri="{BB962C8B-B14F-4D97-AF65-F5344CB8AC3E}">
        <p14:creationId xmlns:p14="http://schemas.microsoft.com/office/powerpoint/2010/main" val="1884802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F641D1-D0BA-78BB-4B8E-DC0BAF8CBB4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en-US" altLang="ja-JP"/>
              <a:t>Click to edit Master title style</a:t>
            </a:r>
            <a:endParaRPr kumimoji="1" lang="ja-JP" altLang="en-US"/>
          </a:p>
        </p:txBody>
      </p:sp>
      <p:sp>
        <p:nvSpPr>
          <p:cNvPr id="3" name="Text Placeholder 2">
            <a:extLst>
              <a:ext uri="{FF2B5EF4-FFF2-40B4-BE49-F238E27FC236}">
                <a16:creationId xmlns:a16="http://schemas.microsoft.com/office/drawing/2014/main" id="{D975BFCF-A4E8-D077-263B-36765FD6C7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en-US" altLang="ja-JP"/>
              <a:t>Click to 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4" name="Date Placeholder 3">
            <a:extLst>
              <a:ext uri="{FF2B5EF4-FFF2-40B4-BE49-F238E27FC236}">
                <a16:creationId xmlns:a16="http://schemas.microsoft.com/office/drawing/2014/main" id="{653AB680-E553-87A9-FEEA-1170496430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03DB397-56AA-4C3F-8E06-BD4CCD0478BF}" type="datetimeFigureOut">
              <a:rPr kumimoji="1" lang="ja-JP" altLang="en-US" smtClean="0"/>
              <a:t>2025/3/21</a:t>
            </a:fld>
            <a:endParaRPr kumimoji="1" lang="ja-JP" altLang="en-US"/>
          </a:p>
        </p:txBody>
      </p:sp>
      <p:sp>
        <p:nvSpPr>
          <p:cNvPr id="5" name="Footer Placeholder 4">
            <a:extLst>
              <a:ext uri="{FF2B5EF4-FFF2-40B4-BE49-F238E27FC236}">
                <a16:creationId xmlns:a16="http://schemas.microsoft.com/office/drawing/2014/main" id="{56B1E0A6-BCD1-BE57-1865-EA69CD4BFA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Slide Number Placeholder 5">
            <a:extLst>
              <a:ext uri="{FF2B5EF4-FFF2-40B4-BE49-F238E27FC236}">
                <a16:creationId xmlns:a16="http://schemas.microsoft.com/office/drawing/2014/main" id="{834DA928-8B25-D197-E165-212DB305C1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ECD87CA-6B24-4B97-ADD3-F0263EEB7074}" type="slidenum">
              <a:rPr kumimoji="1" lang="ja-JP" altLang="en-US" smtClean="0"/>
              <a:t>‹#›</a:t>
            </a:fld>
            <a:endParaRPr kumimoji="1" lang="ja-JP" altLang="en-US"/>
          </a:p>
        </p:txBody>
      </p:sp>
    </p:spTree>
    <p:extLst>
      <p:ext uri="{BB962C8B-B14F-4D97-AF65-F5344CB8AC3E}">
        <p14:creationId xmlns:p14="http://schemas.microsoft.com/office/powerpoint/2010/main" val="22971337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pubs.acs.org/doi/pdf/10.1021/ed028p428" TargetMode="External"/><Relationship Id="rId2" Type="http://schemas.openxmlformats.org/officeDocument/2006/relationships/hyperlink" Target="https://www.weather.gov/media/epz/wxcalc/rhTdFromWetBulb.pdf" TargetMode="Externa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hyperlink" Target="https://www.weather.gov/lmk/humidity" TargetMode="External"/><Relationship Id="rId4" Type="http://schemas.openxmlformats.org/officeDocument/2006/relationships/hyperlink" Target="https://www.jstage.jst.go.jp/article/jmsj/98/6/98_2020-058/_html/-char/en"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pubs.acs.org/doi/pdf/10.1021/ed028p428"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hyperlink" Target="https://www.weather.gov/lmk/humidity" TargetMode="External"/><Relationship Id="rId4" Type="http://schemas.openxmlformats.org/officeDocument/2006/relationships/hyperlink" Target="https://www.jstage.jst.go.jp/article/jmsj/98/6/98_2020-058/_html/-char/en"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39C44-0410-144C-43D0-1360B61E06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8BA1D1-B94B-6DC2-6F91-1F23A2019035}"/>
              </a:ext>
            </a:extLst>
          </p:cNvPr>
          <p:cNvSpPr>
            <a:spLocks noGrp="1"/>
          </p:cNvSpPr>
          <p:nvPr>
            <p:ph type="ctrTitle"/>
          </p:nvPr>
        </p:nvSpPr>
        <p:spPr/>
        <p:txBody>
          <a:bodyPr/>
          <a:lstStyle/>
          <a:p>
            <a:r>
              <a:rPr lang="en-US" altLang="ja-JP" dirty="0"/>
              <a:t>Discussion on Huffman Encoding and Threshold</a:t>
            </a:r>
            <a:endParaRPr kumimoji="1" lang="ja-JP" altLang="en-US" dirty="0"/>
          </a:p>
        </p:txBody>
      </p:sp>
      <p:sp>
        <p:nvSpPr>
          <p:cNvPr id="3" name="Subtitle 2">
            <a:extLst>
              <a:ext uri="{FF2B5EF4-FFF2-40B4-BE49-F238E27FC236}">
                <a16:creationId xmlns:a16="http://schemas.microsoft.com/office/drawing/2014/main" id="{DE0AE062-F2A6-F827-9738-0D1F4305A8FB}"/>
              </a:ext>
            </a:extLst>
          </p:cNvPr>
          <p:cNvSpPr>
            <a:spLocks noGrp="1"/>
          </p:cNvSpPr>
          <p:nvPr>
            <p:ph type="subTitle" idx="1"/>
          </p:nvPr>
        </p:nvSpPr>
        <p:spPr/>
        <p:txBody>
          <a:bodyPr/>
          <a:lstStyle/>
          <a:p>
            <a:r>
              <a:rPr kumimoji="1" lang="en-US" altLang="ja-JP" dirty="0"/>
              <a:t>17 March, 2025</a:t>
            </a:r>
          </a:p>
          <a:p>
            <a:r>
              <a:rPr lang="en-US" altLang="ja-JP" dirty="0"/>
              <a:t>Airi </a:t>
            </a:r>
            <a:r>
              <a:rPr lang="en-US" altLang="ja-JP" dirty="0" err="1"/>
              <a:t>Kokuryo</a:t>
            </a:r>
            <a:endParaRPr kumimoji="1" lang="ja-JP" altLang="en-US" dirty="0"/>
          </a:p>
        </p:txBody>
      </p:sp>
    </p:spTree>
    <p:extLst>
      <p:ext uri="{BB962C8B-B14F-4D97-AF65-F5344CB8AC3E}">
        <p14:creationId xmlns:p14="http://schemas.microsoft.com/office/powerpoint/2010/main" val="29162900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E7A29-037E-B2FC-4982-A7D48AE8D488}"/>
              </a:ext>
            </a:extLst>
          </p:cNvPr>
          <p:cNvSpPr>
            <a:spLocks noGrp="1"/>
          </p:cNvSpPr>
          <p:nvPr>
            <p:ph type="title"/>
          </p:nvPr>
        </p:nvSpPr>
        <p:spPr/>
        <p:txBody>
          <a:bodyPr/>
          <a:lstStyle/>
          <a:p>
            <a:r>
              <a:rPr kumimoji="1" lang="en-US" altLang="ja-JP" dirty="0"/>
              <a:t>Current work (summary)</a:t>
            </a:r>
            <a:endParaRPr kumimoji="1" lang="ja-JP" altLang="en-US" dirty="0"/>
          </a:p>
        </p:txBody>
      </p:sp>
      <p:sp>
        <p:nvSpPr>
          <p:cNvPr id="3" name="Content Placeholder 2">
            <a:extLst>
              <a:ext uri="{FF2B5EF4-FFF2-40B4-BE49-F238E27FC236}">
                <a16:creationId xmlns:a16="http://schemas.microsoft.com/office/drawing/2014/main" id="{704E2158-80A0-C4AC-45F1-E48951847A8B}"/>
              </a:ext>
            </a:extLst>
          </p:cNvPr>
          <p:cNvSpPr>
            <a:spLocks noGrp="1"/>
          </p:cNvSpPr>
          <p:nvPr>
            <p:ph idx="1"/>
          </p:nvPr>
        </p:nvSpPr>
        <p:spPr/>
        <p:txBody>
          <a:bodyPr/>
          <a:lstStyle/>
          <a:p>
            <a:r>
              <a:rPr kumimoji="1" lang="en-US" altLang="ja-JP" dirty="0"/>
              <a:t>We use</a:t>
            </a:r>
            <a:r>
              <a:rPr lang="en-US" altLang="ja-JP" dirty="0"/>
              <a:t> a static Huffman table based on the 4 seasons</a:t>
            </a:r>
          </a:p>
          <a:p>
            <a:r>
              <a:rPr kumimoji="1" lang="en-US" altLang="ja-JP" dirty="0"/>
              <a:t>Sends data only when either temperature or humidity exceeds the threshold</a:t>
            </a:r>
          </a:p>
          <a:p>
            <a:r>
              <a:rPr lang="en-US" altLang="ja-JP" dirty="0"/>
              <a:t>Since the Huffman table is based on data divided into several range, combine run-length compression when there is serial data range for more compression.</a:t>
            </a:r>
            <a:endParaRPr kumimoji="1" lang="en-US" altLang="ja-JP" dirty="0"/>
          </a:p>
          <a:p>
            <a:r>
              <a:rPr lang="en-US" altLang="ja-JP" dirty="0"/>
              <a:t>Send data to the LoRaWAN using the combination of Huffman Encoding and run-length compression</a:t>
            </a:r>
          </a:p>
        </p:txBody>
      </p:sp>
    </p:spTree>
    <p:extLst>
      <p:ext uri="{BB962C8B-B14F-4D97-AF65-F5344CB8AC3E}">
        <p14:creationId xmlns:p14="http://schemas.microsoft.com/office/powerpoint/2010/main" val="32599845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53B1A-FD6D-8417-97AC-82268F502C6D}"/>
              </a:ext>
            </a:extLst>
          </p:cNvPr>
          <p:cNvSpPr>
            <a:spLocks noGrp="1"/>
          </p:cNvSpPr>
          <p:nvPr>
            <p:ph type="title"/>
          </p:nvPr>
        </p:nvSpPr>
        <p:spPr/>
        <p:txBody>
          <a:bodyPr/>
          <a:lstStyle/>
          <a:p>
            <a:r>
              <a:rPr kumimoji="1" lang="en-US" altLang="ja-JP" dirty="0"/>
              <a:t>Problems</a:t>
            </a:r>
            <a:endParaRPr kumimoji="1" lang="ja-JP" altLang="en-US" dirty="0"/>
          </a:p>
        </p:txBody>
      </p:sp>
      <p:sp>
        <p:nvSpPr>
          <p:cNvPr id="3" name="Content Placeholder 2">
            <a:extLst>
              <a:ext uri="{FF2B5EF4-FFF2-40B4-BE49-F238E27FC236}">
                <a16:creationId xmlns:a16="http://schemas.microsoft.com/office/drawing/2014/main" id="{CD0B528A-5A0A-4746-D600-3842A4B6AF4F}"/>
              </a:ext>
            </a:extLst>
          </p:cNvPr>
          <p:cNvSpPr>
            <a:spLocks noGrp="1"/>
          </p:cNvSpPr>
          <p:nvPr>
            <p:ph idx="1"/>
          </p:nvPr>
        </p:nvSpPr>
        <p:spPr/>
        <p:txBody>
          <a:bodyPr>
            <a:normAutofit lnSpcReduction="10000"/>
          </a:bodyPr>
          <a:lstStyle/>
          <a:p>
            <a:r>
              <a:rPr kumimoji="1" lang="en-US" altLang="ja-JP" dirty="0"/>
              <a:t>Since </a:t>
            </a:r>
            <a:r>
              <a:rPr lang="en-US" altLang="ja-JP" dirty="0"/>
              <a:t>we use </a:t>
            </a:r>
            <a:r>
              <a:rPr kumimoji="1" lang="en-US" altLang="ja-JP" dirty="0"/>
              <a:t>static Huffman table created using the past data within the area, it won’t be applicable outside of its observation areas.</a:t>
            </a:r>
          </a:p>
          <a:p>
            <a:r>
              <a:rPr lang="en-US" altLang="ja-JP" dirty="0"/>
              <a:t>Due to the global warming, data such as temperature and humidity can become unstable -&gt; can’t rely on static past sources.</a:t>
            </a:r>
          </a:p>
          <a:p>
            <a:r>
              <a:rPr kumimoji="1" lang="en-US" altLang="ja-JP" dirty="0"/>
              <a:t>Since we use thresholds, it is likely that data being sen</a:t>
            </a:r>
            <a:r>
              <a:rPr lang="en-US" altLang="ja-JP" dirty="0"/>
              <a:t>t would be near the threshold. For example, temperature and humidity would likely score high during extreme rainfall, and this may not be the most common within the Huffman table introduced in our current work.</a:t>
            </a:r>
            <a:endParaRPr kumimoji="1" lang="ja-JP" altLang="en-US" dirty="0"/>
          </a:p>
        </p:txBody>
      </p:sp>
    </p:spTree>
    <p:extLst>
      <p:ext uri="{BB962C8B-B14F-4D97-AF65-F5344CB8AC3E}">
        <p14:creationId xmlns:p14="http://schemas.microsoft.com/office/powerpoint/2010/main" val="1145951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9A9D3-9DC7-B43E-0AD8-A79EB55095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A9A92B-1F90-1CA1-62FA-96D504BE7358}"/>
              </a:ext>
            </a:extLst>
          </p:cNvPr>
          <p:cNvSpPr>
            <a:spLocks noGrp="1"/>
          </p:cNvSpPr>
          <p:nvPr>
            <p:ph type="title"/>
          </p:nvPr>
        </p:nvSpPr>
        <p:spPr/>
        <p:txBody>
          <a:bodyPr/>
          <a:lstStyle/>
          <a:p>
            <a:r>
              <a:rPr kumimoji="1" lang="en-US" altLang="ja-JP" dirty="0"/>
              <a:t>Proposed approach</a:t>
            </a:r>
            <a:endParaRPr kumimoji="1" lang="ja-JP" altLang="en-US" dirty="0"/>
          </a:p>
        </p:txBody>
      </p:sp>
      <p:sp>
        <p:nvSpPr>
          <p:cNvPr id="3" name="Content Placeholder 2">
            <a:extLst>
              <a:ext uri="{FF2B5EF4-FFF2-40B4-BE49-F238E27FC236}">
                <a16:creationId xmlns:a16="http://schemas.microsoft.com/office/drawing/2014/main" id="{3DB0FE14-27FE-7160-AB2B-3F53362DC881}"/>
              </a:ext>
            </a:extLst>
          </p:cNvPr>
          <p:cNvSpPr>
            <a:spLocks noGrp="1"/>
          </p:cNvSpPr>
          <p:nvPr>
            <p:ph idx="1"/>
          </p:nvPr>
        </p:nvSpPr>
        <p:spPr>
          <a:xfrm>
            <a:off x="838200" y="1480008"/>
            <a:ext cx="11143268" cy="5165889"/>
          </a:xfrm>
        </p:spPr>
        <p:txBody>
          <a:bodyPr>
            <a:normAutofit lnSpcReduction="10000"/>
          </a:bodyPr>
          <a:lstStyle/>
          <a:p>
            <a:pPr marL="571500" indent="-571500">
              <a:buAutoNum type="romanUcPeriod"/>
            </a:pPr>
            <a:r>
              <a:rPr kumimoji="1" lang="en-US" altLang="ja-JP" dirty="0"/>
              <a:t>“Normal”</a:t>
            </a:r>
          </a:p>
          <a:p>
            <a:pPr marL="1028700" lvl="1" indent="-571500">
              <a:buAutoNum type="romanUcPeriod"/>
            </a:pPr>
            <a:r>
              <a:rPr lang="en-US" altLang="ja-JP" dirty="0"/>
              <a:t>Collect data every 1 hour and put it in a buffer</a:t>
            </a:r>
          </a:p>
          <a:p>
            <a:pPr marL="1028700" lvl="1" indent="-571500">
              <a:buAutoNum type="romanUcPeriod"/>
            </a:pPr>
            <a:r>
              <a:rPr kumimoji="1" lang="en-US" altLang="ja-JP" dirty="0"/>
              <a:t>Calculate </a:t>
            </a:r>
            <a:r>
              <a:rPr kumimoji="1" lang="en-US" altLang="ja-JP" b="1" dirty="0">
                <a:solidFill>
                  <a:srgbClr val="C00000"/>
                </a:solidFill>
              </a:rPr>
              <a:t>flood probability</a:t>
            </a:r>
            <a:r>
              <a:rPr kumimoji="1" lang="en-US" altLang="ja-JP" dirty="0"/>
              <a:t>(</a:t>
            </a:r>
            <a:r>
              <a:rPr kumimoji="1" lang="en-US" altLang="ja-JP" b="1" dirty="0">
                <a:solidFill>
                  <a:srgbClr val="C00000"/>
                </a:solidFill>
              </a:rPr>
              <a:t>FP</a:t>
            </a:r>
            <a:r>
              <a:rPr kumimoji="1" lang="en-US" altLang="ja-JP" dirty="0"/>
              <a:t>)</a:t>
            </a:r>
          </a:p>
          <a:p>
            <a:pPr marL="1028700" lvl="1" indent="-571500">
              <a:buAutoNum type="romanUcPeriod"/>
            </a:pPr>
            <a:r>
              <a:rPr lang="en-US" altLang="ja-JP" dirty="0"/>
              <a:t>If FP is over 70%, start “Emergency”</a:t>
            </a:r>
          </a:p>
          <a:p>
            <a:pPr marL="1028700" lvl="1" indent="-571500">
              <a:buAutoNum type="romanUcPeriod"/>
            </a:pPr>
            <a:r>
              <a:rPr kumimoji="1" lang="en-US" altLang="ja-JP" dirty="0"/>
              <a:t>If FP is under 70%, go back to I.I</a:t>
            </a:r>
          </a:p>
          <a:p>
            <a:pPr marL="571500" indent="-571500">
              <a:buAutoNum type="romanUcPeriod"/>
            </a:pPr>
            <a:r>
              <a:rPr lang="en-US" altLang="ja-JP" dirty="0"/>
              <a:t>“Emergency”</a:t>
            </a:r>
          </a:p>
          <a:p>
            <a:pPr marL="1028700" lvl="1" indent="-571500">
              <a:buAutoNum type="romanUcPeriod"/>
            </a:pPr>
            <a:r>
              <a:rPr kumimoji="1" lang="en-US" altLang="ja-JP" dirty="0"/>
              <a:t>Send the first 3 data in </a:t>
            </a:r>
            <a:r>
              <a:rPr lang="en-US" altLang="ja-JP" dirty="0"/>
              <a:t>the</a:t>
            </a:r>
            <a:r>
              <a:rPr kumimoji="1" lang="en-US" altLang="ja-JP" dirty="0"/>
              <a:t> buffer using </a:t>
            </a:r>
            <a:r>
              <a:rPr kumimoji="1" lang="en-US" altLang="ja-JP" b="1" dirty="0">
                <a:solidFill>
                  <a:srgbClr val="C00000"/>
                </a:solidFill>
              </a:rPr>
              <a:t>Huffman table α</a:t>
            </a:r>
          </a:p>
          <a:p>
            <a:pPr marL="457200" lvl="1" indent="0">
              <a:buNone/>
            </a:pPr>
            <a:r>
              <a:rPr kumimoji="1" lang="en-US" altLang="ja-JP" dirty="0"/>
              <a:t>(sent only once at the start)</a:t>
            </a:r>
          </a:p>
          <a:p>
            <a:pPr marL="1028700" lvl="1" indent="-571500">
              <a:buAutoNum type="romanUcPeriod"/>
            </a:pPr>
            <a:r>
              <a:rPr lang="en-US" altLang="ja-JP" dirty="0"/>
              <a:t>Send rest of the data in the buffer using </a:t>
            </a:r>
            <a:r>
              <a:rPr lang="en-US" altLang="ja-JP" b="1" dirty="0">
                <a:solidFill>
                  <a:srgbClr val="C00000"/>
                </a:solidFill>
              </a:rPr>
              <a:t>difference method and Huffman table β</a:t>
            </a:r>
          </a:p>
          <a:p>
            <a:pPr marL="1028700" lvl="1" indent="-571500">
              <a:buAutoNum type="romanUcPeriod"/>
            </a:pPr>
            <a:r>
              <a:rPr lang="en-US" altLang="ja-JP" dirty="0"/>
              <a:t>Collect data every 5 minutes and put it in a buffer</a:t>
            </a:r>
          </a:p>
          <a:p>
            <a:pPr marL="1028700" lvl="1" indent="-571500">
              <a:buAutoNum type="romanUcPeriod"/>
            </a:pPr>
            <a:r>
              <a:rPr kumimoji="1" lang="en-US" altLang="ja-JP" dirty="0"/>
              <a:t>If the buffer is full, send data using II.II</a:t>
            </a:r>
          </a:p>
          <a:p>
            <a:pPr marL="1028700" lvl="1" indent="-571500">
              <a:buAutoNum type="romanUcPeriod"/>
            </a:pPr>
            <a:r>
              <a:rPr lang="en-US" altLang="ja-JP" dirty="0"/>
              <a:t>C</a:t>
            </a:r>
            <a:r>
              <a:rPr kumimoji="1" lang="en-US" altLang="ja-JP" dirty="0"/>
              <a:t>heck FP and if it’s under 70% twice in a row, go back to “Normal”</a:t>
            </a:r>
          </a:p>
          <a:p>
            <a:pPr marL="1028700" lvl="1" indent="-571500">
              <a:buAutoNum type="romanUcPeriod"/>
            </a:pPr>
            <a:r>
              <a:rPr kumimoji="1" lang="en-US" altLang="ja-JP" dirty="0"/>
              <a:t>Check FP and if it’s over 70%, go back to II.III</a:t>
            </a:r>
            <a:endParaRPr kumimoji="1" lang="ja-JP" altLang="en-US" dirty="0"/>
          </a:p>
        </p:txBody>
      </p:sp>
    </p:spTree>
    <p:extLst>
      <p:ext uri="{BB962C8B-B14F-4D97-AF65-F5344CB8AC3E}">
        <p14:creationId xmlns:p14="http://schemas.microsoft.com/office/powerpoint/2010/main" val="1797535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49E83-BFC9-17A2-D054-76D2C5FD3B6C}"/>
              </a:ext>
            </a:extLst>
          </p:cNvPr>
          <p:cNvSpPr>
            <a:spLocks noGrp="1"/>
          </p:cNvSpPr>
          <p:nvPr>
            <p:ph type="title"/>
          </p:nvPr>
        </p:nvSpPr>
        <p:spPr/>
        <p:txBody>
          <a:bodyPr/>
          <a:lstStyle/>
          <a:p>
            <a:r>
              <a:rPr kumimoji="1" lang="en-US" altLang="ja-JP" dirty="0"/>
              <a:t>Flood Probability (FP)</a:t>
            </a:r>
            <a:endParaRPr kumimoji="1" lang="ja-JP" alt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605D588-1F49-0B93-CCCF-70B0C419F5FE}"/>
                  </a:ext>
                </a:extLst>
              </p:cNvPr>
              <p:cNvSpPr>
                <a:spLocks noGrp="1"/>
              </p:cNvSpPr>
              <p:nvPr>
                <p:ph idx="1"/>
              </p:nvPr>
            </p:nvSpPr>
            <p:spPr>
              <a:xfrm>
                <a:off x="838200" y="1825625"/>
                <a:ext cx="10515600" cy="4820272"/>
              </a:xfrm>
            </p:spPr>
            <p:txBody>
              <a:bodyPr>
                <a:normAutofit fontScale="85000" lnSpcReduction="20000"/>
              </a:bodyPr>
              <a:lstStyle/>
              <a:p>
                <a:pPr marL="0" indent="0">
                  <a:buNone/>
                </a:pPr>
                <a:r>
                  <a:rPr kumimoji="1" lang="en-US" altLang="ja-JP" dirty="0"/>
                  <a:t>This is how we decide the threshold for sending data</a:t>
                </a:r>
              </a:p>
              <a:p>
                <a:pPr>
                  <a:buFontTx/>
                  <a:buChar char="-"/>
                </a:pPr>
                <a:r>
                  <a:rPr lang="en-US" altLang="ja-JP" dirty="0"/>
                  <a:t>Clausius Clapeyron Equation (saturation vapor pressure) </a:t>
                </a:r>
                <a:r>
                  <a:rPr lang="en-US" altLang="ja-JP" dirty="0">
                    <a:hlinkClick r:id="rId2"/>
                  </a:rPr>
                  <a:t>https://www.weather.gov/media/epz/wxcalc/rhTdFromWetBulb.pdf</a:t>
                </a:r>
                <a:endParaRPr lang="en-US" altLang="ja-JP" dirty="0"/>
              </a:p>
              <a:p>
                <a:pPr marL="0" indent="0">
                  <a:buNone/>
                </a:pPr>
                <a14:m>
                  <m:oMathPara xmlns:m="http://schemas.openxmlformats.org/officeDocument/2006/math">
                    <m:oMathParaPr>
                      <m:jc m:val="centerGroup"/>
                    </m:oMathParaPr>
                    <m:oMath xmlns:m="http://schemas.openxmlformats.org/officeDocument/2006/math">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𝑒</m:t>
                          </m:r>
                        </m:e>
                        <m:sub>
                          <m:r>
                            <a:rPr lang="en-US" altLang="ja-JP" b="0" i="1" smtClean="0">
                              <a:latin typeface="Cambria Math" panose="02040503050406030204" pitchFamily="18" charset="0"/>
                            </a:rPr>
                            <m:t>𝑠</m:t>
                          </m:r>
                        </m:sub>
                      </m:sSub>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𝑇</m:t>
                          </m:r>
                        </m:e>
                      </m:d>
                      <m:r>
                        <a:rPr lang="en-US" altLang="ja-JP" b="0" i="1" smtClean="0">
                          <a:latin typeface="Cambria Math" panose="02040503050406030204" pitchFamily="18" charset="0"/>
                        </a:rPr>
                        <m:t>=6.112∗</m:t>
                      </m:r>
                      <m:r>
                        <m:rPr>
                          <m:sty m:val="p"/>
                        </m:rPr>
                        <a:rPr lang="en-US" altLang="ja-JP" b="0" i="0" smtClean="0">
                          <a:latin typeface="Cambria Math" panose="02040503050406030204" pitchFamily="18" charset="0"/>
                        </a:rPr>
                        <m:t>exp</m:t>
                      </m:r>
                      <m:r>
                        <a:rPr lang="en-US" altLang="ja-JP" b="0" i="1" smtClean="0">
                          <a:latin typeface="Cambria Math" panose="02040503050406030204" pitchFamily="18" charset="0"/>
                        </a:rPr>
                        <m:t>⁡(</m:t>
                      </m:r>
                      <m:f>
                        <m:fPr>
                          <m:ctrlPr>
                            <a:rPr lang="en-US" altLang="ja-JP" b="0" i="1" smtClean="0">
                              <a:latin typeface="Cambria Math" panose="02040503050406030204" pitchFamily="18" charset="0"/>
                            </a:rPr>
                          </m:ctrlPr>
                        </m:fPr>
                        <m:num>
                          <m:r>
                            <a:rPr lang="en-US" altLang="ja-JP" b="0" i="1" smtClean="0">
                              <a:latin typeface="Cambria Math" panose="02040503050406030204" pitchFamily="18" charset="0"/>
                            </a:rPr>
                            <m:t>17.67</m:t>
                          </m:r>
                          <m:r>
                            <a:rPr lang="en-US" altLang="ja-JP" b="0" i="1" smtClean="0">
                              <a:latin typeface="Cambria Math" panose="02040503050406030204" pitchFamily="18" charset="0"/>
                            </a:rPr>
                            <m:t>𝑇</m:t>
                          </m:r>
                        </m:num>
                        <m:den>
                          <m:r>
                            <a:rPr lang="en-US" altLang="ja-JP" b="0" i="1" smtClean="0">
                              <a:latin typeface="Cambria Math" panose="02040503050406030204" pitchFamily="18" charset="0"/>
                            </a:rPr>
                            <m:t>𝑇</m:t>
                          </m:r>
                          <m:r>
                            <a:rPr lang="en-US" altLang="ja-JP" b="0" i="1" smtClean="0">
                              <a:latin typeface="Cambria Math" panose="02040503050406030204" pitchFamily="18" charset="0"/>
                            </a:rPr>
                            <m:t>+243.5</m:t>
                          </m:r>
                        </m:den>
                      </m:f>
                      <m:r>
                        <a:rPr lang="en-US" altLang="ja-JP" b="0" i="1" smtClean="0">
                          <a:latin typeface="Cambria Math" panose="02040503050406030204" pitchFamily="18" charset="0"/>
                        </a:rPr>
                        <m:t>)</m:t>
                      </m:r>
                    </m:oMath>
                  </m:oMathPara>
                </a14:m>
                <a:endParaRPr lang="en-US" altLang="ja-JP" dirty="0"/>
              </a:p>
              <a:p>
                <a:pPr>
                  <a:buFontTx/>
                  <a:buChar char="-"/>
                </a:pPr>
                <a:r>
                  <a:rPr lang="en-US" altLang="ja-JP" dirty="0"/>
                  <a:t>Precipitable Water (PW)</a:t>
                </a:r>
              </a:p>
              <a:p>
                <a:pPr marL="0" indent="0">
                  <a:buNone/>
                </a:pPr>
                <a14:m>
                  <m:oMathPara xmlns:m="http://schemas.openxmlformats.org/officeDocument/2006/math">
                    <m:oMathParaPr>
                      <m:jc m:val="centerGroup"/>
                    </m:oMathParaPr>
                    <m:oMath xmlns:m="http://schemas.openxmlformats.org/officeDocument/2006/math">
                      <m:r>
                        <a:rPr lang="en-US" altLang="ja-JP" b="0" i="1" smtClean="0">
                          <a:latin typeface="Cambria Math" panose="02040503050406030204" pitchFamily="18" charset="0"/>
                        </a:rPr>
                        <m:t>𝑃𝑊</m:t>
                      </m:r>
                      <m:r>
                        <a:rPr lang="en-US" altLang="ja-JP" b="0" i="1" smtClean="0">
                          <a:latin typeface="Cambria Math" panose="02040503050406030204" pitchFamily="18" charset="0"/>
                        </a:rPr>
                        <m:t>=0.1∗</m:t>
                      </m:r>
                      <m:r>
                        <a:rPr lang="en-US" altLang="ja-JP" b="0" i="1" smtClean="0">
                          <a:latin typeface="Cambria Math" panose="02040503050406030204" pitchFamily="18" charset="0"/>
                        </a:rPr>
                        <m:t>𝑅𝐻</m:t>
                      </m:r>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𝑒</m:t>
                          </m:r>
                        </m:e>
                        <m:sub>
                          <m:r>
                            <a:rPr lang="en-US" altLang="ja-JP" b="0" i="1" smtClean="0">
                              <a:latin typeface="Cambria Math" panose="02040503050406030204" pitchFamily="18" charset="0"/>
                            </a:rPr>
                            <m:t>𝑠</m:t>
                          </m:r>
                        </m:sub>
                      </m:sSub>
                      <m:r>
                        <a:rPr lang="en-US" altLang="ja-JP" b="0" i="1" smtClean="0">
                          <a:latin typeface="Cambria Math" panose="02040503050406030204" pitchFamily="18" charset="0"/>
                        </a:rPr>
                        <m:t>(</m:t>
                      </m:r>
                      <m:r>
                        <a:rPr lang="en-US" altLang="ja-JP" b="0" i="1" smtClean="0">
                          <a:latin typeface="Cambria Math" panose="02040503050406030204" pitchFamily="18" charset="0"/>
                        </a:rPr>
                        <m:t>𝑇</m:t>
                      </m:r>
                      <m:r>
                        <a:rPr lang="en-US" altLang="ja-JP" b="0" i="1" smtClean="0">
                          <a:latin typeface="Cambria Math" panose="02040503050406030204" pitchFamily="18" charset="0"/>
                        </a:rPr>
                        <m:t>)</m:t>
                      </m:r>
                    </m:oMath>
                  </m:oMathPara>
                </a14:m>
                <a:endParaRPr lang="en-US" altLang="ja-JP" dirty="0"/>
              </a:p>
              <a:p>
                <a:pPr marL="0" indent="0" algn="ctr">
                  <a:buNone/>
                </a:pPr>
                <a:r>
                  <a:rPr lang="en-US" altLang="ja-JP" dirty="0"/>
                  <a:t>(RH is the Relative Humidity; measured using DHT11 sensor)</a:t>
                </a:r>
              </a:p>
              <a:p>
                <a:pPr>
                  <a:buFontTx/>
                  <a:buChar char="-"/>
                </a:pPr>
                <a:r>
                  <a:rPr lang="en-US" altLang="ja-JP" dirty="0"/>
                  <a:t>Flood Probability (FP)</a:t>
                </a:r>
              </a:p>
              <a:p>
                <a:pPr marL="0" indent="0">
                  <a:buNone/>
                </a:pPr>
                <a14:m>
                  <m:oMathPara xmlns:m="http://schemas.openxmlformats.org/officeDocument/2006/math">
                    <m:oMathParaPr>
                      <m:jc m:val="centerGroup"/>
                    </m:oMathParaPr>
                    <m:oMath xmlns:m="http://schemas.openxmlformats.org/officeDocument/2006/math">
                      <m:r>
                        <a:rPr lang="en-US" altLang="ja-JP" b="0" i="1" smtClean="0">
                          <a:latin typeface="Cambria Math" panose="02040503050406030204" pitchFamily="18" charset="0"/>
                        </a:rPr>
                        <m:t>𝐹𝑃</m:t>
                      </m:r>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m:t>
                          </m:r>
                        </m:e>
                      </m:d>
                      <m:r>
                        <a:rPr lang="en-US" altLang="ja-JP" b="0" i="1" smtClean="0">
                          <a:latin typeface="Cambria Math" panose="02040503050406030204" pitchFamily="18" charset="0"/>
                        </a:rPr>
                        <m:t>=</m:t>
                      </m:r>
                      <m:r>
                        <a:rPr lang="en-US" altLang="ja-JP" b="0" i="1" smtClean="0">
                          <a:latin typeface="Cambria Math" panose="02040503050406030204" pitchFamily="18" charset="0"/>
                        </a:rPr>
                        <m:t>𝑘</m:t>
                      </m:r>
                      <m:r>
                        <a:rPr lang="en-US" altLang="ja-JP" b="0" i="1" smtClean="0">
                          <a:latin typeface="Cambria Math" panose="02040503050406030204" pitchFamily="18" charset="0"/>
                        </a:rPr>
                        <m:t>∗</m:t>
                      </m:r>
                      <m:r>
                        <a:rPr lang="en-US" altLang="ja-JP" b="0" i="1" smtClean="0">
                          <a:latin typeface="Cambria Math" panose="02040503050406030204" pitchFamily="18" charset="0"/>
                        </a:rPr>
                        <m:t>𝑃𝑊</m:t>
                      </m:r>
                      <m:r>
                        <a:rPr lang="en-US" altLang="ja-JP" b="0" i="1" smtClean="0">
                          <a:latin typeface="Cambria Math" panose="02040503050406030204" pitchFamily="18" charset="0"/>
                        </a:rPr>
                        <m:t>∗</m:t>
                      </m:r>
                      <m:r>
                        <a:rPr lang="en-US" altLang="ja-JP" b="0" i="1" smtClean="0">
                          <a:latin typeface="Cambria Math" panose="02040503050406030204" pitchFamily="18" charset="0"/>
                        </a:rPr>
                        <m:t>𝑅𝐻</m:t>
                      </m:r>
                      <m:r>
                        <a:rPr lang="en-US" altLang="ja-JP" b="0" i="1" smtClean="0">
                          <a:latin typeface="Cambria Math" panose="02040503050406030204" pitchFamily="18" charset="0"/>
                        </a:rPr>
                        <m:t> </m:t>
                      </m:r>
                    </m:oMath>
                  </m:oMathPara>
                </a14:m>
                <a:endParaRPr lang="en-US" altLang="ja-JP" dirty="0"/>
              </a:p>
              <a:p>
                <a:pPr marL="0" indent="0" algn="ctr">
                  <a:buNone/>
                </a:pPr>
                <a:r>
                  <a:rPr lang="en-US" altLang="ja-JP" dirty="0"/>
                  <a:t>k = 0.1~0.5</a:t>
                </a:r>
                <a:r>
                  <a:rPr lang="ja-JP" altLang="en-US" dirty="0"/>
                  <a:t>　気象庁のデータを使って回す</a:t>
                </a:r>
                <a:endParaRPr lang="en-US" altLang="ja-JP" dirty="0"/>
              </a:p>
              <a:p>
                <a:pPr marL="0" indent="0">
                  <a:buNone/>
                </a:pPr>
                <a:r>
                  <a:rPr lang="en-US" altLang="ja-JP" sz="1300" dirty="0"/>
                  <a:t>Calculation Citations:</a:t>
                </a:r>
              </a:p>
              <a:p>
                <a:pPr marL="0" indent="0">
                  <a:buNone/>
                </a:pPr>
                <a:r>
                  <a:rPr lang="en-US" altLang="ja-JP" sz="1300" dirty="0">
                    <a:hlinkClick r:id="rId3"/>
                  </a:rPr>
                  <a:t>https://pubs.acs.org/doi/pdf/10.1021/ed028p428</a:t>
                </a:r>
                <a:endParaRPr lang="en-US" altLang="ja-JP" sz="1300" dirty="0"/>
              </a:p>
              <a:p>
                <a:pPr marL="0" indent="0">
                  <a:buNone/>
                </a:pPr>
                <a:r>
                  <a:rPr lang="en-US" altLang="ja-JP" sz="1300" dirty="0">
                    <a:hlinkClick r:id="rId4"/>
                  </a:rPr>
                  <a:t>https://www.jstage.jst.go.jp/article/jmsj/98/6/98_2020-058/_html/-char/en</a:t>
                </a:r>
                <a:endParaRPr lang="en-US" altLang="ja-JP" sz="1300" dirty="0"/>
              </a:p>
              <a:p>
                <a:pPr marL="0" indent="0">
                  <a:buNone/>
                </a:pPr>
                <a:r>
                  <a:rPr lang="en-US" altLang="ja-JP" sz="1300" dirty="0">
                    <a:hlinkClick r:id="rId5"/>
                  </a:rPr>
                  <a:t>https://www.weather.gov/lmk/humidity</a:t>
                </a:r>
                <a:endParaRPr lang="en-US" altLang="ja-JP" sz="1300" dirty="0"/>
              </a:p>
              <a:p>
                <a:pPr marL="0" indent="0">
                  <a:buNone/>
                </a:pPr>
                <a:endParaRPr lang="en-US" altLang="ja-JP" sz="1300" dirty="0"/>
              </a:p>
              <a:p>
                <a:pPr marL="0" indent="0">
                  <a:buNone/>
                </a:pPr>
                <a:endParaRPr lang="en-US" altLang="ja-JP" sz="1300" dirty="0"/>
              </a:p>
            </p:txBody>
          </p:sp>
        </mc:Choice>
        <mc:Fallback>
          <p:sp>
            <p:nvSpPr>
              <p:cNvPr id="3" name="Content Placeholder 2">
                <a:extLst>
                  <a:ext uri="{FF2B5EF4-FFF2-40B4-BE49-F238E27FC236}">
                    <a16:creationId xmlns:a16="http://schemas.microsoft.com/office/drawing/2014/main" id="{B605D588-1F49-0B93-CCCF-70B0C419F5FE}"/>
                  </a:ext>
                </a:extLst>
              </p:cNvPr>
              <p:cNvSpPr>
                <a:spLocks noGrp="1" noRot="1" noChangeAspect="1" noMove="1" noResize="1" noEditPoints="1" noAdjustHandles="1" noChangeArrowheads="1" noChangeShapeType="1" noTextEdit="1"/>
              </p:cNvSpPr>
              <p:nvPr>
                <p:ph idx="1"/>
              </p:nvPr>
            </p:nvSpPr>
            <p:spPr>
              <a:xfrm>
                <a:off x="838200" y="1825625"/>
                <a:ext cx="10515600" cy="4820272"/>
              </a:xfrm>
              <a:blipFill>
                <a:blip r:embed="rId6"/>
                <a:stretch>
                  <a:fillRect l="-1043" t="-2781" b="-25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452048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C149896-4825-4E9A-71B4-58ACF75E6564}"/>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6F2204-757C-A5ED-3FAD-38013DF69756}"/>
              </a:ext>
            </a:extLst>
          </p:cNvPr>
          <p:cNvSpPr>
            <a:spLocks noGrp="1"/>
          </p:cNvSpPr>
          <p:nvPr>
            <p:ph type="title"/>
          </p:nvPr>
        </p:nvSpPr>
        <p:spPr>
          <a:xfrm>
            <a:off x="1113810" y="2960716"/>
            <a:ext cx="4036334" cy="2387600"/>
          </a:xfrm>
        </p:spPr>
        <p:txBody>
          <a:bodyPr vert="horz" lIns="91440" tIns="45720" rIns="91440" bIns="45720" rtlCol="0" anchor="t">
            <a:normAutofit/>
          </a:bodyPr>
          <a:lstStyle/>
          <a:p>
            <a:r>
              <a:rPr kumimoji="1" lang="en-US" altLang="ja-JP" sz="5400" kern="1200" dirty="0">
                <a:solidFill>
                  <a:schemeClr val="tx1"/>
                </a:solidFill>
                <a:latin typeface="+mj-lt"/>
                <a:ea typeface="+mj-ea"/>
                <a:cs typeface="+mj-cs"/>
              </a:rPr>
              <a:t>Flood Probability (FP)</a:t>
            </a:r>
          </a:p>
        </p:txBody>
      </p:sp>
      <p:grpSp>
        <p:nvGrpSpPr>
          <p:cNvPr id="15" name="Group 14">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16" name="Rectangle 15">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9">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screenshot of a computer screen&#10;&#10;AI-generated content may be incorrect.">
            <a:extLst>
              <a:ext uri="{FF2B5EF4-FFF2-40B4-BE49-F238E27FC236}">
                <a16:creationId xmlns:a16="http://schemas.microsoft.com/office/drawing/2014/main" id="{172E7DAC-FB46-6D31-E76E-9BDFFD69EF94}"/>
              </a:ext>
            </a:extLst>
          </p:cNvPr>
          <p:cNvPicPr>
            <a:picLocks noChangeAspect="1"/>
          </p:cNvPicPr>
          <p:nvPr/>
        </p:nvPicPr>
        <p:blipFill>
          <a:blip r:embed="rId2"/>
          <a:stretch>
            <a:fillRect/>
          </a:stretch>
        </p:blipFill>
        <p:spPr>
          <a:xfrm>
            <a:off x="5922492" y="1199063"/>
            <a:ext cx="5536001" cy="4401120"/>
          </a:xfrm>
          <a:prstGeom prst="rect">
            <a:avLst/>
          </a:prstGeom>
        </p:spPr>
      </p:pic>
      <p:sp>
        <p:nvSpPr>
          <p:cNvPr id="9" name="Rectangle 8">
            <a:extLst>
              <a:ext uri="{FF2B5EF4-FFF2-40B4-BE49-F238E27FC236}">
                <a16:creationId xmlns:a16="http://schemas.microsoft.com/office/drawing/2014/main" id="{D62B3296-C2DF-1F9D-B0B7-86098FFFE4B3}"/>
              </a:ext>
            </a:extLst>
          </p:cNvPr>
          <p:cNvSpPr/>
          <p:nvPr/>
        </p:nvSpPr>
        <p:spPr>
          <a:xfrm>
            <a:off x="5917557" y="2318993"/>
            <a:ext cx="3874416" cy="88612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Rectangle 9">
            <a:extLst>
              <a:ext uri="{FF2B5EF4-FFF2-40B4-BE49-F238E27FC236}">
                <a16:creationId xmlns:a16="http://schemas.microsoft.com/office/drawing/2014/main" id="{AD7C4A76-E2CA-6062-0F2C-C353C94C62BC}"/>
              </a:ext>
            </a:extLst>
          </p:cNvPr>
          <p:cNvSpPr/>
          <p:nvPr/>
        </p:nvSpPr>
        <p:spPr>
          <a:xfrm>
            <a:off x="5903606" y="3881983"/>
            <a:ext cx="3874416" cy="624029"/>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Arrow: Right 10">
            <a:extLst>
              <a:ext uri="{FF2B5EF4-FFF2-40B4-BE49-F238E27FC236}">
                <a16:creationId xmlns:a16="http://schemas.microsoft.com/office/drawing/2014/main" id="{2424395E-5F8C-40EA-E856-A89CFD22A478}"/>
              </a:ext>
            </a:extLst>
          </p:cNvPr>
          <p:cNvSpPr/>
          <p:nvPr/>
        </p:nvSpPr>
        <p:spPr>
          <a:xfrm>
            <a:off x="9961262" y="2596734"/>
            <a:ext cx="468575" cy="330638"/>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Title 1">
            <a:extLst>
              <a:ext uri="{FF2B5EF4-FFF2-40B4-BE49-F238E27FC236}">
                <a16:creationId xmlns:a16="http://schemas.microsoft.com/office/drawing/2014/main" id="{EFB641F3-0F10-C59B-6F57-BB7F9083E709}"/>
              </a:ext>
            </a:extLst>
          </p:cNvPr>
          <p:cNvSpPr txBox="1">
            <a:spLocks/>
          </p:cNvSpPr>
          <p:nvPr/>
        </p:nvSpPr>
        <p:spPr>
          <a:xfrm>
            <a:off x="10482516" y="2504854"/>
            <a:ext cx="994863" cy="480138"/>
          </a:xfrm>
          <a:prstGeom prst="rect">
            <a:avLst/>
          </a:prstGeom>
        </p:spPr>
        <p:txBody>
          <a:bodyPr vert="horz" lIns="91440" tIns="45720" rIns="91440" bIns="45720" rtlCol="0" anchor="t">
            <a:normAutofit fontScale="92500" lnSpcReduction="100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200" b="1" dirty="0"/>
              <a:t>sent</a:t>
            </a:r>
          </a:p>
        </p:txBody>
      </p:sp>
      <p:sp>
        <p:nvSpPr>
          <p:cNvPr id="24" name="Arrow: Right 23">
            <a:extLst>
              <a:ext uri="{FF2B5EF4-FFF2-40B4-BE49-F238E27FC236}">
                <a16:creationId xmlns:a16="http://schemas.microsoft.com/office/drawing/2014/main" id="{05C7051F-198C-DBE4-F689-B125197E233C}"/>
              </a:ext>
            </a:extLst>
          </p:cNvPr>
          <p:cNvSpPr/>
          <p:nvPr/>
        </p:nvSpPr>
        <p:spPr>
          <a:xfrm>
            <a:off x="9995012" y="4022509"/>
            <a:ext cx="468575" cy="330638"/>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Title 1">
            <a:extLst>
              <a:ext uri="{FF2B5EF4-FFF2-40B4-BE49-F238E27FC236}">
                <a16:creationId xmlns:a16="http://schemas.microsoft.com/office/drawing/2014/main" id="{113DF8D3-6245-787F-364E-A85BDC067A70}"/>
              </a:ext>
            </a:extLst>
          </p:cNvPr>
          <p:cNvSpPr txBox="1">
            <a:spLocks/>
          </p:cNvSpPr>
          <p:nvPr/>
        </p:nvSpPr>
        <p:spPr>
          <a:xfrm>
            <a:off x="10516266" y="3930629"/>
            <a:ext cx="961113" cy="867614"/>
          </a:xfrm>
          <a:prstGeom prst="rect">
            <a:avLst/>
          </a:prstGeom>
        </p:spPr>
        <p:txBody>
          <a:bodyPr vert="horz" lIns="91440" tIns="45720" rIns="91440" bIns="45720" rtlCol="0" anchor="t">
            <a:normAutofit fontScale="92500" lnSpcReduction="100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200" b="1" dirty="0"/>
              <a:t>Not sent</a:t>
            </a:r>
          </a:p>
        </p:txBody>
      </p:sp>
    </p:spTree>
    <p:extLst>
      <p:ext uri="{BB962C8B-B14F-4D97-AF65-F5344CB8AC3E}">
        <p14:creationId xmlns:p14="http://schemas.microsoft.com/office/powerpoint/2010/main" val="14128890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665C0-9EEA-5B2D-A887-DB571939BCDC}"/>
              </a:ext>
            </a:extLst>
          </p:cNvPr>
          <p:cNvSpPr>
            <a:spLocks noGrp="1"/>
          </p:cNvSpPr>
          <p:nvPr>
            <p:ph type="title"/>
          </p:nvPr>
        </p:nvSpPr>
        <p:spPr/>
        <p:txBody>
          <a:bodyPr/>
          <a:lstStyle/>
          <a:p>
            <a:r>
              <a:rPr kumimoji="1" lang="en-US" altLang="ja-JP" dirty="0"/>
              <a:t>Huffman table α</a:t>
            </a:r>
            <a:endParaRPr kumimoji="1" lang="ja-JP" altLang="en-US" dirty="0"/>
          </a:p>
        </p:txBody>
      </p:sp>
      <p:sp>
        <p:nvSpPr>
          <p:cNvPr id="3" name="Content Placeholder 2">
            <a:extLst>
              <a:ext uri="{FF2B5EF4-FFF2-40B4-BE49-F238E27FC236}">
                <a16:creationId xmlns:a16="http://schemas.microsoft.com/office/drawing/2014/main" id="{8E407B2E-BC4E-86EB-092E-8AFCD8228ABA}"/>
              </a:ext>
            </a:extLst>
          </p:cNvPr>
          <p:cNvSpPr>
            <a:spLocks noGrp="1"/>
          </p:cNvSpPr>
          <p:nvPr>
            <p:ph idx="1"/>
          </p:nvPr>
        </p:nvSpPr>
        <p:spPr/>
        <p:txBody>
          <a:bodyPr/>
          <a:lstStyle/>
          <a:p>
            <a:r>
              <a:rPr kumimoji="1" lang="en-US" altLang="ja-JP" dirty="0"/>
              <a:t>Used to compress raw data</a:t>
            </a:r>
            <a:endParaRPr lang="en-US" altLang="ja-JP" dirty="0"/>
          </a:p>
          <a:p>
            <a:r>
              <a:rPr kumimoji="1" lang="en-US" altLang="ja-JP" dirty="0"/>
              <a:t>Either use the static table proposed in the current research, or create a dynamic table given </a:t>
            </a:r>
            <a:r>
              <a:rPr lang="en-US" altLang="ja-JP" dirty="0"/>
              <a:t>a </a:t>
            </a:r>
            <a:r>
              <a:rPr kumimoji="1" lang="en-US" altLang="ja-JP" dirty="0"/>
              <a:t>weight to the threshold</a:t>
            </a:r>
          </a:p>
          <a:p>
            <a:r>
              <a:rPr lang="en-US" altLang="ja-JP" dirty="0"/>
              <a:t>Since it is only 3 data that is being sent using this method, we may use another approach with less calculation required</a:t>
            </a:r>
          </a:p>
        </p:txBody>
      </p:sp>
    </p:spTree>
    <p:extLst>
      <p:ext uri="{BB962C8B-B14F-4D97-AF65-F5344CB8AC3E}">
        <p14:creationId xmlns:p14="http://schemas.microsoft.com/office/powerpoint/2010/main" val="34941734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533D3-A671-DE78-DBC7-25738FA1A2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6EAF7B-5365-3904-3656-21CC4AE5E2DA}"/>
              </a:ext>
            </a:extLst>
          </p:cNvPr>
          <p:cNvSpPr>
            <a:spLocks noGrp="1"/>
          </p:cNvSpPr>
          <p:nvPr>
            <p:ph type="title"/>
          </p:nvPr>
        </p:nvSpPr>
        <p:spPr/>
        <p:txBody>
          <a:bodyPr/>
          <a:lstStyle/>
          <a:p>
            <a:r>
              <a:rPr kumimoji="1" lang="en-US" altLang="ja-JP" dirty="0"/>
              <a:t>Huffman table β</a:t>
            </a:r>
            <a:endParaRPr kumimoji="1" lang="ja-JP" alt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8BF6756-FF73-9662-98B8-B95841F2C81A}"/>
                  </a:ext>
                </a:extLst>
              </p:cNvPr>
              <p:cNvSpPr>
                <a:spLocks noGrp="1"/>
              </p:cNvSpPr>
              <p:nvPr>
                <p:ph idx="1"/>
              </p:nvPr>
            </p:nvSpPr>
            <p:spPr/>
            <p:txBody>
              <a:bodyPr/>
              <a:lstStyle/>
              <a:p>
                <a:r>
                  <a:rPr lang="en-US" altLang="ja-JP" dirty="0"/>
                  <a:t>Taking the equation from the paper, “Data Compression in Wireless Sensor Nodes with LoRa”</a:t>
                </a:r>
              </a:p>
              <a:p>
                <a:pPr marL="0" indent="0">
                  <a:buNone/>
                </a:pPr>
                <a14:m>
                  <m:oMathPara xmlns:m="http://schemas.openxmlformats.org/officeDocument/2006/math">
                    <m:oMathParaPr>
                      <m:jc m:val="centerGroup"/>
                    </m:oMathParaPr>
                    <m:oMath xmlns:m="http://schemas.openxmlformats.org/officeDocument/2006/math">
                      <m:acc>
                        <m:accPr>
                          <m:chr m:val="̂"/>
                          <m:ctrlPr>
                            <a:rPr lang="en-US" altLang="ja-JP" b="0" i="1" smtClean="0">
                              <a:latin typeface="Cambria Math" panose="02040503050406030204" pitchFamily="18" charset="0"/>
                            </a:rPr>
                          </m:ctrlPr>
                        </m:accPr>
                        <m:e>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𝑣</m:t>
                              </m:r>
                            </m:e>
                            <m:sub>
                              <m:r>
                                <a:rPr lang="en-US" altLang="ja-JP" b="0" i="1" smtClean="0">
                                  <a:latin typeface="Cambria Math" panose="02040503050406030204" pitchFamily="18" charset="0"/>
                                </a:rPr>
                                <m:t>𝑖</m:t>
                              </m:r>
                            </m:sub>
                          </m:sSub>
                        </m:e>
                      </m:acc>
                      <m:r>
                        <a:rPr lang="en-US" altLang="ja-JP" b="0" i="1" smtClean="0">
                          <a:latin typeface="Cambria Math" panose="02040503050406030204" pitchFamily="18" charset="0"/>
                        </a:rPr>
                        <m:t>=</m:t>
                      </m:r>
                      <m:f>
                        <m:fPr>
                          <m:ctrlPr>
                            <a:rPr lang="en-US" altLang="ja-JP" b="0" i="1" smtClean="0">
                              <a:latin typeface="Cambria Math" panose="02040503050406030204" pitchFamily="18" charset="0"/>
                            </a:rPr>
                          </m:ctrlPr>
                        </m:fPr>
                        <m:num>
                          <m:r>
                            <a:rPr lang="en-US" altLang="ja-JP" b="0" i="1" smtClean="0">
                              <a:latin typeface="Cambria Math" panose="02040503050406030204" pitchFamily="18" charset="0"/>
                            </a:rPr>
                            <m:t>5</m:t>
                          </m:r>
                        </m:num>
                        <m:den>
                          <m:r>
                            <a:rPr lang="en-US" altLang="ja-JP" b="0" i="1" smtClean="0">
                              <a:latin typeface="Cambria Math" panose="02040503050406030204" pitchFamily="18" charset="0"/>
                            </a:rPr>
                            <m:t>4</m:t>
                          </m:r>
                        </m:den>
                      </m:f>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𝑣</m:t>
                          </m:r>
                        </m:e>
                        <m:sub>
                          <m:r>
                            <a:rPr lang="en-US" altLang="ja-JP" b="0" i="1" smtClean="0">
                              <a:latin typeface="Cambria Math" panose="02040503050406030204" pitchFamily="18" charset="0"/>
                            </a:rPr>
                            <m:t>𝑖</m:t>
                          </m:r>
                          <m:r>
                            <a:rPr lang="en-US" altLang="ja-JP" b="0" i="1" smtClean="0">
                              <a:latin typeface="Cambria Math" panose="02040503050406030204" pitchFamily="18" charset="0"/>
                            </a:rPr>
                            <m:t>−1</m:t>
                          </m:r>
                        </m:sub>
                      </m:sSub>
                      <m:r>
                        <a:rPr lang="en-US" altLang="ja-JP" b="0" i="1" smtClean="0">
                          <a:latin typeface="Cambria Math" panose="02040503050406030204" pitchFamily="18" charset="0"/>
                        </a:rPr>
                        <m:t>+</m:t>
                      </m:r>
                      <m:f>
                        <m:fPr>
                          <m:ctrlPr>
                            <a:rPr lang="en-US" altLang="ja-JP" b="0" i="1" smtClean="0">
                              <a:latin typeface="Cambria Math" panose="02040503050406030204" pitchFamily="18" charset="0"/>
                            </a:rPr>
                          </m:ctrlPr>
                        </m:fPr>
                        <m:num>
                          <m:r>
                            <a:rPr lang="en-US" altLang="ja-JP" b="0" i="1" smtClean="0">
                              <a:latin typeface="Cambria Math" panose="02040503050406030204" pitchFamily="18" charset="0"/>
                            </a:rPr>
                            <m:t>1</m:t>
                          </m:r>
                        </m:num>
                        <m:den>
                          <m:r>
                            <a:rPr lang="en-US" altLang="ja-JP" b="0" i="1" smtClean="0">
                              <a:latin typeface="Cambria Math" panose="02040503050406030204" pitchFamily="18" charset="0"/>
                            </a:rPr>
                            <m:t>2</m:t>
                          </m:r>
                        </m:den>
                      </m:f>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𝑣</m:t>
                          </m:r>
                        </m:e>
                        <m:sub>
                          <m:r>
                            <a:rPr lang="en-US" altLang="ja-JP" b="0" i="1" smtClean="0">
                              <a:latin typeface="Cambria Math" panose="02040503050406030204" pitchFamily="18" charset="0"/>
                            </a:rPr>
                            <m:t>𝑖</m:t>
                          </m:r>
                          <m:r>
                            <a:rPr lang="en-US" altLang="ja-JP" b="0" i="1" smtClean="0">
                              <a:latin typeface="Cambria Math" panose="02040503050406030204" pitchFamily="18" charset="0"/>
                            </a:rPr>
                            <m:t>−2</m:t>
                          </m:r>
                        </m:sub>
                      </m:sSub>
                      <m:r>
                        <a:rPr lang="en-US" altLang="ja-JP" b="0" i="1" smtClean="0">
                          <a:latin typeface="Cambria Math" panose="02040503050406030204" pitchFamily="18" charset="0"/>
                        </a:rPr>
                        <m:t>−</m:t>
                      </m:r>
                      <m:f>
                        <m:fPr>
                          <m:ctrlPr>
                            <a:rPr lang="en-US" altLang="ja-JP" b="0" i="1" smtClean="0">
                              <a:latin typeface="Cambria Math" panose="02040503050406030204" pitchFamily="18" charset="0"/>
                            </a:rPr>
                          </m:ctrlPr>
                        </m:fPr>
                        <m:num>
                          <m:r>
                            <a:rPr lang="en-US" altLang="ja-JP" b="0" i="1" smtClean="0">
                              <a:latin typeface="Cambria Math" panose="02040503050406030204" pitchFamily="18" charset="0"/>
                            </a:rPr>
                            <m:t>3</m:t>
                          </m:r>
                        </m:num>
                        <m:den>
                          <m:r>
                            <a:rPr lang="en-US" altLang="ja-JP" b="0" i="1" smtClean="0">
                              <a:latin typeface="Cambria Math" panose="02040503050406030204" pitchFamily="18" charset="0"/>
                            </a:rPr>
                            <m:t>4</m:t>
                          </m:r>
                        </m:den>
                      </m:f>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𝑣</m:t>
                          </m:r>
                        </m:e>
                        <m:sub>
                          <m:r>
                            <a:rPr lang="en-US" altLang="ja-JP" b="0" i="1" smtClean="0">
                              <a:latin typeface="Cambria Math" panose="02040503050406030204" pitchFamily="18" charset="0"/>
                            </a:rPr>
                            <m:t>𝑖</m:t>
                          </m:r>
                          <m:r>
                            <a:rPr lang="en-US" altLang="ja-JP" b="0" i="1" smtClean="0">
                              <a:latin typeface="Cambria Math" panose="02040503050406030204" pitchFamily="18" charset="0"/>
                            </a:rPr>
                            <m:t>−3</m:t>
                          </m:r>
                        </m:sub>
                      </m:sSub>
                    </m:oMath>
                  </m:oMathPara>
                </a14:m>
                <a:endParaRPr lang="en-US" altLang="ja-JP" dirty="0"/>
              </a:p>
              <a:p>
                <a:r>
                  <a:rPr lang="en-US" altLang="ja-JP" dirty="0"/>
                  <a:t>Use the equation above to calculate estimation of the next data. Compare it to the actual data and only send its difference (difference method)</a:t>
                </a:r>
              </a:p>
              <a:p>
                <a:r>
                  <a:rPr lang="en-US" altLang="ja-JP" dirty="0"/>
                  <a:t>Huffman table β will use the likelihood for this difference</a:t>
                </a:r>
              </a:p>
              <a:p>
                <a:pPr marL="0" indent="0">
                  <a:buNone/>
                </a:pPr>
                <a:endParaRPr lang="en-US" altLang="ja-JP" dirty="0"/>
              </a:p>
            </p:txBody>
          </p:sp>
        </mc:Choice>
        <mc:Fallback xmlns="">
          <p:sp>
            <p:nvSpPr>
              <p:cNvPr id="3" name="Content Placeholder 2">
                <a:extLst>
                  <a:ext uri="{FF2B5EF4-FFF2-40B4-BE49-F238E27FC236}">
                    <a16:creationId xmlns:a16="http://schemas.microsoft.com/office/drawing/2014/main" id="{38BF6756-FF73-9662-98B8-B95841F2C81A}"/>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EDE38163-8C6C-D79E-2CBE-0ACD4CE92A27}"/>
                  </a:ext>
                </a:extLst>
              </p:cNvPr>
              <p:cNvGraphicFramePr>
                <a:graphicFrameLocks noGrp="1"/>
              </p:cNvGraphicFramePr>
              <p:nvPr>
                <p:extLst>
                  <p:ext uri="{D42A27DB-BD31-4B8C-83A1-F6EECF244321}">
                    <p14:modId xmlns:p14="http://schemas.microsoft.com/office/powerpoint/2010/main" val="2173654862"/>
                  </p:ext>
                </p:extLst>
              </p:nvPr>
            </p:nvGraphicFramePr>
            <p:xfrm>
              <a:off x="2398466" y="5304942"/>
              <a:ext cx="7395067" cy="1352233"/>
            </p:xfrm>
            <a:graphic>
              <a:graphicData uri="http://schemas.openxmlformats.org/drawingml/2006/table">
                <a:tbl>
                  <a:tblPr firstRow="1" bandRow="1">
                    <a:tableStyleId>{073A0DAA-6AF3-43AB-8588-CEC1D06C72B9}</a:tableStyleId>
                  </a:tblPr>
                  <a:tblGrid>
                    <a:gridCol w="1541956">
                      <a:extLst>
                        <a:ext uri="{9D8B030D-6E8A-4147-A177-3AD203B41FA5}">
                          <a16:colId xmlns:a16="http://schemas.microsoft.com/office/drawing/2014/main" val="2740683806"/>
                        </a:ext>
                      </a:extLst>
                    </a:gridCol>
                    <a:gridCol w="475869">
                      <a:extLst>
                        <a:ext uri="{9D8B030D-6E8A-4147-A177-3AD203B41FA5}">
                          <a16:colId xmlns:a16="http://schemas.microsoft.com/office/drawing/2014/main" val="871978231"/>
                        </a:ext>
                      </a:extLst>
                    </a:gridCol>
                    <a:gridCol w="470598">
                      <a:extLst>
                        <a:ext uri="{9D8B030D-6E8A-4147-A177-3AD203B41FA5}">
                          <a16:colId xmlns:a16="http://schemas.microsoft.com/office/drawing/2014/main" val="1249668977"/>
                        </a:ext>
                      </a:extLst>
                    </a:gridCol>
                    <a:gridCol w="475869">
                      <a:extLst>
                        <a:ext uri="{9D8B030D-6E8A-4147-A177-3AD203B41FA5}">
                          <a16:colId xmlns:a16="http://schemas.microsoft.com/office/drawing/2014/main" val="1288090506"/>
                        </a:ext>
                      </a:extLst>
                    </a:gridCol>
                    <a:gridCol w="2494153">
                      <a:extLst>
                        <a:ext uri="{9D8B030D-6E8A-4147-A177-3AD203B41FA5}">
                          <a16:colId xmlns:a16="http://schemas.microsoft.com/office/drawing/2014/main" val="1987903996"/>
                        </a:ext>
                      </a:extLst>
                    </a:gridCol>
                    <a:gridCol w="959802">
                      <a:extLst>
                        <a:ext uri="{9D8B030D-6E8A-4147-A177-3AD203B41FA5}">
                          <a16:colId xmlns:a16="http://schemas.microsoft.com/office/drawing/2014/main" val="1223118109"/>
                        </a:ext>
                      </a:extLst>
                    </a:gridCol>
                    <a:gridCol w="976820">
                      <a:extLst>
                        <a:ext uri="{9D8B030D-6E8A-4147-A177-3AD203B41FA5}">
                          <a16:colId xmlns:a16="http://schemas.microsoft.com/office/drawing/2014/main" val="2207815020"/>
                        </a:ext>
                      </a:extLst>
                    </a:gridCol>
                  </a:tblGrid>
                  <a:tr h="370840">
                    <a:tc>
                      <a:txBody>
                        <a:bodyPr/>
                        <a:lstStyle/>
                        <a:p>
                          <a:r>
                            <a:rPr kumimoji="1" lang="en-US" altLang="ja-JP" b="0" dirty="0">
                              <a:solidFill>
                                <a:schemeClr val="tx1"/>
                              </a:solidFill>
                            </a:rPr>
                            <a:t>Actual Data</a:t>
                          </a:r>
                          <a:endParaRPr kumimoji="1" lang="ja-JP"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4D4D4"/>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ja-JP" b="0" i="1" smtClean="0">
                                        <a:solidFill>
                                          <a:schemeClr val="tx1"/>
                                        </a:solidFill>
                                        <a:latin typeface="Cambria Math" panose="02040503050406030204" pitchFamily="18" charset="0"/>
                                      </a:rPr>
                                    </m:ctrlPr>
                                  </m:sSubPr>
                                  <m:e>
                                    <m:r>
                                      <a:rPr lang="en-US" altLang="ja-JP" b="0" i="1" smtClean="0">
                                        <a:solidFill>
                                          <a:schemeClr val="tx1"/>
                                        </a:solidFill>
                                        <a:latin typeface="Cambria Math" panose="02040503050406030204" pitchFamily="18" charset="0"/>
                                      </a:rPr>
                                      <m:t>𝑣</m:t>
                                    </m:r>
                                  </m:e>
                                  <m:sub>
                                    <m:r>
                                      <a:rPr lang="en-US" altLang="ja-JP" b="0" i="1" smtClean="0">
                                        <a:solidFill>
                                          <a:schemeClr val="tx1"/>
                                        </a:solidFill>
                                        <a:latin typeface="Cambria Math" panose="02040503050406030204" pitchFamily="18" charset="0"/>
                                      </a:rPr>
                                      <m:t>0</m:t>
                                    </m:r>
                                  </m:sub>
                                </m:sSub>
                              </m:oMath>
                            </m:oMathPara>
                          </a14:m>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ja-JP" b="0" i="1" smtClean="0">
                                        <a:solidFill>
                                          <a:schemeClr val="tx1"/>
                                        </a:solidFill>
                                        <a:latin typeface="Cambria Math" panose="02040503050406030204" pitchFamily="18" charset="0"/>
                                      </a:rPr>
                                    </m:ctrlPr>
                                  </m:sSubPr>
                                  <m:e>
                                    <m:r>
                                      <a:rPr lang="en-US" altLang="ja-JP" b="0" i="1" smtClean="0">
                                        <a:solidFill>
                                          <a:schemeClr val="tx1"/>
                                        </a:solidFill>
                                        <a:latin typeface="Cambria Math" panose="02040503050406030204" pitchFamily="18" charset="0"/>
                                      </a:rPr>
                                      <m:t>𝑣</m:t>
                                    </m:r>
                                  </m:e>
                                  <m:sub>
                                    <m:r>
                                      <a:rPr lang="en-US" altLang="ja-JP" b="0" i="1" smtClean="0">
                                        <a:solidFill>
                                          <a:schemeClr val="tx1"/>
                                        </a:solidFill>
                                        <a:latin typeface="Cambria Math" panose="02040503050406030204" pitchFamily="18" charset="0"/>
                                      </a:rPr>
                                      <m:t>1</m:t>
                                    </m:r>
                                  </m:sub>
                                </m:sSub>
                              </m:oMath>
                            </m:oMathPara>
                          </a14:m>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ja-JP" b="0" i="1" smtClean="0">
                                        <a:solidFill>
                                          <a:schemeClr val="tx1"/>
                                        </a:solidFill>
                                        <a:latin typeface="Cambria Math" panose="02040503050406030204" pitchFamily="18" charset="0"/>
                                      </a:rPr>
                                    </m:ctrlPr>
                                  </m:sSubPr>
                                  <m:e>
                                    <m:r>
                                      <a:rPr lang="en-US" altLang="ja-JP" b="0" i="1" smtClean="0">
                                        <a:solidFill>
                                          <a:schemeClr val="tx1"/>
                                        </a:solidFill>
                                        <a:latin typeface="Cambria Math" panose="02040503050406030204" pitchFamily="18" charset="0"/>
                                      </a:rPr>
                                      <m:t>𝑣</m:t>
                                    </m:r>
                                  </m:e>
                                  <m:sub>
                                    <m:r>
                                      <a:rPr lang="en-US" altLang="ja-JP" b="0" i="1" smtClean="0">
                                        <a:solidFill>
                                          <a:schemeClr val="tx1"/>
                                        </a:solidFill>
                                        <a:latin typeface="Cambria Math" panose="02040503050406030204" pitchFamily="18" charset="0"/>
                                      </a:rPr>
                                      <m:t>2</m:t>
                                    </m:r>
                                  </m:sub>
                                </m:sSub>
                              </m:oMath>
                            </m:oMathPara>
                          </a14:m>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ja-JP" b="0" i="1" smtClean="0">
                                        <a:solidFill>
                                          <a:schemeClr val="tx1"/>
                                        </a:solidFill>
                                        <a:latin typeface="Cambria Math" panose="02040503050406030204" pitchFamily="18" charset="0"/>
                                      </a:rPr>
                                    </m:ctrlPr>
                                  </m:sSubPr>
                                  <m:e>
                                    <m:r>
                                      <a:rPr lang="en-US" altLang="ja-JP" b="0" i="1" smtClean="0">
                                        <a:solidFill>
                                          <a:schemeClr val="tx1"/>
                                        </a:solidFill>
                                        <a:latin typeface="Cambria Math" panose="02040503050406030204" pitchFamily="18" charset="0"/>
                                      </a:rPr>
                                      <m:t>𝑣</m:t>
                                    </m:r>
                                  </m:e>
                                  <m:sub>
                                    <m:r>
                                      <a:rPr lang="en-US" altLang="ja-JP" b="0" i="1" smtClean="0">
                                        <a:solidFill>
                                          <a:schemeClr val="tx1"/>
                                        </a:solidFill>
                                        <a:latin typeface="Cambria Math" panose="02040503050406030204" pitchFamily="18" charset="0"/>
                                      </a:rPr>
                                      <m:t>3</m:t>
                                    </m:r>
                                  </m:sub>
                                </m:sSub>
                              </m:oMath>
                            </m:oMathPara>
                          </a14:m>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ja-JP" b="0" i="1" smtClean="0">
                                        <a:solidFill>
                                          <a:schemeClr val="tx1"/>
                                        </a:solidFill>
                                        <a:latin typeface="Cambria Math" panose="02040503050406030204" pitchFamily="18" charset="0"/>
                                      </a:rPr>
                                    </m:ctrlPr>
                                  </m:sSubPr>
                                  <m:e>
                                    <m:r>
                                      <a:rPr lang="en-US" altLang="ja-JP" b="0" i="1" smtClean="0">
                                        <a:solidFill>
                                          <a:schemeClr val="tx1"/>
                                        </a:solidFill>
                                        <a:latin typeface="Cambria Math" panose="02040503050406030204" pitchFamily="18" charset="0"/>
                                      </a:rPr>
                                      <m:t>𝑣</m:t>
                                    </m:r>
                                  </m:e>
                                  <m:sub>
                                    <m:r>
                                      <a:rPr lang="en-US" altLang="ja-JP" b="0" i="1" smtClean="0">
                                        <a:solidFill>
                                          <a:schemeClr val="tx1"/>
                                        </a:solidFill>
                                        <a:latin typeface="Cambria Math" panose="02040503050406030204" pitchFamily="18" charset="0"/>
                                      </a:rPr>
                                      <m:t>4</m:t>
                                    </m:r>
                                  </m:sub>
                                </m:sSub>
                              </m:oMath>
                            </m:oMathPara>
                          </a14:m>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ja-JP" b="0" i="1" smtClean="0">
                                        <a:solidFill>
                                          <a:schemeClr val="tx1"/>
                                        </a:solidFill>
                                        <a:latin typeface="Cambria Math" panose="02040503050406030204" pitchFamily="18" charset="0"/>
                                      </a:rPr>
                                    </m:ctrlPr>
                                  </m:sSubPr>
                                  <m:e>
                                    <m:r>
                                      <a:rPr lang="en-US" altLang="ja-JP" b="0" i="1" smtClean="0">
                                        <a:solidFill>
                                          <a:schemeClr val="tx1"/>
                                        </a:solidFill>
                                        <a:latin typeface="Cambria Math" panose="02040503050406030204" pitchFamily="18" charset="0"/>
                                      </a:rPr>
                                      <m:t>𝑣</m:t>
                                    </m:r>
                                  </m:e>
                                  <m:sub>
                                    <m:r>
                                      <a:rPr lang="en-US" altLang="ja-JP" b="0" i="1" smtClean="0">
                                        <a:solidFill>
                                          <a:schemeClr val="tx1"/>
                                        </a:solidFill>
                                        <a:latin typeface="Cambria Math" panose="02040503050406030204" pitchFamily="18" charset="0"/>
                                      </a:rPr>
                                      <m:t>5</m:t>
                                    </m:r>
                                  </m:sub>
                                </m:sSub>
                              </m:oMath>
                            </m:oMathPara>
                          </a14:m>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3181240"/>
                      </a:ext>
                    </a:extLst>
                  </a:tr>
                  <a:tr h="366801">
                    <a:tc>
                      <a:txBody>
                        <a:bodyPr/>
                        <a:lstStyle/>
                        <a:p>
                          <a:r>
                            <a:rPr kumimoji="1" lang="en-US" altLang="ja-JP" b="0" dirty="0">
                              <a:solidFill>
                                <a:schemeClr val="tx1"/>
                              </a:solidFill>
                            </a:rPr>
                            <a:t>Estimate</a:t>
                          </a:r>
                          <a:endParaRPr kumimoji="1" lang="ja-JP"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4D4D4"/>
                        </a:solidFill>
                      </a:tcPr>
                    </a:tc>
                    <a:tc>
                      <a:txBody>
                        <a:bodyPr/>
                        <a:lstStyle/>
                        <a:p>
                          <a:r>
                            <a:rPr kumimoji="1" lang="en-US" altLang="ja-JP" dirty="0">
                              <a:solidFill>
                                <a:schemeClr val="tx1"/>
                              </a:solidFill>
                            </a:rPr>
                            <a:t>-</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dirty="0">
                              <a:solidFill>
                                <a:schemeClr val="tx1"/>
                              </a:solidFill>
                            </a:rPr>
                            <a:t>-</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dirty="0">
                              <a:solidFill>
                                <a:schemeClr val="tx1"/>
                              </a:solidFill>
                            </a:rPr>
                            <a:t>-</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lang="en-US" altLang="ja-JP" b="0" i="1" smtClean="0">
                                        <a:latin typeface="Cambria Math" panose="02040503050406030204" pitchFamily="18" charset="0"/>
                                      </a:rPr>
                                    </m:ctrlPr>
                                  </m:accPr>
                                  <m:e>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𝑣</m:t>
                                        </m:r>
                                      </m:e>
                                      <m:sub>
                                        <m:r>
                                          <a:rPr lang="en-US" altLang="ja-JP" b="0" i="1" smtClean="0">
                                            <a:latin typeface="Cambria Math" panose="02040503050406030204" pitchFamily="18" charset="0"/>
                                          </a:rPr>
                                          <m:t>3</m:t>
                                        </m:r>
                                      </m:sub>
                                    </m:sSub>
                                  </m:e>
                                </m:acc>
                                <m:r>
                                  <a:rPr lang="en-US" altLang="ja-JP" b="0" i="1" smtClean="0">
                                    <a:latin typeface="Cambria Math" panose="02040503050406030204" pitchFamily="18" charset="0"/>
                                  </a:rPr>
                                  <m:t>=</m:t>
                                </m:r>
                                <m:f>
                                  <m:fPr>
                                    <m:ctrlPr>
                                      <a:rPr lang="en-US" altLang="ja-JP" b="0" i="1" smtClean="0">
                                        <a:latin typeface="Cambria Math" panose="02040503050406030204" pitchFamily="18" charset="0"/>
                                      </a:rPr>
                                    </m:ctrlPr>
                                  </m:fPr>
                                  <m:num>
                                    <m:r>
                                      <a:rPr lang="en-US" altLang="ja-JP" b="0" i="1" smtClean="0">
                                        <a:latin typeface="Cambria Math" panose="02040503050406030204" pitchFamily="18" charset="0"/>
                                      </a:rPr>
                                      <m:t>5</m:t>
                                    </m:r>
                                  </m:num>
                                  <m:den>
                                    <m:r>
                                      <a:rPr lang="en-US" altLang="ja-JP" b="0" i="1" smtClean="0">
                                        <a:latin typeface="Cambria Math" panose="02040503050406030204" pitchFamily="18" charset="0"/>
                                      </a:rPr>
                                      <m:t>4</m:t>
                                    </m:r>
                                  </m:den>
                                </m:f>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𝑣</m:t>
                                    </m:r>
                                  </m:e>
                                  <m:sub>
                                    <m:r>
                                      <a:rPr lang="en-US" altLang="ja-JP" b="0" i="1" smtClean="0">
                                        <a:latin typeface="Cambria Math" panose="02040503050406030204" pitchFamily="18" charset="0"/>
                                      </a:rPr>
                                      <m:t>0</m:t>
                                    </m:r>
                                  </m:sub>
                                </m:sSub>
                                <m:r>
                                  <a:rPr lang="en-US" altLang="ja-JP" b="0" i="1" smtClean="0">
                                    <a:latin typeface="Cambria Math" panose="02040503050406030204" pitchFamily="18" charset="0"/>
                                  </a:rPr>
                                  <m:t>+</m:t>
                                </m:r>
                                <m:f>
                                  <m:fPr>
                                    <m:ctrlPr>
                                      <a:rPr lang="en-US" altLang="ja-JP" b="0" i="1" smtClean="0">
                                        <a:latin typeface="Cambria Math" panose="02040503050406030204" pitchFamily="18" charset="0"/>
                                      </a:rPr>
                                    </m:ctrlPr>
                                  </m:fPr>
                                  <m:num>
                                    <m:r>
                                      <a:rPr lang="en-US" altLang="ja-JP" b="0" i="1" smtClean="0">
                                        <a:latin typeface="Cambria Math" panose="02040503050406030204" pitchFamily="18" charset="0"/>
                                      </a:rPr>
                                      <m:t>1</m:t>
                                    </m:r>
                                  </m:num>
                                  <m:den>
                                    <m:r>
                                      <a:rPr lang="en-US" altLang="ja-JP" b="0" i="1" smtClean="0">
                                        <a:latin typeface="Cambria Math" panose="02040503050406030204" pitchFamily="18" charset="0"/>
                                      </a:rPr>
                                      <m:t>2</m:t>
                                    </m:r>
                                  </m:den>
                                </m:f>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𝑣</m:t>
                                    </m:r>
                                  </m:e>
                                  <m:sub>
                                    <m:r>
                                      <a:rPr lang="en-US" altLang="ja-JP" b="0" i="1" smtClean="0">
                                        <a:latin typeface="Cambria Math" panose="02040503050406030204" pitchFamily="18" charset="0"/>
                                      </a:rPr>
                                      <m:t>1</m:t>
                                    </m:r>
                                  </m:sub>
                                </m:sSub>
                                <m:r>
                                  <a:rPr lang="en-US" altLang="ja-JP" b="0" i="1" smtClean="0">
                                    <a:latin typeface="Cambria Math" panose="02040503050406030204" pitchFamily="18" charset="0"/>
                                  </a:rPr>
                                  <m:t>−</m:t>
                                </m:r>
                                <m:f>
                                  <m:fPr>
                                    <m:ctrlPr>
                                      <a:rPr lang="en-US" altLang="ja-JP" b="0" i="1" smtClean="0">
                                        <a:latin typeface="Cambria Math" panose="02040503050406030204" pitchFamily="18" charset="0"/>
                                      </a:rPr>
                                    </m:ctrlPr>
                                  </m:fPr>
                                  <m:num>
                                    <m:r>
                                      <a:rPr lang="en-US" altLang="ja-JP" b="0" i="1" smtClean="0">
                                        <a:latin typeface="Cambria Math" panose="02040503050406030204" pitchFamily="18" charset="0"/>
                                      </a:rPr>
                                      <m:t>3</m:t>
                                    </m:r>
                                  </m:num>
                                  <m:den>
                                    <m:r>
                                      <a:rPr lang="en-US" altLang="ja-JP" b="0" i="1" smtClean="0">
                                        <a:latin typeface="Cambria Math" panose="02040503050406030204" pitchFamily="18" charset="0"/>
                                      </a:rPr>
                                      <m:t>4</m:t>
                                    </m:r>
                                  </m:den>
                                </m:f>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𝑣</m:t>
                                    </m:r>
                                  </m:e>
                                  <m:sub>
                                    <m:r>
                                      <a:rPr lang="en-US" altLang="ja-JP" b="0" i="1" smtClean="0">
                                        <a:latin typeface="Cambria Math" panose="02040503050406030204" pitchFamily="18" charset="0"/>
                                      </a:rPr>
                                      <m:t>2</m:t>
                                    </m:r>
                                  </m:sub>
                                </m:sSub>
                              </m:oMath>
                            </m:oMathPara>
                          </a14:m>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acc>
                                  <m:accPr>
                                    <m:chr m:val="̂"/>
                                    <m:ctrlPr>
                                      <a:rPr lang="en-US" altLang="ja-JP" b="0" i="1" smtClean="0">
                                        <a:latin typeface="Cambria Math" panose="02040503050406030204" pitchFamily="18" charset="0"/>
                                      </a:rPr>
                                    </m:ctrlPr>
                                  </m:accPr>
                                  <m:e>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𝑣</m:t>
                                        </m:r>
                                      </m:e>
                                      <m:sub>
                                        <m:r>
                                          <a:rPr lang="en-US" altLang="ja-JP" b="0" i="1" smtClean="0">
                                            <a:latin typeface="Cambria Math" panose="02040503050406030204" pitchFamily="18" charset="0"/>
                                          </a:rPr>
                                          <m:t>4</m:t>
                                        </m:r>
                                      </m:sub>
                                    </m:sSub>
                                  </m:e>
                                </m:acc>
                                <m:r>
                                  <a:rPr lang="en-US" altLang="ja-JP" b="0" i="1" smtClean="0">
                                    <a:latin typeface="Cambria Math" panose="02040503050406030204" pitchFamily="18" charset="0"/>
                                  </a:rPr>
                                  <m:t>=…</m:t>
                                </m:r>
                              </m:oMath>
                            </m:oMathPara>
                          </a14:m>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acc>
                                  <m:accPr>
                                    <m:chr m:val="̂"/>
                                    <m:ctrlPr>
                                      <a:rPr lang="en-US" altLang="ja-JP" b="0" i="1" smtClean="0">
                                        <a:latin typeface="Cambria Math" panose="02040503050406030204" pitchFamily="18" charset="0"/>
                                      </a:rPr>
                                    </m:ctrlPr>
                                  </m:accPr>
                                  <m:e>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𝑣</m:t>
                                        </m:r>
                                      </m:e>
                                      <m:sub>
                                        <m:r>
                                          <a:rPr lang="en-US" altLang="ja-JP" b="0" i="1" smtClean="0">
                                            <a:latin typeface="Cambria Math" panose="02040503050406030204" pitchFamily="18" charset="0"/>
                                          </a:rPr>
                                          <m:t>5</m:t>
                                        </m:r>
                                      </m:sub>
                                    </m:sSub>
                                  </m:e>
                                </m:acc>
                                <m:r>
                                  <a:rPr lang="en-US" altLang="ja-JP" b="0" i="1" smtClean="0">
                                    <a:latin typeface="Cambria Math" panose="02040503050406030204" pitchFamily="18" charset="0"/>
                                  </a:rPr>
                                  <m:t>=…</m:t>
                                </m:r>
                              </m:oMath>
                            </m:oMathPara>
                          </a14:m>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3275013"/>
                      </a:ext>
                    </a:extLst>
                  </a:tr>
                  <a:tr h="370840">
                    <a:tc>
                      <a:txBody>
                        <a:bodyPr/>
                        <a:lstStyle/>
                        <a:p>
                          <a:r>
                            <a:rPr kumimoji="1" lang="en-US" altLang="ja-JP" b="1" dirty="0">
                              <a:solidFill>
                                <a:schemeClr val="tx1"/>
                              </a:solidFill>
                            </a:rPr>
                            <a:t>Send</a:t>
                          </a:r>
                          <a:endParaRPr kumimoji="1" lang="ja-JP"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4D4D4"/>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ja-JP" b="1" i="1" smtClean="0">
                                        <a:solidFill>
                                          <a:schemeClr val="tx1"/>
                                        </a:solidFill>
                                        <a:latin typeface="Cambria Math" panose="02040503050406030204" pitchFamily="18" charset="0"/>
                                      </a:rPr>
                                    </m:ctrlPr>
                                  </m:sSubPr>
                                  <m:e>
                                    <m:r>
                                      <a:rPr lang="en-US" altLang="ja-JP" b="1" i="1" smtClean="0">
                                        <a:solidFill>
                                          <a:schemeClr val="tx1"/>
                                        </a:solidFill>
                                        <a:latin typeface="Cambria Math" panose="02040503050406030204" pitchFamily="18" charset="0"/>
                                      </a:rPr>
                                      <m:t>𝒗</m:t>
                                    </m:r>
                                  </m:e>
                                  <m:sub>
                                    <m:r>
                                      <a:rPr lang="en-US" altLang="ja-JP" b="1" i="1" smtClean="0">
                                        <a:solidFill>
                                          <a:schemeClr val="tx1"/>
                                        </a:solidFill>
                                        <a:latin typeface="Cambria Math" panose="02040503050406030204" pitchFamily="18" charset="0"/>
                                      </a:rPr>
                                      <m:t>𝟎</m:t>
                                    </m:r>
                                  </m:sub>
                                </m:sSub>
                              </m:oMath>
                            </m:oMathPara>
                          </a14:m>
                          <a:endParaRPr kumimoji="1" lang="ja-JP"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ja-JP" b="1" i="1" smtClean="0">
                                        <a:solidFill>
                                          <a:schemeClr val="tx1"/>
                                        </a:solidFill>
                                        <a:latin typeface="Cambria Math" panose="02040503050406030204" pitchFamily="18" charset="0"/>
                                      </a:rPr>
                                    </m:ctrlPr>
                                  </m:sSubPr>
                                  <m:e>
                                    <m:r>
                                      <a:rPr lang="en-US" altLang="ja-JP" b="1" i="1" smtClean="0">
                                        <a:solidFill>
                                          <a:schemeClr val="tx1"/>
                                        </a:solidFill>
                                        <a:latin typeface="Cambria Math" panose="02040503050406030204" pitchFamily="18" charset="0"/>
                                      </a:rPr>
                                      <m:t>𝒗</m:t>
                                    </m:r>
                                  </m:e>
                                  <m:sub>
                                    <m:r>
                                      <a:rPr lang="en-US" altLang="ja-JP" b="1" i="1" smtClean="0">
                                        <a:solidFill>
                                          <a:schemeClr val="tx1"/>
                                        </a:solidFill>
                                        <a:latin typeface="Cambria Math" panose="02040503050406030204" pitchFamily="18" charset="0"/>
                                      </a:rPr>
                                      <m:t>𝟏</m:t>
                                    </m:r>
                                  </m:sub>
                                </m:sSub>
                              </m:oMath>
                            </m:oMathPara>
                          </a14:m>
                          <a:endParaRPr kumimoji="1" lang="ja-JP"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ja-JP" b="1" i="1" smtClean="0">
                                        <a:solidFill>
                                          <a:schemeClr val="tx1"/>
                                        </a:solidFill>
                                        <a:latin typeface="Cambria Math" panose="02040503050406030204" pitchFamily="18" charset="0"/>
                                      </a:rPr>
                                    </m:ctrlPr>
                                  </m:sSubPr>
                                  <m:e>
                                    <m:r>
                                      <a:rPr lang="en-US" altLang="ja-JP" b="1" i="1" smtClean="0">
                                        <a:solidFill>
                                          <a:schemeClr val="tx1"/>
                                        </a:solidFill>
                                        <a:latin typeface="Cambria Math" panose="02040503050406030204" pitchFamily="18" charset="0"/>
                                      </a:rPr>
                                      <m:t>𝒗</m:t>
                                    </m:r>
                                  </m:e>
                                  <m:sub>
                                    <m:r>
                                      <a:rPr lang="en-US" altLang="ja-JP" b="1" i="1" smtClean="0">
                                        <a:solidFill>
                                          <a:schemeClr val="tx1"/>
                                        </a:solidFill>
                                        <a:latin typeface="Cambria Math" panose="02040503050406030204" pitchFamily="18" charset="0"/>
                                      </a:rPr>
                                      <m:t>𝟐</m:t>
                                    </m:r>
                                  </m:sub>
                                </m:sSub>
                              </m:oMath>
                            </m:oMathPara>
                          </a14:m>
                          <a:endParaRPr kumimoji="1" lang="ja-JP"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acc>
                                  <m:accPr>
                                    <m:chr m:val="̂"/>
                                    <m:ctrlPr>
                                      <a:rPr lang="en-US" altLang="ja-JP" b="1" i="1" smtClean="0">
                                        <a:latin typeface="Cambria Math" panose="02040503050406030204" pitchFamily="18" charset="0"/>
                                      </a:rPr>
                                    </m:ctrlPr>
                                  </m:accPr>
                                  <m:e>
                                    <m:sSub>
                                      <m:sSubPr>
                                        <m:ctrlPr>
                                          <a:rPr lang="en-US" altLang="ja-JP" b="1" i="1" smtClean="0">
                                            <a:latin typeface="Cambria Math" panose="02040503050406030204" pitchFamily="18" charset="0"/>
                                          </a:rPr>
                                        </m:ctrlPr>
                                      </m:sSubPr>
                                      <m:e>
                                        <m:r>
                                          <a:rPr lang="en-US" altLang="ja-JP" b="1" i="1" smtClean="0">
                                            <a:latin typeface="Cambria Math" panose="02040503050406030204" pitchFamily="18" charset="0"/>
                                          </a:rPr>
                                          <m:t>𝒗</m:t>
                                        </m:r>
                                      </m:e>
                                      <m:sub>
                                        <m:r>
                                          <a:rPr lang="en-US" altLang="ja-JP" b="1" i="1" smtClean="0">
                                            <a:latin typeface="Cambria Math" panose="02040503050406030204" pitchFamily="18" charset="0"/>
                                          </a:rPr>
                                          <m:t>𝟑</m:t>
                                        </m:r>
                                      </m:sub>
                                    </m:sSub>
                                  </m:e>
                                </m:acc>
                                <m:r>
                                  <a:rPr lang="en-US" altLang="ja-JP" b="1" i="1" smtClean="0">
                                    <a:latin typeface="Cambria Math" panose="02040503050406030204" pitchFamily="18" charset="0"/>
                                  </a:rPr>
                                  <m:t>−</m:t>
                                </m:r>
                                <m:sSub>
                                  <m:sSubPr>
                                    <m:ctrlPr>
                                      <a:rPr lang="en-US" altLang="ja-JP" b="1" i="1" smtClean="0">
                                        <a:latin typeface="Cambria Math" panose="02040503050406030204" pitchFamily="18" charset="0"/>
                                      </a:rPr>
                                    </m:ctrlPr>
                                  </m:sSubPr>
                                  <m:e>
                                    <m:r>
                                      <a:rPr lang="en-US" altLang="ja-JP" b="1" i="1" smtClean="0">
                                        <a:latin typeface="Cambria Math" panose="02040503050406030204" pitchFamily="18" charset="0"/>
                                      </a:rPr>
                                      <m:t>𝒗</m:t>
                                    </m:r>
                                  </m:e>
                                  <m:sub>
                                    <m:r>
                                      <a:rPr lang="en-US" altLang="ja-JP" b="1" i="1" smtClean="0">
                                        <a:latin typeface="Cambria Math" panose="02040503050406030204" pitchFamily="18" charset="0"/>
                                      </a:rPr>
                                      <m:t>𝟑</m:t>
                                    </m:r>
                                  </m:sub>
                                </m:sSub>
                              </m:oMath>
                            </m:oMathPara>
                          </a14:m>
                          <a:endParaRPr kumimoji="1" lang="ja-JP"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acc>
                                  <m:accPr>
                                    <m:chr m:val="̂"/>
                                    <m:ctrlPr>
                                      <a:rPr lang="en-US" altLang="ja-JP" b="1" i="1" smtClean="0">
                                        <a:latin typeface="Cambria Math" panose="02040503050406030204" pitchFamily="18" charset="0"/>
                                      </a:rPr>
                                    </m:ctrlPr>
                                  </m:accPr>
                                  <m:e>
                                    <m:sSub>
                                      <m:sSubPr>
                                        <m:ctrlPr>
                                          <a:rPr lang="en-US" altLang="ja-JP" b="1" i="1" smtClean="0">
                                            <a:latin typeface="Cambria Math" panose="02040503050406030204" pitchFamily="18" charset="0"/>
                                          </a:rPr>
                                        </m:ctrlPr>
                                      </m:sSubPr>
                                      <m:e>
                                        <m:r>
                                          <a:rPr lang="en-US" altLang="ja-JP" b="1" i="1" smtClean="0">
                                            <a:latin typeface="Cambria Math" panose="02040503050406030204" pitchFamily="18" charset="0"/>
                                          </a:rPr>
                                          <m:t>𝒗</m:t>
                                        </m:r>
                                      </m:e>
                                      <m:sub>
                                        <m:r>
                                          <a:rPr lang="en-US" altLang="ja-JP" b="1" i="1" smtClean="0">
                                            <a:latin typeface="Cambria Math" panose="02040503050406030204" pitchFamily="18" charset="0"/>
                                          </a:rPr>
                                          <m:t>𝟒</m:t>
                                        </m:r>
                                      </m:sub>
                                    </m:sSub>
                                  </m:e>
                                </m:acc>
                                <m:r>
                                  <a:rPr lang="en-US" altLang="ja-JP" b="1" i="1" smtClean="0">
                                    <a:latin typeface="Cambria Math" panose="02040503050406030204" pitchFamily="18" charset="0"/>
                                  </a:rPr>
                                  <m:t>−</m:t>
                                </m:r>
                                <m:sSub>
                                  <m:sSubPr>
                                    <m:ctrlPr>
                                      <a:rPr lang="en-US" altLang="ja-JP" b="1" i="1" smtClean="0">
                                        <a:latin typeface="Cambria Math" panose="02040503050406030204" pitchFamily="18" charset="0"/>
                                      </a:rPr>
                                    </m:ctrlPr>
                                  </m:sSubPr>
                                  <m:e>
                                    <m:r>
                                      <a:rPr lang="en-US" altLang="ja-JP" b="1" i="1" smtClean="0">
                                        <a:latin typeface="Cambria Math" panose="02040503050406030204" pitchFamily="18" charset="0"/>
                                      </a:rPr>
                                      <m:t>𝒗</m:t>
                                    </m:r>
                                  </m:e>
                                  <m:sub>
                                    <m:r>
                                      <a:rPr lang="en-US" altLang="ja-JP" b="1" i="1" smtClean="0">
                                        <a:latin typeface="Cambria Math" panose="02040503050406030204" pitchFamily="18" charset="0"/>
                                      </a:rPr>
                                      <m:t>𝟒</m:t>
                                    </m:r>
                                  </m:sub>
                                </m:sSub>
                              </m:oMath>
                            </m:oMathPara>
                          </a14:m>
                          <a:endParaRPr kumimoji="1" lang="ja-JP"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acc>
                                  <m:accPr>
                                    <m:chr m:val="̂"/>
                                    <m:ctrlPr>
                                      <a:rPr lang="en-US" altLang="ja-JP" b="1" i="1" smtClean="0">
                                        <a:latin typeface="Cambria Math" panose="02040503050406030204" pitchFamily="18" charset="0"/>
                                      </a:rPr>
                                    </m:ctrlPr>
                                  </m:accPr>
                                  <m:e>
                                    <m:sSub>
                                      <m:sSubPr>
                                        <m:ctrlPr>
                                          <a:rPr lang="en-US" altLang="ja-JP" b="1" i="1" smtClean="0">
                                            <a:latin typeface="Cambria Math" panose="02040503050406030204" pitchFamily="18" charset="0"/>
                                          </a:rPr>
                                        </m:ctrlPr>
                                      </m:sSubPr>
                                      <m:e>
                                        <m:r>
                                          <a:rPr lang="en-US" altLang="ja-JP" b="1" i="1" smtClean="0">
                                            <a:latin typeface="Cambria Math" panose="02040503050406030204" pitchFamily="18" charset="0"/>
                                          </a:rPr>
                                          <m:t>𝒗</m:t>
                                        </m:r>
                                      </m:e>
                                      <m:sub>
                                        <m:r>
                                          <a:rPr lang="en-US" altLang="ja-JP" b="1" i="1" smtClean="0">
                                            <a:latin typeface="Cambria Math" panose="02040503050406030204" pitchFamily="18" charset="0"/>
                                          </a:rPr>
                                          <m:t>𝟓</m:t>
                                        </m:r>
                                      </m:sub>
                                    </m:sSub>
                                  </m:e>
                                </m:acc>
                                <m:r>
                                  <a:rPr lang="en-US" altLang="ja-JP" b="1" i="1" smtClean="0">
                                    <a:latin typeface="Cambria Math" panose="02040503050406030204" pitchFamily="18" charset="0"/>
                                  </a:rPr>
                                  <m:t>−</m:t>
                                </m:r>
                                <m:sSub>
                                  <m:sSubPr>
                                    <m:ctrlPr>
                                      <a:rPr lang="en-US" altLang="ja-JP" b="1" i="1" smtClean="0">
                                        <a:latin typeface="Cambria Math" panose="02040503050406030204" pitchFamily="18" charset="0"/>
                                      </a:rPr>
                                    </m:ctrlPr>
                                  </m:sSubPr>
                                  <m:e>
                                    <m:r>
                                      <a:rPr lang="en-US" altLang="ja-JP" b="1" i="1" smtClean="0">
                                        <a:latin typeface="Cambria Math" panose="02040503050406030204" pitchFamily="18" charset="0"/>
                                      </a:rPr>
                                      <m:t>𝒗</m:t>
                                    </m:r>
                                  </m:e>
                                  <m:sub>
                                    <m:r>
                                      <a:rPr lang="en-US" altLang="ja-JP" b="1" i="1" smtClean="0">
                                        <a:latin typeface="Cambria Math" panose="02040503050406030204" pitchFamily="18" charset="0"/>
                                      </a:rPr>
                                      <m:t>𝟓</m:t>
                                    </m:r>
                                  </m:sub>
                                </m:sSub>
                              </m:oMath>
                            </m:oMathPara>
                          </a14:m>
                          <a:endParaRPr kumimoji="1" lang="ja-JP"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9243740"/>
                      </a:ext>
                    </a:extLst>
                  </a:tr>
                </a:tbl>
              </a:graphicData>
            </a:graphic>
          </p:graphicFrame>
        </mc:Choice>
        <mc:Fallback xmlns="">
          <p:graphicFrame>
            <p:nvGraphicFramePr>
              <p:cNvPr id="5" name="Table 4">
                <a:extLst>
                  <a:ext uri="{FF2B5EF4-FFF2-40B4-BE49-F238E27FC236}">
                    <a16:creationId xmlns:a16="http://schemas.microsoft.com/office/drawing/2014/main" id="{EDE38163-8C6C-D79E-2CBE-0ACD4CE92A27}"/>
                  </a:ext>
                </a:extLst>
              </p:cNvPr>
              <p:cNvGraphicFramePr>
                <a:graphicFrameLocks noGrp="1"/>
              </p:cNvGraphicFramePr>
              <p:nvPr>
                <p:extLst>
                  <p:ext uri="{D42A27DB-BD31-4B8C-83A1-F6EECF244321}">
                    <p14:modId xmlns:p14="http://schemas.microsoft.com/office/powerpoint/2010/main" val="2173654862"/>
                  </p:ext>
                </p:extLst>
              </p:nvPr>
            </p:nvGraphicFramePr>
            <p:xfrm>
              <a:off x="2398466" y="5304942"/>
              <a:ext cx="7395067" cy="1352233"/>
            </p:xfrm>
            <a:graphic>
              <a:graphicData uri="http://schemas.openxmlformats.org/drawingml/2006/table">
                <a:tbl>
                  <a:tblPr firstRow="1" bandRow="1">
                    <a:tableStyleId>{073A0DAA-6AF3-43AB-8588-CEC1D06C72B9}</a:tableStyleId>
                  </a:tblPr>
                  <a:tblGrid>
                    <a:gridCol w="1541956">
                      <a:extLst>
                        <a:ext uri="{9D8B030D-6E8A-4147-A177-3AD203B41FA5}">
                          <a16:colId xmlns:a16="http://schemas.microsoft.com/office/drawing/2014/main" val="2740683806"/>
                        </a:ext>
                      </a:extLst>
                    </a:gridCol>
                    <a:gridCol w="475869">
                      <a:extLst>
                        <a:ext uri="{9D8B030D-6E8A-4147-A177-3AD203B41FA5}">
                          <a16:colId xmlns:a16="http://schemas.microsoft.com/office/drawing/2014/main" val="871978231"/>
                        </a:ext>
                      </a:extLst>
                    </a:gridCol>
                    <a:gridCol w="470598">
                      <a:extLst>
                        <a:ext uri="{9D8B030D-6E8A-4147-A177-3AD203B41FA5}">
                          <a16:colId xmlns:a16="http://schemas.microsoft.com/office/drawing/2014/main" val="1249668977"/>
                        </a:ext>
                      </a:extLst>
                    </a:gridCol>
                    <a:gridCol w="475869">
                      <a:extLst>
                        <a:ext uri="{9D8B030D-6E8A-4147-A177-3AD203B41FA5}">
                          <a16:colId xmlns:a16="http://schemas.microsoft.com/office/drawing/2014/main" val="1288090506"/>
                        </a:ext>
                      </a:extLst>
                    </a:gridCol>
                    <a:gridCol w="2494153">
                      <a:extLst>
                        <a:ext uri="{9D8B030D-6E8A-4147-A177-3AD203B41FA5}">
                          <a16:colId xmlns:a16="http://schemas.microsoft.com/office/drawing/2014/main" val="1987903996"/>
                        </a:ext>
                      </a:extLst>
                    </a:gridCol>
                    <a:gridCol w="959802">
                      <a:extLst>
                        <a:ext uri="{9D8B030D-6E8A-4147-A177-3AD203B41FA5}">
                          <a16:colId xmlns:a16="http://schemas.microsoft.com/office/drawing/2014/main" val="1223118109"/>
                        </a:ext>
                      </a:extLst>
                    </a:gridCol>
                    <a:gridCol w="976820">
                      <a:extLst>
                        <a:ext uri="{9D8B030D-6E8A-4147-A177-3AD203B41FA5}">
                          <a16:colId xmlns:a16="http://schemas.microsoft.com/office/drawing/2014/main" val="2207815020"/>
                        </a:ext>
                      </a:extLst>
                    </a:gridCol>
                  </a:tblGrid>
                  <a:tr h="370840">
                    <a:tc>
                      <a:txBody>
                        <a:bodyPr/>
                        <a:lstStyle/>
                        <a:p>
                          <a:r>
                            <a:rPr kumimoji="1" lang="en-US" altLang="ja-JP" b="0" dirty="0">
                              <a:solidFill>
                                <a:schemeClr val="tx1"/>
                              </a:solidFill>
                            </a:rPr>
                            <a:t>Actual Data</a:t>
                          </a:r>
                          <a:endParaRPr kumimoji="1" lang="ja-JP"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4D4D4"/>
                        </a:solidFill>
                      </a:tcPr>
                    </a:tc>
                    <a:tc>
                      <a:txBody>
                        <a:bodyPr/>
                        <a:lstStyle/>
                        <a:p>
                          <a:endParaRPr lang="ja-JP"/>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25641" t="-8197" r="-1134615" b="-288525"/>
                          </a:stretch>
                        </a:blipFill>
                      </a:tcPr>
                    </a:tc>
                    <a:tc>
                      <a:txBody>
                        <a:bodyPr/>
                        <a:lstStyle/>
                        <a:p>
                          <a:endParaRPr lang="ja-JP"/>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25641" t="-8197" r="-1034615" b="-288525"/>
                          </a:stretch>
                        </a:blipFill>
                      </a:tcPr>
                    </a:tc>
                    <a:tc>
                      <a:txBody>
                        <a:bodyPr/>
                        <a:lstStyle/>
                        <a:p>
                          <a:endParaRPr lang="ja-JP"/>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25641" t="-8197" r="-934615" b="-288525"/>
                          </a:stretch>
                        </a:blipFill>
                      </a:tcPr>
                    </a:tc>
                    <a:tc>
                      <a:txBody>
                        <a:bodyPr/>
                        <a:lstStyle/>
                        <a:p>
                          <a:endParaRPr lang="ja-JP"/>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19315" t="-8197" r="-78240" b="-288525"/>
                          </a:stretch>
                        </a:blipFill>
                      </a:tcPr>
                    </a:tc>
                    <a:tc>
                      <a:txBody>
                        <a:bodyPr/>
                        <a:lstStyle/>
                        <a:p>
                          <a:endParaRPr lang="ja-JP"/>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67722" t="-8197" r="-102532" b="-288525"/>
                          </a:stretch>
                        </a:blipFill>
                      </a:tcPr>
                    </a:tc>
                    <a:tc>
                      <a:txBody>
                        <a:bodyPr/>
                        <a:lstStyle/>
                        <a:p>
                          <a:endParaRPr lang="ja-JP"/>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59375" t="-8197" r="-1250" b="-288525"/>
                          </a:stretch>
                        </a:blipFill>
                      </a:tcPr>
                    </a:tc>
                    <a:extLst>
                      <a:ext uri="{0D108BD9-81ED-4DB2-BD59-A6C34878D82A}">
                        <a16:rowId xmlns:a16="http://schemas.microsoft.com/office/drawing/2014/main" val="1003181240"/>
                      </a:ext>
                    </a:extLst>
                  </a:tr>
                  <a:tr h="610553">
                    <a:tc>
                      <a:txBody>
                        <a:bodyPr/>
                        <a:lstStyle/>
                        <a:p>
                          <a:r>
                            <a:rPr kumimoji="1" lang="en-US" altLang="ja-JP" b="0" dirty="0">
                              <a:solidFill>
                                <a:schemeClr val="tx1"/>
                              </a:solidFill>
                            </a:rPr>
                            <a:t>Estimate</a:t>
                          </a:r>
                          <a:endParaRPr kumimoji="1" lang="ja-JP"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4D4D4"/>
                        </a:solidFill>
                      </a:tcPr>
                    </a:tc>
                    <a:tc>
                      <a:txBody>
                        <a:bodyPr/>
                        <a:lstStyle/>
                        <a:p>
                          <a:r>
                            <a:rPr kumimoji="1" lang="en-US" altLang="ja-JP" dirty="0">
                              <a:solidFill>
                                <a:schemeClr val="tx1"/>
                              </a:solidFill>
                            </a:rPr>
                            <a:t>-</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dirty="0">
                              <a:solidFill>
                                <a:schemeClr val="tx1"/>
                              </a:solidFill>
                            </a:rPr>
                            <a:t>-</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dirty="0">
                              <a:solidFill>
                                <a:schemeClr val="tx1"/>
                              </a:solidFill>
                            </a:rPr>
                            <a:t>-</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ja-JP"/>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19315" t="-65347" r="-78240" b="-74257"/>
                          </a:stretch>
                        </a:blipFill>
                      </a:tcPr>
                    </a:tc>
                    <a:tc>
                      <a:txBody>
                        <a:bodyPr/>
                        <a:lstStyle/>
                        <a:p>
                          <a:endParaRPr lang="ja-JP"/>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67722" t="-65347" r="-102532" b="-74257"/>
                          </a:stretch>
                        </a:blipFill>
                      </a:tcPr>
                    </a:tc>
                    <a:tc>
                      <a:txBody>
                        <a:bodyPr/>
                        <a:lstStyle/>
                        <a:p>
                          <a:endParaRPr lang="ja-JP"/>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59375" t="-65347" r="-1250" b="-74257"/>
                          </a:stretch>
                        </a:blipFill>
                      </a:tcPr>
                    </a:tc>
                    <a:extLst>
                      <a:ext uri="{0D108BD9-81ED-4DB2-BD59-A6C34878D82A}">
                        <a16:rowId xmlns:a16="http://schemas.microsoft.com/office/drawing/2014/main" val="333275013"/>
                      </a:ext>
                    </a:extLst>
                  </a:tr>
                  <a:tr h="370840">
                    <a:tc>
                      <a:txBody>
                        <a:bodyPr/>
                        <a:lstStyle/>
                        <a:p>
                          <a:r>
                            <a:rPr kumimoji="1" lang="en-US" altLang="ja-JP" b="1" dirty="0">
                              <a:solidFill>
                                <a:schemeClr val="tx1"/>
                              </a:solidFill>
                            </a:rPr>
                            <a:t>Send</a:t>
                          </a:r>
                          <a:endParaRPr kumimoji="1" lang="ja-JP"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4D4D4"/>
                        </a:solidFill>
                      </a:tcPr>
                    </a:tc>
                    <a:tc>
                      <a:txBody>
                        <a:bodyPr/>
                        <a:lstStyle/>
                        <a:p>
                          <a:endParaRPr lang="ja-JP"/>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25641" t="-273770" r="-1134615" b="-22951"/>
                          </a:stretch>
                        </a:blipFill>
                      </a:tcPr>
                    </a:tc>
                    <a:tc>
                      <a:txBody>
                        <a:bodyPr/>
                        <a:lstStyle/>
                        <a:p>
                          <a:endParaRPr lang="ja-JP"/>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25641" t="-273770" r="-1034615" b="-22951"/>
                          </a:stretch>
                        </a:blipFill>
                      </a:tcPr>
                    </a:tc>
                    <a:tc>
                      <a:txBody>
                        <a:bodyPr/>
                        <a:lstStyle/>
                        <a:p>
                          <a:endParaRPr lang="ja-JP"/>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25641" t="-273770" r="-934615" b="-22951"/>
                          </a:stretch>
                        </a:blipFill>
                      </a:tcPr>
                    </a:tc>
                    <a:tc>
                      <a:txBody>
                        <a:bodyPr/>
                        <a:lstStyle/>
                        <a:p>
                          <a:endParaRPr lang="ja-JP"/>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19315" t="-273770" r="-78240" b="-22951"/>
                          </a:stretch>
                        </a:blipFill>
                      </a:tcPr>
                    </a:tc>
                    <a:tc>
                      <a:txBody>
                        <a:bodyPr/>
                        <a:lstStyle/>
                        <a:p>
                          <a:endParaRPr lang="ja-JP"/>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67722" t="-273770" r="-102532" b="-22951"/>
                          </a:stretch>
                        </a:blipFill>
                      </a:tcPr>
                    </a:tc>
                    <a:tc>
                      <a:txBody>
                        <a:bodyPr/>
                        <a:lstStyle/>
                        <a:p>
                          <a:endParaRPr lang="ja-JP"/>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59375" t="-273770" r="-1250" b="-22951"/>
                          </a:stretch>
                        </a:blipFill>
                      </a:tcPr>
                    </a:tc>
                    <a:extLst>
                      <a:ext uri="{0D108BD9-81ED-4DB2-BD59-A6C34878D82A}">
                        <a16:rowId xmlns:a16="http://schemas.microsoft.com/office/drawing/2014/main" val="79243740"/>
                      </a:ext>
                    </a:extLst>
                  </a:tr>
                </a:tbl>
              </a:graphicData>
            </a:graphic>
          </p:graphicFrame>
        </mc:Fallback>
      </mc:AlternateContent>
    </p:spTree>
    <p:extLst>
      <p:ext uri="{BB962C8B-B14F-4D97-AF65-F5344CB8AC3E}">
        <p14:creationId xmlns:p14="http://schemas.microsoft.com/office/powerpoint/2010/main" val="3404668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A0FB99-1D97-6DC3-1AFC-3B7AAD185C84}"/>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kumimoji="1" lang="en-US" altLang="ja-JP" sz="3600" kern="1200">
                <a:solidFill>
                  <a:srgbClr val="FFFFFF"/>
                </a:solidFill>
                <a:latin typeface="+mj-lt"/>
                <a:ea typeface="+mj-ea"/>
                <a:cs typeface="+mj-cs"/>
              </a:rPr>
              <a:t>Huffman Table β</a:t>
            </a:r>
          </a:p>
        </p:txBody>
      </p:sp>
      <p:pic>
        <p:nvPicPr>
          <p:cNvPr id="6" name="Content Placeholder 5">
            <a:extLst>
              <a:ext uri="{FF2B5EF4-FFF2-40B4-BE49-F238E27FC236}">
                <a16:creationId xmlns:a16="http://schemas.microsoft.com/office/drawing/2014/main" id="{8D52C616-AA36-0F54-0E59-4019BA35EDEF}"/>
              </a:ext>
            </a:extLst>
          </p:cNvPr>
          <p:cNvPicPr>
            <a:picLocks noGrp="1" noChangeAspect="1"/>
          </p:cNvPicPr>
          <p:nvPr>
            <p:ph idx="1"/>
          </p:nvPr>
        </p:nvPicPr>
        <p:blipFill>
          <a:blip r:embed="rId3"/>
          <a:stretch>
            <a:fillRect/>
          </a:stretch>
        </p:blipFill>
        <p:spPr bwMode="auto">
          <a:xfrm>
            <a:off x="4777316" y="1571619"/>
            <a:ext cx="6780700" cy="37124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3398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DFA0F4B0-0C36-4265-C9F0-8BAFD6B592DB}"/>
              </a:ext>
            </a:extLst>
          </p:cNvPr>
          <p:cNvCxnSpPr>
            <a:cxnSpLocks/>
          </p:cNvCxnSpPr>
          <p:nvPr/>
        </p:nvCxnSpPr>
        <p:spPr>
          <a:xfrm>
            <a:off x="3744012" y="1725104"/>
            <a:ext cx="0" cy="1545996"/>
          </a:xfrm>
          <a:prstGeom prst="line">
            <a:avLst/>
          </a:prstGeom>
          <a:ln w="76200">
            <a:solidFill>
              <a:schemeClr val="accent2"/>
            </a:solidFill>
          </a:ln>
        </p:spPr>
        <p:style>
          <a:lnRef idx="2">
            <a:schemeClr val="dk1"/>
          </a:lnRef>
          <a:fillRef idx="0">
            <a:schemeClr val="dk1"/>
          </a:fillRef>
          <a:effectRef idx="1">
            <a:schemeClr val="dk1"/>
          </a:effectRef>
          <a:fontRef idx="minor">
            <a:schemeClr val="tx1"/>
          </a:fontRef>
        </p:style>
      </p:cxnSp>
      <p:cxnSp>
        <p:nvCxnSpPr>
          <p:cNvPr id="8" name="Straight Connector 7">
            <a:extLst>
              <a:ext uri="{FF2B5EF4-FFF2-40B4-BE49-F238E27FC236}">
                <a16:creationId xmlns:a16="http://schemas.microsoft.com/office/drawing/2014/main" id="{8B2F315F-70FA-9C34-6A47-4745F65532DF}"/>
              </a:ext>
            </a:extLst>
          </p:cNvPr>
          <p:cNvCxnSpPr>
            <a:cxnSpLocks/>
          </p:cNvCxnSpPr>
          <p:nvPr/>
        </p:nvCxnSpPr>
        <p:spPr>
          <a:xfrm>
            <a:off x="7205220" y="1725104"/>
            <a:ext cx="0" cy="1545996"/>
          </a:xfrm>
          <a:prstGeom prst="line">
            <a:avLst/>
          </a:prstGeom>
          <a:ln w="76200">
            <a:solidFill>
              <a:schemeClr val="tx2">
                <a:lumMod val="50000"/>
                <a:lumOff val="50000"/>
              </a:schemeClr>
            </a:solidFill>
          </a:ln>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55E78359-08A3-9E35-2CE2-30E876E1AA0B}"/>
              </a:ext>
            </a:extLst>
          </p:cNvPr>
          <p:cNvCxnSpPr>
            <a:cxnSpLocks/>
          </p:cNvCxnSpPr>
          <p:nvPr/>
        </p:nvCxnSpPr>
        <p:spPr>
          <a:xfrm>
            <a:off x="10666428" y="1725104"/>
            <a:ext cx="0" cy="1545996"/>
          </a:xfrm>
          <a:prstGeom prst="line">
            <a:avLst/>
          </a:prstGeom>
          <a:ln w="76200">
            <a:solidFill>
              <a:schemeClr val="tx2">
                <a:lumMod val="50000"/>
                <a:lumOff val="50000"/>
              </a:schemeClr>
            </a:solidFill>
          </a:ln>
        </p:spPr>
        <p:style>
          <a:lnRef idx="2">
            <a:schemeClr val="dk1"/>
          </a:lnRef>
          <a:fillRef idx="0">
            <a:schemeClr val="dk1"/>
          </a:fillRef>
          <a:effectRef idx="1">
            <a:schemeClr val="dk1"/>
          </a:effectRef>
          <a:fontRef idx="minor">
            <a:schemeClr val="tx1"/>
          </a:fontRef>
        </p:style>
      </p:cxnSp>
      <p:cxnSp>
        <p:nvCxnSpPr>
          <p:cNvPr id="12" name="Straight Arrow Connector 11">
            <a:extLst>
              <a:ext uri="{FF2B5EF4-FFF2-40B4-BE49-F238E27FC236}">
                <a16:creationId xmlns:a16="http://schemas.microsoft.com/office/drawing/2014/main" id="{58865131-D3C6-3F77-EE8F-5627259EB85E}"/>
              </a:ext>
            </a:extLst>
          </p:cNvPr>
          <p:cNvCxnSpPr/>
          <p:nvPr/>
        </p:nvCxnSpPr>
        <p:spPr>
          <a:xfrm>
            <a:off x="3744012" y="2441541"/>
            <a:ext cx="3461208" cy="0"/>
          </a:xfrm>
          <a:prstGeom prst="straightConnector1">
            <a:avLst/>
          </a:prstGeom>
          <a:ln w="76200">
            <a:solidFill>
              <a:schemeClr val="accent2"/>
            </a:solidFill>
            <a:headEnd type="triangle"/>
            <a:tailEnd type="triangle"/>
          </a:ln>
        </p:spPr>
        <p:style>
          <a:lnRef idx="2">
            <a:schemeClr val="dk1"/>
          </a:lnRef>
          <a:fillRef idx="0">
            <a:schemeClr val="dk1"/>
          </a:fillRef>
          <a:effectRef idx="1">
            <a:schemeClr val="dk1"/>
          </a:effectRef>
          <a:fontRef idx="minor">
            <a:schemeClr val="tx1"/>
          </a:fontRef>
        </p:style>
      </p:cxnSp>
      <p:cxnSp>
        <p:nvCxnSpPr>
          <p:cNvPr id="13" name="Straight Arrow Connector 12">
            <a:extLst>
              <a:ext uri="{FF2B5EF4-FFF2-40B4-BE49-F238E27FC236}">
                <a16:creationId xmlns:a16="http://schemas.microsoft.com/office/drawing/2014/main" id="{A2687F65-C195-4B3E-7595-F2C12F1DADE3}"/>
              </a:ext>
            </a:extLst>
          </p:cNvPr>
          <p:cNvCxnSpPr/>
          <p:nvPr/>
        </p:nvCxnSpPr>
        <p:spPr>
          <a:xfrm>
            <a:off x="7205220" y="2441541"/>
            <a:ext cx="3461208" cy="0"/>
          </a:xfrm>
          <a:prstGeom prst="straightConnector1">
            <a:avLst/>
          </a:prstGeom>
          <a:ln w="76200">
            <a:solidFill>
              <a:schemeClr val="accent2"/>
            </a:solidFill>
            <a:headEnd type="triangle"/>
            <a:tailEnd type="triangle"/>
          </a:ln>
        </p:spPr>
        <p:style>
          <a:lnRef idx="2">
            <a:schemeClr val="dk1"/>
          </a:lnRef>
          <a:fillRef idx="0">
            <a:schemeClr val="dk1"/>
          </a:fillRef>
          <a:effectRef idx="1">
            <a:schemeClr val="dk1"/>
          </a:effectRef>
          <a:fontRef idx="minor">
            <a:schemeClr val="tx1"/>
          </a:fontRef>
        </p:style>
      </p:cxnSp>
      <p:sp>
        <p:nvSpPr>
          <p:cNvPr id="14" name="TextBox 13">
            <a:extLst>
              <a:ext uri="{FF2B5EF4-FFF2-40B4-BE49-F238E27FC236}">
                <a16:creationId xmlns:a16="http://schemas.microsoft.com/office/drawing/2014/main" id="{E0917F30-6977-9C73-B88F-10C5E280FDA2}"/>
              </a:ext>
            </a:extLst>
          </p:cNvPr>
          <p:cNvSpPr txBox="1"/>
          <p:nvPr/>
        </p:nvSpPr>
        <p:spPr>
          <a:xfrm>
            <a:off x="2905811" y="1355772"/>
            <a:ext cx="1817017" cy="369332"/>
          </a:xfrm>
          <a:prstGeom prst="rect">
            <a:avLst/>
          </a:prstGeom>
          <a:noFill/>
        </p:spPr>
        <p:txBody>
          <a:bodyPr wrap="square" rtlCol="0">
            <a:spAutoFit/>
          </a:bodyPr>
          <a:lstStyle/>
          <a:p>
            <a:r>
              <a:rPr lang="en-US" altLang="ja-JP" b="1" dirty="0">
                <a:solidFill>
                  <a:schemeClr val="accent2"/>
                </a:solidFill>
              </a:rPr>
              <a:t>Hits FP&gt;=70%</a:t>
            </a:r>
            <a:endParaRPr kumimoji="1" lang="ja-JP" altLang="en-US" b="1" dirty="0">
              <a:solidFill>
                <a:schemeClr val="accent2"/>
              </a:solidFill>
            </a:endParaRPr>
          </a:p>
        </p:txBody>
      </p:sp>
      <p:sp>
        <p:nvSpPr>
          <p:cNvPr id="15" name="TextBox 14">
            <a:extLst>
              <a:ext uri="{FF2B5EF4-FFF2-40B4-BE49-F238E27FC236}">
                <a16:creationId xmlns:a16="http://schemas.microsoft.com/office/drawing/2014/main" id="{032C07B7-0D96-DA76-96A5-A4E830EC720C}"/>
              </a:ext>
            </a:extLst>
          </p:cNvPr>
          <p:cNvSpPr txBox="1"/>
          <p:nvPr/>
        </p:nvSpPr>
        <p:spPr>
          <a:xfrm>
            <a:off x="414778" y="3987537"/>
            <a:ext cx="9851009" cy="2677656"/>
          </a:xfrm>
          <a:prstGeom prst="rect">
            <a:avLst/>
          </a:prstGeom>
          <a:noFill/>
        </p:spPr>
        <p:txBody>
          <a:bodyPr wrap="square" rtlCol="0">
            <a:spAutoFit/>
          </a:bodyPr>
          <a:lstStyle/>
          <a:p>
            <a:r>
              <a:rPr kumimoji="1" lang="en-US" altLang="ja-JP" sz="2400" dirty="0"/>
              <a:t>Buffer is the amount of data you can send at once.</a:t>
            </a:r>
          </a:p>
          <a:p>
            <a:endParaRPr lang="en-US" altLang="ja-JP" sz="2400" dirty="0"/>
          </a:p>
          <a:p>
            <a:r>
              <a:rPr kumimoji="1" lang="en-US" altLang="ja-JP" sz="2400" dirty="0"/>
              <a:t>Questions:</a:t>
            </a:r>
          </a:p>
          <a:p>
            <a:pPr marL="285750" indent="-285750">
              <a:buFontTx/>
              <a:buChar char="-"/>
            </a:pPr>
            <a:r>
              <a:rPr lang="en-US" altLang="ja-JP" sz="2400" dirty="0"/>
              <a:t>Is this amount of data enough for predicting how the flood has happened?</a:t>
            </a:r>
          </a:p>
          <a:p>
            <a:pPr marL="285750" indent="-285750">
              <a:buFontTx/>
              <a:buChar char="-"/>
            </a:pPr>
            <a:r>
              <a:rPr kumimoji="1" lang="en-US" altLang="ja-JP" sz="2400" dirty="0"/>
              <a:t>Is 70% a good </a:t>
            </a:r>
            <a:r>
              <a:rPr lang="en-US" altLang="ja-JP" sz="2400" dirty="0"/>
              <a:t>indicator for the start of flood?</a:t>
            </a:r>
          </a:p>
          <a:p>
            <a:pPr marL="285750" indent="-285750">
              <a:buFontTx/>
              <a:buChar char="-"/>
            </a:pPr>
            <a:r>
              <a:rPr lang="en-US" altLang="ja-JP" sz="2400" dirty="0"/>
              <a:t>Is one hour and five minutes too long/short?</a:t>
            </a:r>
            <a:endParaRPr kumimoji="1" lang="ja-JP" altLang="en-US" sz="2400" dirty="0"/>
          </a:p>
        </p:txBody>
      </p:sp>
      <p:sp>
        <p:nvSpPr>
          <p:cNvPr id="16" name="TextBox 15">
            <a:extLst>
              <a:ext uri="{FF2B5EF4-FFF2-40B4-BE49-F238E27FC236}">
                <a16:creationId xmlns:a16="http://schemas.microsoft.com/office/drawing/2014/main" id="{C7FA8B0F-29FF-CBF6-E299-800A694C3A42}"/>
              </a:ext>
            </a:extLst>
          </p:cNvPr>
          <p:cNvSpPr txBox="1"/>
          <p:nvPr/>
        </p:nvSpPr>
        <p:spPr>
          <a:xfrm>
            <a:off x="0" y="2045022"/>
            <a:ext cx="3814317" cy="369332"/>
          </a:xfrm>
          <a:prstGeom prst="rect">
            <a:avLst/>
          </a:prstGeom>
          <a:noFill/>
        </p:spPr>
        <p:txBody>
          <a:bodyPr wrap="square" rtlCol="0">
            <a:spAutoFit/>
          </a:bodyPr>
          <a:lstStyle/>
          <a:p>
            <a:r>
              <a:rPr kumimoji="1" lang="en-US" altLang="ja-JP" b="1" dirty="0">
                <a:solidFill>
                  <a:schemeClr val="accent4"/>
                </a:solidFill>
              </a:rPr>
              <a:t>Collect data once every hour</a:t>
            </a:r>
            <a:endParaRPr kumimoji="1" lang="ja-JP" altLang="en-US" b="1" dirty="0">
              <a:solidFill>
                <a:schemeClr val="accent4"/>
              </a:solidFill>
            </a:endParaRPr>
          </a:p>
        </p:txBody>
      </p:sp>
      <p:cxnSp>
        <p:nvCxnSpPr>
          <p:cNvPr id="18" name="Straight Arrow Connector 17">
            <a:extLst>
              <a:ext uri="{FF2B5EF4-FFF2-40B4-BE49-F238E27FC236}">
                <a16:creationId xmlns:a16="http://schemas.microsoft.com/office/drawing/2014/main" id="{E62249DE-20B0-6773-EA27-BA26B7A305B4}"/>
              </a:ext>
            </a:extLst>
          </p:cNvPr>
          <p:cNvCxnSpPr/>
          <p:nvPr/>
        </p:nvCxnSpPr>
        <p:spPr>
          <a:xfrm>
            <a:off x="0" y="2432116"/>
            <a:ext cx="3725158" cy="0"/>
          </a:xfrm>
          <a:prstGeom prst="straightConnector1">
            <a:avLst/>
          </a:prstGeom>
          <a:ln w="76200">
            <a:solidFill>
              <a:schemeClr val="tx2">
                <a:lumMod val="50000"/>
                <a:lumOff val="50000"/>
              </a:schemeClr>
            </a:solidFill>
            <a:tailEnd type="triangle"/>
          </a:ln>
        </p:spPr>
        <p:style>
          <a:lnRef idx="2">
            <a:schemeClr val="dk1"/>
          </a:lnRef>
          <a:fillRef idx="0">
            <a:schemeClr val="dk1"/>
          </a:fillRef>
          <a:effectRef idx="1">
            <a:schemeClr val="dk1"/>
          </a:effectRef>
          <a:fontRef idx="minor">
            <a:schemeClr val="tx1"/>
          </a:fontRef>
        </p:style>
      </p:cxnSp>
      <p:sp>
        <p:nvSpPr>
          <p:cNvPr id="19" name="TextBox 18">
            <a:extLst>
              <a:ext uri="{FF2B5EF4-FFF2-40B4-BE49-F238E27FC236}">
                <a16:creationId xmlns:a16="http://schemas.microsoft.com/office/drawing/2014/main" id="{1187BD88-5F0C-55D7-8AAF-1F1D96848F29}"/>
              </a:ext>
            </a:extLst>
          </p:cNvPr>
          <p:cNvSpPr txBox="1"/>
          <p:nvPr/>
        </p:nvSpPr>
        <p:spPr>
          <a:xfrm>
            <a:off x="3814319" y="2614749"/>
            <a:ext cx="3319805" cy="923330"/>
          </a:xfrm>
          <a:prstGeom prst="rect">
            <a:avLst/>
          </a:prstGeom>
          <a:noFill/>
        </p:spPr>
        <p:txBody>
          <a:bodyPr wrap="square" rtlCol="0">
            <a:spAutoFit/>
          </a:bodyPr>
          <a:lstStyle/>
          <a:p>
            <a:r>
              <a:rPr kumimoji="1" lang="en-US" altLang="ja-JP" b="1" dirty="0">
                <a:solidFill>
                  <a:schemeClr val="accent2"/>
                </a:solidFill>
              </a:rPr>
              <a:t>Collect data once every five minutes: send every time the buffer is full</a:t>
            </a:r>
            <a:endParaRPr kumimoji="1" lang="ja-JP" altLang="en-US" b="1" dirty="0">
              <a:solidFill>
                <a:schemeClr val="accent2"/>
              </a:solidFill>
            </a:endParaRPr>
          </a:p>
        </p:txBody>
      </p:sp>
      <p:sp>
        <p:nvSpPr>
          <p:cNvPr id="20" name="TextBox 19">
            <a:extLst>
              <a:ext uri="{FF2B5EF4-FFF2-40B4-BE49-F238E27FC236}">
                <a16:creationId xmlns:a16="http://schemas.microsoft.com/office/drawing/2014/main" id="{2491F5B7-A9DE-BAAA-F596-6D4344FB4EB2}"/>
              </a:ext>
            </a:extLst>
          </p:cNvPr>
          <p:cNvSpPr txBox="1"/>
          <p:nvPr/>
        </p:nvSpPr>
        <p:spPr>
          <a:xfrm>
            <a:off x="9104722" y="792578"/>
            <a:ext cx="3319805" cy="923330"/>
          </a:xfrm>
          <a:prstGeom prst="rect">
            <a:avLst/>
          </a:prstGeom>
          <a:noFill/>
        </p:spPr>
        <p:txBody>
          <a:bodyPr wrap="square" rtlCol="0">
            <a:spAutoFit/>
          </a:bodyPr>
          <a:lstStyle/>
          <a:p>
            <a:r>
              <a:rPr lang="en-US" altLang="ja-JP" b="1" dirty="0">
                <a:solidFill>
                  <a:schemeClr val="accent4"/>
                </a:solidFill>
              </a:rPr>
              <a:t>If FP&lt;70% twice in a row, go back to collecting data once every hour</a:t>
            </a:r>
            <a:endParaRPr kumimoji="1" lang="ja-JP" altLang="en-US" b="1" dirty="0">
              <a:solidFill>
                <a:schemeClr val="accent4"/>
              </a:solidFill>
            </a:endParaRPr>
          </a:p>
        </p:txBody>
      </p:sp>
      <p:cxnSp>
        <p:nvCxnSpPr>
          <p:cNvPr id="21" name="Straight Arrow Connector 20">
            <a:extLst>
              <a:ext uri="{FF2B5EF4-FFF2-40B4-BE49-F238E27FC236}">
                <a16:creationId xmlns:a16="http://schemas.microsoft.com/office/drawing/2014/main" id="{AF5D7E15-7D53-7F01-9566-6337D41CAB18}"/>
              </a:ext>
            </a:extLst>
          </p:cNvPr>
          <p:cNvCxnSpPr>
            <a:cxnSpLocks/>
          </p:cNvCxnSpPr>
          <p:nvPr/>
        </p:nvCxnSpPr>
        <p:spPr>
          <a:xfrm flipV="1">
            <a:off x="10666428" y="2441541"/>
            <a:ext cx="1525572" cy="3296"/>
          </a:xfrm>
          <a:prstGeom prst="straightConnector1">
            <a:avLst/>
          </a:prstGeom>
          <a:ln w="76200">
            <a:solidFill>
              <a:schemeClr val="tx2">
                <a:lumMod val="50000"/>
                <a:lumOff val="50000"/>
              </a:schemeClr>
            </a:solidFill>
            <a:tailEnd type="triangle"/>
          </a:ln>
        </p:spPr>
        <p:style>
          <a:lnRef idx="2">
            <a:schemeClr val="dk1"/>
          </a:lnRef>
          <a:fillRef idx="0">
            <a:schemeClr val="dk1"/>
          </a:fillRef>
          <a:effectRef idx="1">
            <a:schemeClr val="dk1"/>
          </a:effectRef>
          <a:fontRef idx="minor">
            <a:schemeClr val="tx1"/>
          </a:fontRef>
        </p:style>
      </p:cxnSp>
      <p:sp>
        <p:nvSpPr>
          <p:cNvPr id="28" name="TextBox 27">
            <a:extLst>
              <a:ext uri="{FF2B5EF4-FFF2-40B4-BE49-F238E27FC236}">
                <a16:creationId xmlns:a16="http://schemas.microsoft.com/office/drawing/2014/main" id="{E5356C7C-712F-F429-F740-9B20E2FAA7B2}"/>
              </a:ext>
            </a:extLst>
          </p:cNvPr>
          <p:cNvSpPr txBox="1"/>
          <p:nvPr/>
        </p:nvSpPr>
        <p:spPr>
          <a:xfrm>
            <a:off x="84841" y="112777"/>
            <a:ext cx="3814317" cy="830997"/>
          </a:xfrm>
          <a:prstGeom prst="rect">
            <a:avLst/>
          </a:prstGeom>
          <a:noFill/>
        </p:spPr>
        <p:txBody>
          <a:bodyPr wrap="square" rtlCol="0">
            <a:spAutoFit/>
          </a:bodyPr>
          <a:lstStyle/>
          <a:p>
            <a:pPr marL="400050" indent="-400050">
              <a:buAutoNum type="romanUcPeriod"/>
            </a:pPr>
            <a:r>
              <a:rPr kumimoji="1" lang="en-US" altLang="ja-JP" sz="2400" b="1" dirty="0">
                <a:solidFill>
                  <a:schemeClr val="accent4"/>
                </a:solidFill>
              </a:rPr>
              <a:t>Normal</a:t>
            </a:r>
          </a:p>
          <a:p>
            <a:pPr marL="400050" indent="-400050">
              <a:buAutoNum type="romanUcPeriod"/>
            </a:pPr>
            <a:r>
              <a:rPr lang="en-US" altLang="ja-JP" sz="2400" b="1" dirty="0">
                <a:solidFill>
                  <a:schemeClr val="accent2"/>
                </a:solidFill>
              </a:rPr>
              <a:t>Emergency</a:t>
            </a:r>
            <a:endParaRPr kumimoji="1" lang="ja-JP" altLang="en-US" sz="2400" b="1" dirty="0">
              <a:solidFill>
                <a:schemeClr val="accent2"/>
              </a:solidFill>
            </a:endParaRPr>
          </a:p>
        </p:txBody>
      </p:sp>
    </p:spTree>
    <p:extLst>
      <p:ext uri="{BB962C8B-B14F-4D97-AF65-F5344CB8AC3E}">
        <p14:creationId xmlns:p14="http://schemas.microsoft.com/office/powerpoint/2010/main" val="28568064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90CD2-7C5F-9067-3F19-85E0690A6E83}"/>
              </a:ext>
            </a:extLst>
          </p:cNvPr>
          <p:cNvSpPr>
            <a:spLocks noGrp="1"/>
          </p:cNvSpPr>
          <p:nvPr>
            <p:ph type="ctrTitle"/>
          </p:nvPr>
        </p:nvSpPr>
        <p:spPr/>
        <p:txBody>
          <a:bodyPr>
            <a:normAutofit fontScale="90000"/>
          </a:bodyPr>
          <a:lstStyle/>
          <a:p>
            <a:r>
              <a:rPr lang="en-US" altLang="ja-JP" dirty="0"/>
              <a:t>Discussion on Huffman Encoding and Threshold</a:t>
            </a:r>
            <a:br>
              <a:rPr lang="en-US" altLang="ja-JP" dirty="0"/>
            </a:br>
            <a:r>
              <a:rPr lang="en-US" altLang="ja-JP" dirty="0"/>
              <a:t>(</a:t>
            </a:r>
            <a:r>
              <a:rPr lang="ja-JP" altLang="en-US" dirty="0"/>
              <a:t>日本語</a:t>
            </a:r>
            <a:r>
              <a:rPr lang="en-US" altLang="ja-JP" dirty="0"/>
              <a:t>)</a:t>
            </a:r>
            <a:endParaRPr kumimoji="1" lang="ja-JP" altLang="en-US" dirty="0"/>
          </a:p>
        </p:txBody>
      </p:sp>
      <p:sp>
        <p:nvSpPr>
          <p:cNvPr id="3" name="Subtitle 2">
            <a:extLst>
              <a:ext uri="{FF2B5EF4-FFF2-40B4-BE49-F238E27FC236}">
                <a16:creationId xmlns:a16="http://schemas.microsoft.com/office/drawing/2014/main" id="{BC28C00E-CD36-3E14-F00A-98C04CECB6D3}"/>
              </a:ext>
            </a:extLst>
          </p:cNvPr>
          <p:cNvSpPr>
            <a:spLocks noGrp="1"/>
          </p:cNvSpPr>
          <p:nvPr>
            <p:ph type="subTitle" idx="1"/>
          </p:nvPr>
        </p:nvSpPr>
        <p:spPr/>
        <p:txBody>
          <a:bodyPr/>
          <a:lstStyle/>
          <a:p>
            <a:r>
              <a:rPr kumimoji="1" lang="en-US" altLang="ja-JP" dirty="0"/>
              <a:t>17 March, 2025</a:t>
            </a:r>
          </a:p>
          <a:p>
            <a:r>
              <a:rPr lang="en-US" altLang="ja-JP" dirty="0"/>
              <a:t>Airi </a:t>
            </a:r>
            <a:r>
              <a:rPr lang="en-US" altLang="ja-JP" dirty="0" err="1"/>
              <a:t>Kokuryo</a:t>
            </a:r>
            <a:endParaRPr kumimoji="1" lang="ja-JP" altLang="en-US" dirty="0"/>
          </a:p>
        </p:txBody>
      </p:sp>
    </p:spTree>
    <p:extLst>
      <p:ext uri="{BB962C8B-B14F-4D97-AF65-F5344CB8AC3E}">
        <p14:creationId xmlns:p14="http://schemas.microsoft.com/office/powerpoint/2010/main" val="30306630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2905A-0E1B-C8A4-F952-A74782A021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D34DEA-C2C8-502E-4748-E78F4042CBA7}"/>
              </a:ext>
            </a:extLst>
          </p:cNvPr>
          <p:cNvSpPr>
            <a:spLocks noGrp="1"/>
          </p:cNvSpPr>
          <p:nvPr>
            <p:ph type="title"/>
          </p:nvPr>
        </p:nvSpPr>
        <p:spPr/>
        <p:txBody>
          <a:bodyPr/>
          <a:lstStyle/>
          <a:p>
            <a:r>
              <a:rPr kumimoji="1" lang="ja-JP" altLang="en-US" dirty="0"/>
              <a:t>現在のデータ送信方法</a:t>
            </a:r>
            <a:r>
              <a:rPr kumimoji="1" lang="en-US" altLang="ja-JP" dirty="0"/>
              <a:t>(</a:t>
            </a:r>
            <a:r>
              <a:rPr kumimoji="1" lang="ja-JP" altLang="en-US" dirty="0"/>
              <a:t>概要</a:t>
            </a:r>
            <a:r>
              <a:rPr kumimoji="1" lang="en-US" altLang="ja-JP" dirty="0"/>
              <a:t>)</a:t>
            </a:r>
            <a:endParaRPr kumimoji="1" lang="ja-JP" altLang="en-US" dirty="0"/>
          </a:p>
        </p:txBody>
      </p:sp>
      <p:sp>
        <p:nvSpPr>
          <p:cNvPr id="5" name="Rectangle 2">
            <a:extLst>
              <a:ext uri="{FF2B5EF4-FFF2-40B4-BE49-F238E27FC236}">
                <a16:creationId xmlns:a16="http://schemas.microsoft.com/office/drawing/2014/main" id="{0A6FE16D-BBD5-00F4-7C17-F66250F22AD9}"/>
              </a:ext>
            </a:extLst>
          </p:cNvPr>
          <p:cNvSpPr>
            <a:spLocks noGrp="1" noChangeArrowheads="1"/>
          </p:cNvSpPr>
          <p:nvPr>
            <p:ph idx="1"/>
          </p:nvPr>
        </p:nvSpPr>
        <p:spPr bwMode="auto">
          <a:xfrm>
            <a:off x="838200" y="1425090"/>
            <a:ext cx="10934700" cy="5188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ja-JP" sz="3200" b="0" i="0" u="none" strike="noStrike" cap="none" normalizeH="0" baseline="0" dirty="0">
                <a:ln>
                  <a:noFill/>
                </a:ln>
                <a:solidFill>
                  <a:schemeClr val="tx1"/>
                </a:solidFill>
                <a:effectLst/>
                <a:latin typeface="Arial" panose="020B0604020202020204" pitchFamily="34" charset="0"/>
              </a:rPr>
              <a:t> </a:t>
            </a:r>
            <a:r>
              <a:rPr kumimoji="0" lang="ja-JP" altLang="ja-JP" sz="3200" b="0" i="0" u="none" strike="noStrike" cap="none" normalizeH="0" baseline="0" dirty="0">
                <a:ln>
                  <a:noFill/>
                </a:ln>
                <a:solidFill>
                  <a:srgbClr val="C00000"/>
                </a:solidFill>
                <a:effectLst/>
                <a:latin typeface="Arial" panose="020B0604020202020204" pitchFamily="34" charset="0"/>
              </a:rPr>
              <a:t>四季に基づいた静的</a:t>
            </a:r>
            <a:r>
              <a:rPr kumimoji="0" lang="ja-JP" altLang="en-US" sz="3200" b="0" i="0" u="none" strike="noStrike" cap="none" normalizeH="0" baseline="0" dirty="0">
                <a:ln>
                  <a:noFill/>
                </a:ln>
                <a:solidFill>
                  <a:srgbClr val="C00000"/>
                </a:solidFill>
                <a:effectLst/>
                <a:latin typeface="Arial" panose="020B0604020202020204" pitchFamily="34" charset="0"/>
              </a:rPr>
              <a:t>な</a:t>
            </a:r>
            <a:r>
              <a:rPr kumimoji="0" lang="ja-JP" altLang="ja-JP" sz="3200" b="0" i="0" u="none" strike="noStrike" cap="none" normalizeH="0" baseline="0" dirty="0">
                <a:ln>
                  <a:noFill/>
                </a:ln>
                <a:solidFill>
                  <a:srgbClr val="C00000"/>
                </a:solidFill>
                <a:effectLst/>
                <a:latin typeface="Arial" panose="020B0604020202020204" pitchFamily="34" charset="0"/>
              </a:rPr>
              <a:t>ハフマン表</a:t>
            </a:r>
            <a:r>
              <a:rPr kumimoji="0" lang="ja-JP" altLang="ja-JP" sz="3200" b="0" i="0" u="none" strike="noStrike" cap="none" normalizeH="0" baseline="0" dirty="0">
                <a:ln>
                  <a:noFill/>
                </a:ln>
                <a:solidFill>
                  <a:schemeClr val="tx1"/>
                </a:solidFill>
                <a:effectLst/>
                <a:latin typeface="Arial" panose="020B0604020202020204" pitchFamily="34" charset="0"/>
              </a:rPr>
              <a:t>を使用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ja-JP" sz="3200" b="0" i="0" u="none" strike="noStrike" cap="none" normalizeH="0" baseline="0" dirty="0">
                <a:ln>
                  <a:noFill/>
                </a:ln>
                <a:solidFill>
                  <a:schemeClr val="tx1"/>
                </a:solidFill>
                <a:effectLst/>
                <a:latin typeface="Arial" panose="020B0604020202020204" pitchFamily="34" charset="0"/>
              </a:rPr>
              <a:t> </a:t>
            </a:r>
            <a:r>
              <a:rPr kumimoji="0" lang="ja-JP" altLang="ja-JP" sz="3200" b="0" i="0" u="none" strike="noStrike" cap="none" normalizeH="0" baseline="0" dirty="0">
                <a:ln>
                  <a:noFill/>
                </a:ln>
                <a:solidFill>
                  <a:srgbClr val="C00000"/>
                </a:solidFill>
                <a:effectLst/>
                <a:latin typeface="Arial" panose="020B0604020202020204" pitchFamily="34" charset="0"/>
              </a:rPr>
              <a:t>温度</a:t>
            </a:r>
            <a:r>
              <a:rPr kumimoji="0" lang="ja-JP" altLang="ja-JP" sz="3200" b="0" i="0" u="none" strike="noStrike" cap="none" normalizeH="0" baseline="0" dirty="0">
                <a:ln>
                  <a:noFill/>
                </a:ln>
                <a:solidFill>
                  <a:schemeClr val="tx1"/>
                </a:solidFill>
                <a:effectLst/>
                <a:latin typeface="Arial" panose="020B0604020202020204" pitchFamily="34" charset="0"/>
              </a:rPr>
              <a:t>または</a:t>
            </a:r>
            <a:r>
              <a:rPr kumimoji="0" lang="ja-JP" altLang="ja-JP" sz="3200" b="0" i="0" u="none" strike="noStrike" cap="none" normalizeH="0" baseline="0" dirty="0">
                <a:ln>
                  <a:noFill/>
                </a:ln>
                <a:solidFill>
                  <a:srgbClr val="C00000"/>
                </a:solidFill>
                <a:effectLst/>
                <a:latin typeface="Arial" panose="020B0604020202020204" pitchFamily="34" charset="0"/>
              </a:rPr>
              <a:t>湿度</a:t>
            </a:r>
            <a:r>
              <a:rPr kumimoji="0" lang="ja-JP" altLang="ja-JP" sz="3200" b="0" i="0" u="none" strike="noStrike" cap="none" normalizeH="0" baseline="0" dirty="0">
                <a:ln>
                  <a:noFill/>
                </a:ln>
                <a:solidFill>
                  <a:schemeClr val="tx1"/>
                </a:solidFill>
                <a:effectLst/>
                <a:latin typeface="Arial" panose="020B0604020202020204" pitchFamily="34" charset="0"/>
              </a:rPr>
              <a:t>が</a:t>
            </a:r>
            <a:r>
              <a:rPr kumimoji="0" lang="ja-JP" altLang="ja-JP" sz="3200" b="0" i="0" u="none" strike="noStrike" cap="none" normalizeH="0" baseline="0" dirty="0">
                <a:ln>
                  <a:noFill/>
                </a:ln>
                <a:solidFill>
                  <a:srgbClr val="C00000"/>
                </a:solidFill>
                <a:effectLst/>
                <a:latin typeface="Arial" panose="020B0604020202020204" pitchFamily="34" charset="0"/>
              </a:rPr>
              <a:t>閾値</a:t>
            </a:r>
            <a:r>
              <a:rPr kumimoji="0" lang="ja-JP" altLang="ja-JP" sz="3200" b="0" i="0" u="none" strike="noStrike" cap="none" normalizeH="0" baseline="0" dirty="0">
                <a:ln>
                  <a:noFill/>
                </a:ln>
                <a:solidFill>
                  <a:schemeClr val="tx1"/>
                </a:solidFill>
                <a:effectLst/>
                <a:latin typeface="Arial" panose="020B0604020202020204" pitchFamily="34" charset="0"/>
              </a:rPr>
              <a:t>を超えた場合のみデータを送信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ja-JP" sz="3200" b="0" i="0" u="none" strike="noStrike" cap="none" normalizeH="0" baseline="0" dirty="0">
                <a:ln>
                  <a:noFill/>
                </a:ln>
                <a:solidFill>
                  <a:schemeClr val="tx1"/>
                </a:solidFill>
                <a:effectLst/>
                <a:latin typeface="Arial" panose="020B0604020202020204" pitchFamily="34" charset="0"/>
              </a:rPr>
              <a:t> </a:t>
            </a:r>
            <a:r>
              <a:rPr kumimoji="0" lang="ja-JP" altLang="ja-JP" sz="3200" b="0" i="0" u="none" strike="noStrike" cap="none" normalizeH="0" baseline="0" dirty="0">
                <a:ln>
                  <a:noFill/>
                </a:ln>
                <a:solidFill>
                  <a:schemeClr val="tx1"/>
                </a:solidFill>
                <a:effectLst/>
                <a:latin typeface="Arial" panose="020B0604020202020204" pitchFamily="34" charset="0"/>
              </a:rPr>
              <a:t>ハフマン表は複数の範囲に分けられた</a:t>
            </a:r>
            <a:r>
              <a:rPr kumimoji="0" lang="ja-JP" altLang="en-US" sz="3200" dirty="0">
                <a:latin typeface="Arial" panose="020B0604020202020204" pitchFamily="34" charset="0"/>
              </a:rPr>
              <a:t>温度・湿度</a:t>
            </a:r>
            <a:r>
              <a:rPr kumimoji="0" lang="ja-JP" altLang="ja-JP" sz="3200" b="0" i="0" u="none" strike="noStrike" cap="none" normalizeH="0" baseline="0" dirty="0">
                <a:ln>
                  <a:noFill/>
                </a:ln>
                <a:solidFill>
                  <a:schemeClr val="tx1"/>
                </a:solidFill>
                <a:effectLst/>
                <a:latin typeface="Arial" panose="020B0604020202020204" pitchFamily="34" charset="0"/>
              </a:rPr>
              <a:t>データに基づいており、連続したデータがある場合は、より高い圧縮を実現するためにランレングス圧縮を組み合わせる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ja-JP" sz="3200" b="0" i="0" u="none" strike="noStrike" cap="none" normalizeH="0" baseline="0" dirty="0">
                <a:ln>
                  <a:noFill/>
                </a:ln>
                <a:solidFill>
                  <a:schemeClr val="tx1"/>
                </a:solidFill>
                <a:effectLst/>
                <a:latin typeface="Arial" panose="020B0604020202020204" pitchFamily="34" charset="0"/>
              </a:rPr>
              <a:t> </a:t>
            </a:r>
            <a:r>
              <a:rPr kumimoji="0" lang="ja-JP" altLang="ja-JP" sz="3200" b="0" i="0" u="none" strike="noStrike" cap="none" normalizeH="0" baseline="0" dirty="0">
                <a:ln>
                  <a:noFill/>
                </a:ln>
                <a:solidFill>
                  <a:srgbClr val="C00000"/>
                </a:solidFill>
                <a:effectLst/>
                <a:latin typeface="Arial" panose="020B0604020202020204" pitchFamily="34" charset="0"/>
              </a:rPr>
              <a:t>ハフマン符号化</a:t>
            </a:r>
            <a:r>
              <a:rPr kumimoji="0" lang="ja-JP" altLang="ja-JP" sz="3200" b="0" i="0" u="none" strike="noStrike" cap="none" normalizeH="0" baseline="0" dirty="0">
                <a:ln>
                  <a:noFill/>
                </a:ln>
                <a:solidFill>
                  <a:schemeClr val="tx1"/>
                </a:solidFill>
                <a:effectLst/>
                <a:latin typeface="Arial" panose="020B0604020202020204" pitchFamily="34" charset="0"/>
              </a:rPr>
              <a:t>と</a:t>
            </a:r>
            <a:r>
              <a:rPr kumimoji="0" lang="ja-JP" altLang="ja-JP" sz="3200" b="0" i="0" u="none" strike="noStrike" cap="none" normalizeH="0" baseline="0" dirty="0">
                <a:ln>
                  <a:noFill/>
                </a:ln>
                <a:solidFill>
                  <a:srgbClr val="C00000"/>
                </a:solidFill>
                <a:effectLst/>
                <a:latin typeface="Arial" panose="020B0604020202020204" pitchFamily="34" charset="0"/>
              </a:rPr>
              <a:t>ランレングス圧縮</a:t>
            </a:r>
            <a:r>
              <a:rPr kumimoji="0" lang="ja-JP" altLang="ja-JP" sz="3200" b="0" i="0" u="none" strike="noStrike" cap="none" normalizeH="0" baseline="0" dirty="0">
                <a:ln>
                  <a:noFill/>
                </a:ln>
                <a:solidFill>
                  <a:schemeClr val="tx1"/>
                </a:solidFill>
                <a:effectLst/>
                <a:latin typeface="Arial" panose="020B0604020202020204" pitchFamily="34" charset="0"/>
              </a:rPr>
              <a:t>の</a:t>
            </a:r>
            <a:r>
              <a:rPr kumimoji="0" lang="ja-JP" altLang="ja-JP" sz="3200" b="0" i="0" u="none" strike="noStrike" cap="none" normalizeH="0" baseline="0" dirty="0">
                <a:ln>
                  <a:noFill/>
                </a:ln>
                <a:solidFill>
                  <a:srgbClr val="C00000"/>
                </a:solidFill>
                <a:effectLst/>
                <a:latin typeface="Arial" panose="020B0604020202020204" pitchFamily="34" charset="0"/>
              </a:rPr>
              <a:t>組み合わせ</a:t>
            </a:r>
            <a:r>
              <a:rPr kumimoji="0" lang="ja-JP" altLang="ja-JP" sz="3200" b="0" i="0" u="none" strike="noStrike" cap="none" normalizeH="0" baseline="0" dirty="0">
                <a:ln>
                  <a:noFill/>
                </a:ln>
                <a:solidFill>
                  <a:schemeClr val="tx1"/>
                </a:solidFill>
                <a:effectLst/>
                <a:latin typeface="Arial" panose="020B0604020202020204" pitchFamily="34" charset="0"/>
              </a:rPr>
              <a:t>を用いてLoRaWANにデータを送信 </a:t>
            </a:r>
          </a:p>
        </p:txBody>
      </p:sp>
    </p:spTree>
    <p:extLst>
      <p:ext uri="{BB962C8B-B14F-4D97-AF65-F5344CB8AC3E}">
        <p14:creationId xmlns:p14="http://schemas.microsoft.com/office/powerpoint/2010/main" val="37919570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50B52-54CA-62D8-9B30-78C044536A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0B1D10-F12D-5EA3-BA4E-8610A8EFFCE4}"/>
              </a:ext>
            </a:extLst>
          </p:cNvPr>
          <p:cNvSpPr>
            <a:spLocks noGrp="1"/>
          </p:cNvSpPr>
          <p:nvPr>
            <p:ph type="title"/>
          </p:nvPr>
        </p:nvSpPr>
        <p:spPr/>
        <p:txBody>
          <a:bodyPr/>
          <a:lstStyle/>
          <a:p>
            <a:r>
              <a:rPr kumimoji="1" lang="ja-JP" altLang="en-US" dirty="0"/>
              <a:t>問題</a:t>
            </a:r>
          </a:p>
        </p:txBody>
      </p:sp>
      <p:sp>
        <p:nvSpPr>
          <p:cNvPr id="3" name="Content Placeholder 2">
            <a:extLst>
              <a:ext uri="{FF2B5EF4-FFF2-40B4-BE49-F238E27FC236}">
                <a16:creationId xmlns:a16="http://schemas.microsoft.com/office/drawing/2014/main" id="{A0301453-156F-895D-CA0E-A9D1FCA5F708}"/>
              </a:ext>
            </a:extLst>
          </p:cNvPr>
          <p:cNvSpPr>
            <a:spLocks noGrp="1"/>
          </p:cNvSpPr>
          <p:nvPr>
            <p:ph idx="1"/>
          </p:nvPr>
        </p:nvSpPr>
        <p:spPr/>
        <p:txBody>
          <a:bodyPr>
            <a:normAutofit/>
          </a:bodyPr>
          <a:lstStyle/>
          <a:p>
            <a:r>
              <a:rPr kumimoji="1" lang="ja-JP" altLang="en-US" dirty="0">
                <a:solidFill>
                  <a:srgbClr val="C00000"/>
                </a:solidFill>
              </a:rPr>
              <a:t>過去の観測データ</a:t>
            </a:r>
            <a:r>
              <a:rPr kumimoji="1" lang="ja-JP" altLang="en-US" dirty="0"/>
              <a:t>を使用して特定のエリア向けに作成した静的なハフマン表を利用しているため、</a:t>
            </a:r>
            <a:r>
              <a:rPr kumimoji="1" lang="ja-JP" altLang="en-US" dirty="0">
                <a:solidFill>
                  <a:srgbClr val="C00000"/>
                </a:solidFill>
              </a:rPr>
              <a:t>観測エリア外では適用できない</a:t>
            </a:r>
            <a:r>
              <a:rPr kumimoji="1" lang="ja-JP" altLang="en-US" dirty="0"/>
              <a:t>。</a:t>
            </a:r>
            <a:endParaRPr kumimoji="1" lang="en-US" altLang="ja-JP" dirty="0"/>
          </a:p>
          <a:p>
            <a:r>
              <a:rPr kumimoji="1" lang="ja-JP" altLang="en-US" dirty="0">
                <a:solidFill>
                  <a:srgbClr val="C00000"/>
                </a:solidFill>
              </a:rPr>
              <a:t>地球温暖化</a:t>
            </a:r>
            <a:r>
              <a:rPr kumimoji="1" lang="ja-JP" altLang="en-US" dirty="0"/>
              <a:t>の影響で、温度や湿度などの</a:t>
            </a:r>
            <a:r>
              <a:rPr kumimoji="1" lang="ja-JP" altLang="en-US" dirty="0">
                <a:solidFill>
                  <a:srgbClr val="C00000"/>
                </a:solidFill>
              </a:rPr>
              <a:t>データが不安定</a:t>
            </a:r>
            <a:r>
              <a:rPr kumimoji="1" lang="ja-JP" altLang="en-US" dirty="0"/>
              <a:t>になる可能性があり、過去の静的データに依存するのは難しい。</a:t>
            </a:r>
            <a:endParaRPr kumimoji="1" lang="en-US" altLang="ja-JP" dirty="0"/>
          </a:p>
          <a:p>
            <a:r>
              <a:rPr lang="ja-JP" altLang="en-US" dirty="0"/>
              <a:t>閾値を用いているため、</a:t>
            </a:r>
            <a:r>
              <a:rPr lang="ja-JP" altLang="en-US" dirty="0">
                <a:solidFill>
                  <a:srgbClr val="C00000"/>
                </a:solidFill>
              </a:rPr>
              <a:t>送信されるデータ</a:t>
            </a:r>
            <a:r>
              <a:rPr lang="ja-JP" altLang="en-US" dirty="0"/>
              <a:t>は</a:t>
            </a:r>
            <a:r>
              <a:rPr lang="ja-JP" altLang="en-US" dirty="0">
                <a:solidFill>
                  <a:srgbClr val="C00000"/>
                </a:solidFill>
              </a:rPr>
              <a:t>閾値付近</a:t>
            </a:r>
            <a:r>
              <a:rPr lang="ja-JP" altLang="en-US" dirty="0"/>
              <a:t>の値が多くなる可能性がある。特に豪雨時には温度や湿度が極端に高くなることがあり、そうした</a:t>
            </a:r>
            <a:r>
              <a:rPr lang="ja-JP" altLang="en-US" dirty="0">
                <a:solidFill>
                  <a:srgbClr val="C00000"/>
                </a:solidFill>
              </a:rPr>
              <a:t>異常値</a:t>
            </a:r>
            <a:r>
              <a:rPr lang="ja-JP" altLang="en-US" dirty="0"/>
              <a:t>は各季節の</a:t>
            </a:r>
            <a:r>
              <a:rPr lang="ja-JP" altLang="en-US" dirty="0">
                <a:solidFill>
                  <a:srgbClr val="C00000"/>
                </a:solidFill>
              </a:rPr>
              <a:t>通常のデータ分布とは異なる</a:t>
            </a:r>
            <a:r>
              <a:rPr lang="ja-JP" altLang="en-US" dirty="0"/>
              <a:t>ため、現在のハフマン表では適切に圧縮できない可能性がある。</a:t>
            </a:r>
            <a:endParaRPr kumimoji="1" lang="ja-JP" altLang="en-US" dirty="0"/>
          </a:p>
        </p:txBody>
      </p:sp>
    </p:spTree>
    <p:extLst>
      <p:ext uri="{BB962C8B-B14F-4D97-AF65-F5344CB8AC3E}">
        <p14:creationId xmlns:p14="http://schemas.microsoft.com/office/powerpoint/2010/main" val="28168676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BE04B-DA77-7D2D-8038-657C7B791A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9E8D9F-80BC-DEAD-D3A8-4201D86BD432}"/>
              </a:ext>
            </a:extLst>
          </p:cNvPr>
          <p:cNvSpPr>
            <a:spLocks noGrp="1"/>
          </p:cNvSpPr>
          <p:nvPr>
            <p:ph type="title"/>
          </p:nvPr>
        </p:nvSpPr>
        <p:spPr/>
        <p:txBody>
          <a:bodyPr/>
          <a:lstStyle/>
          <a:p>
            <a:r>
              <a:rPr kumimoji="1" lang="en-US" altLang="ja-JP" dirty="0"/>
              <a:t>Flood Probability (FP)</a:t>
            </a:r>
            <a:endParaRPr kumimoji="1" lang="ja-JP" alt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22E5134-94D4-4426-C2CA-FB64AF51F097}"/>
                  </a:ext>
                </a:extLst>
              </p:cNvPr>
              <p:cNvSpPr>
                <a:spLocks noGrp="1"/>
              </p:cNvSpPr>
              <p:nvPr>
                <p:ph idx="1"/>
              </p:nvPr>
            </p:nvSpPr>
            <p:spPr>
              <a:xfrm>
                <a:off x="838200" y="1825625"/>
                <a:ext cx="10515600" cy="4820272"/>
              </a:xfrm>
            </p:spPr>
            <p:txBody>
              <a:bodyPr>
                <a:normAutofit fontScale="77500" lnSpcReduction="20000"/>
              </a:bodyPr>
              <a:lstStyle/>
              <a:p>
                <a:pPr marL="0" indent="0">
                  <a:buNone/>
                </a:pPr>
                <a:r>
                  <a:rPr kumimoji="1" lang="ja-JP" altLang="en-US" dirty="0"/>
                  <a:t>閾値</a:t>
                </a:r>
                <a:r>
                  <a:rPr kumimoji="1" lang="en-US" altLang="ja-JP" dirty="0"/>
                  <a:t>: 70%</a:t>
                </a:r>
              </a:p>
              <a:p>
                <a:pPr marL="0" indent="0">
                  <a:buNone/>
                </a:pPr>
                <a:r>
                  <a:rPr kumimoji="1" lang="ja-JP" altLang="en-US" dirty="0"/>
                  <a:t>閾値に入力する値</a:t>
                </a:r>
                <a:r>
                  <a:rPr kumimoji="1" lang="en-US" altLang="ja-JP" dirty="0"/>
                  <a:t>FP</a:t>
                </a:r>
              </a:p>
              <a:p>
                <a:pPr marL="0" indent="0">
                  <a:buNone/>
                </a:pPr>
                <a:r>
                  <a:rPr lang="en-US" altLang="ja-JP" dirty="0"/>
                  <a:t>Clausius Clapeyron Equation </a:t>
                </a:r>
              </a:p>
              <a:p>
                <a:pPr marL="0" indent="0">
                  <a:buNone/>
                </a:pPr>
                <a14:m>
                  <m:oMathPara xmlns:m="http://schemas.openxmlformats.org/officeDocument/2006/math">
                    <m:oMathParaPr>
                      <m:jc m:val="centerGroup"/>
                    </m:oMathParaPr>
                    <m:oMath xmlns:m="http://schemas.openxmlformats.org/officeDocument/2006/math">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𝑒</m:t>
                          </m:r>
                        </m:e>
                        <m:sub>
                          <m:r>
                            <a:rPr lang="en-US" altLang="ja-JP" b="0" i="1" smtClean="0">
                              <a:latin typeface="Cambria Math" panose="02040503050406030204" pitchFamily="18" charset="0"/>
                            </a:rPr>
                            <m:t>𝑠</m:t>
                          </m:r>
                        </m:sub>
                      </m:sSub>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𝑇</m:t>
                          </m:r>
                        </m:e>
                      </m:d>
                      <m:r>
                        <a:rPr lang="en-US" altLang="ja-JP" b="0" i="1" smtClean="0">
                          <a:latin typeface="Cambria Math" panose="02040503050406030204" pitchFamily="18" charset="0"/>
                        </a:rPr>
                        <m:t>=6.112∗</m:t>
                      </m:r>
                      <m:r>
                        <m:rPr>
                          <m:sty m:val="p"/>
                        </m:rPr>
                        <a:rPr lang="en-US" altLang="ja-JP" b="0" i="0" smtClean="0">
                          <a:latin typeface="Cambria Math" panose="02040503050406030204" pitchFamily="18" charset="0"/>
                        </a:rPr>
                        <m:t>exp</m:t>
                      </m:r>
                      <m:r>
                        <a:rPr lang="en-US" altLang="ja-JP" b="0" i="1" smtClean="0">
                          <a:latin typeface="Cambria Math" panose="02040503050406030204" pitchFamily="18" charset="0"/>
                        </a:rPr>
                        <m:t>⁡(</m:t>
                      </m:r>
                      <m:f>
                        <m:fPr>
                          <m:ctrlPr>
                            <a:rPr lang="en-US" altLang="ja-JP" b="0" i="1" smtClean="0">
                              <a:latin typeface="Cambria Math" panose="02040503050406030204" pitchFamily="18" charset="0"/>
                            </a:rPr>
                          </m:ctrlPr>
                        </m:fPr>
                        <m:num>
                          <m:r>
                            <a:rPr lang="en-US" altLang="ja-JP" b="0" i="1" smtClean="0">
                              <a:latin typeface="Cambria Math" panose="02040503050406030204" pitchFamily="18" charset="0"/>
                            </a:rPr>
                            <m:t>17.67</m:t>
                          </m:r>
                          <m:r>
                            <a:rPr lang="en-US" altLang="ja-JP" b="0" i="1" smtClean="0">
                              <a:latin typeface="Cambria Math" panose="02040503050406030204" pitchFamily="18" charset="0"/>
                            </a:rPr>
                            <m:t>𝑇</m:t>
                          </m:r>
                        </m:num>
                        <m:den>
                          <m:r>
                            <a:rPr lang="en-US" altLang="ja-JP" b="0" i="1" smtClean="0">
                              <a:latin typeface="Cambria Math" panose="02040503050406030204" pitchFamily="18" charset="0"/>
                            </a:rPr>
                            <m:t>𝑇</m:t>
                          </m:r>
                          <m:r>
                            <a:rPr lang="en-US" altLang="ja-JP" b="0" i="1" smtClean="0">
                              <a:latin typeface="Cambria Math" panose="02040503050406030204" pitchFamily="18" charset="0"/>
                            </a:rPr>
                            <m:t>+243.5</m:t>
                          </m:r>
                        </m:den>
                      </m:f>
                      <m:r>
                        <a:rPr lang="en-US" altLang="ja-JP" b="0" i="1" smtClean="0">
                          <a:latin typeface="Cambria Math" panose="02040503050406030204" pitchFamily="18" charset="0"/>
                        </a:rPr>
                        <m:t>)</m:t>
                      </m:r>
                    </m:oMath>
                  </m:oMathPara>
                </a14:m>
                <a:endParaRPr lang="en-US" altLang="ja-JP" dirty="0"/>
              </a:p>
              <a:p>
                <a:pPr>
                  <a:buFontTx/>
                  <a:buChar char="-"/>
                </a:pPr>
                <a:r>
                  <a:rPr lang="en-US" altLang="ja-JP" dirty="0"/>
                  <a:t>Precipitable Water (PW)</a:t>
                </a:r>
              </a:p>
              <a:p>
                <a:pPr marL="0" indent="0">
                  <a:buNone/>
                </a:pPr>
                <a14:m>
                  <m:oMathPara xmlns:m="http://schemas.openxmlformats.org/officeDocument/2006/math">
                    <m:oMathParaPr>
                      <m:jc m:val="centerGroup"/>
                    </m:oMathParaPr>
                    <m:oMath xmlns:m="http://schemas.openxmlformats.org/officeDocument/2006/math">
                      <m:r>
                        <a:rPr lang="en-US" altLang="ja-JP" b="0" i="1" smtClean="0">
                          <a:latin typeface="Cambria Math" panose="02040503050406030204" pitchFamily="18" charset="0"/>
                        </a:rPr>
                        <m:t>𝑃𝑊</m:t>
                      </m:r>
                      <m:r>
                        <a:rPr lang="en-US" altLang="ja-JP" b="0" i="1" smtClean="0">
                          <a:latin typeface="Cambria Math" panose="02040503050406030204" pitchFamily="18" charset="0"/>
                        </a:rPr>
                        <m:t>=0.1∗</m:t>
                      </m:r>
                      <m:r>
                        <a:rPr lang="en-US" altLang="ja-JP" b="0" i="1" smtClean="0">
                          <a:latin typeface="Cambria Math" panose="02040503050406030204" pitchFamily="18" charset="0"/>
                        </a:rPr>
                        <m:t>𝑅𝐻</m:t>
                      </m:r>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𝑒</m:t>
                          </m:r>
                        </m:e>
                        <m:sub>
                          <m:r>
                            <a:rPr lang="en-US" altLang="ja-JP" b="0" i="1" smtClean="0">
                              <a:latin typeface="Cambria Math" panose="02040503050406030204" pitchFamily="18" charset="0"/>
                            </a:rPr>
                            <m:t>𝑠</m:t>
                          </m:r>
                        </m:sub>
                      </m:sSub>
                      <m:r>
                        <a:rPr lang="en-US" altLang="ja-JP" b="0" i="1" smtClean="0">
                          <a:latin typeface="Cambria Math" panose="02040503050406030204" pitchFamily="18" charset="0"/>
                        </a:rPr>
                        <m:t>(</m:t>
                      </m:r>
                      <m:r>
                        <a:rPr lang="en-US" altLang="ja-JP" b="0" i="1" smtClean="0">
                          <a:latin typeface="Cambria Math" panose="02040503050406030204" pitchFamily="18" charset="0"/>
                        </a:rPr>
                        <m:t>𝑇</m:t>
                      </m:r>
                      <m:r>
                        <a:rPr lang="en-US" altLang="ja-JP" b="0" i="1" smtClean="0">
                          <a:latin typeface="Cambria Math" panose="02040503050406030204" pitchFamily="18" charset="0"/>
                        </a:rPr>
                        <m:t>)</m:t>
                      </m:r>
                    </m:oMath>
                  </m:oMathPara>
                </a14:m>
                <a:endParaRPr lang="en-US" altLang="ja-JP" dirty="0"/>
              </a:p>
              <a:p>
                <a:pPr marL="0" indent="0" algn="ctr">
                  <a:buNone/>
                </a:pPr>
                <a:r>
                  <a:rPr lang="en-US" altLang="ja-JP" dirty="0"/>
                  <a:t>(RH is the Relative Humidity; measured using DHT11 sensor)</a:t>
                </a:r>
              </a:p>
              <a:p>
                <a:pPr>
                  <a:buFontTx/>
                  <a:buChar char="-"/>
                </a:pPr>
                <a:r>
                  <a:rPr lang="en-US" altLang="ja-JP" dirty="0"/>
                  <a:t>Flood Probability (FP)</a:t>
                </a:r>
              </a:p>
              <a:p>
                <a:pPr marL="0" indent="0">
                  <a:buNone/>
                </a:pPr>
                <a14:m>
                  <m:oMathPara xmlns:m="http://schemas.openxmlformats.org/officeDocument/2006/math">
                    <m:oMathParaPr>
                      <m:jc m:val="centerGroup"/>
                    </m:oMathParaPr>
                    <m:oMath xmlns:m="http://schemas.openxmlformats.org/officeDocument/2006/math">
                      <m:r>
                        <a:rPr lang="en-US" altLang="ja-JP" b="0" i="1" smtClean="0">
                          <a:latin typeface="Cambria Math" panose="02040503050406030204" pitchFamily="18" charset="0"/>
                        </a:rPr>
                        <m:t>𝐹𝑃</m:t>
                      </m:r>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m:t>
                          </m:r>
                        </m:e>
                      </m:d>
                      <m:r>
                        <a:rPr lang="en-US" altLang="ja-JP" b="0" i="1" smtClean="0">
                          <a:latin typeface="Cambria Math" panose="02040503050406030204" pitchFamily="18" charset="0"/>
                        </a:rPr>
                        <m:t>=</m:t>
                      </m:r>
                      <m:r>
                        <a:rPr lang="en-US" altLang="ja-JP" b="0" i="1" smtClean="0">
                          <a:latin typeface="Cambria Math" panose="02040503050406030204" pitchFamily="18" charset="0"/>
                        </a:rPr>
                        <m:t>𝑘</m:t>
                      </m:r>
                      <m:r>
                        <a:rPr lang="en-US" altLang="ja-JP" b="0" i="1" smtClean="0">
                          <a:latin typeface="Cambria Math" panose="02040503050406030204" pitchFamily="18" charset="0"/>
                        </a:rPr>
                        <m:t>∗</m:t>
                      </m:r>
                      <m:r>
                        <a:rPr lang="en-US" altLang="ja-JP" b="0" i="1" smtClean="0">
                          <a:latin typeface="Cambria Math" panose="02040503050406030204" pitchFamily="18" charset="0"/>
                        </a:rPr>
                        <m:t>𝑃𝑊</m:t>
                      </m:r>
                      <m:r>
                        <a:rPr lang="en-US" altLang="ja-JP" b="0" i="1" smtClean="0">
                          <a:latin typeface="Cambria Math" panose="02040503050406030204" pitchFamily="18" charset="0"/>
                        </a:rPr>
                        <m:t>∗</m:t>
                      </m:r>
                      <m:r>
                        <a:rPr lang="en-US" altLang="ja-JP" b="0" i="1" smtClean="0">
                          <a:latin typeface="Cambria Math" panose="02040503050406030204" pitchFamily="18" charset="0"/>
                        </a:rPr>
                        <m:t>𝑅𝐻</m:t>
                      </m:r>
                      <m:r>
                        <a:rPr lang="en-US" altLang="ja-JP" b="0" i="1" smtClean="0">
                          <a:latin typeface="Cambria Math" panose="02040503050406030204" pitchFamily="18" charset="0"/>
                        </a:rPr>
                        <m:t> </m:t>
                      </m:r>
                    </m:oMath>
                  </m:oMathPara>
                </a14:m>
                <a:endParaRPr lang="en-US" altLang="ja-JP" dirty="0"/>
              </a:p>
              <a:p>
                <a:pPr marL="0" indent="0" algn="ctr">
                  <a:buNone/>
                </a:pPr>
                <a:r>
                  <a:rPr lang="en-US" altLang="ja-JP" dirty="0"/>
                  <a:t>k = 0.1~0.5</a:t>
                </a:r>
              </a:p>
              <a:p>
                <a:pPr marL="0" indent="0">
                  <a:buNone/>
                </a:pPr>
                <a:r>
                  <a:rPr lang="en-US" altLang="ja-JP" sz="1300" dirty="0"/>
                  <a:t>Calculation Citations:</a:t>
                </a:r>
              </a:p>
              <a:p>
                <a:pPr marL="0" indent="0">
                  <a:buNone/>
                </a:pPr>
                <a:r>
                  <a:rPr lang="en-US" altLang="ja-JP" sz="1300" dirty="0">
                    <a:hlinkClick r:id="rId3"/>
                  </a:rPr>
                  <a:t>https://pubs.acs.org/doi/pdf/10.1021/ed028p428</a:t>
                </a:r>
                <a:endParaRPr lang="en-US" altLang="ja-JP" sz="1300" dirty="0"/>
              </a:p>
              <a:p>
                <a:pPr marL="0" indent="0">
                  <a:buNone/>
                </a:pPr>
                <a:r>
                  <a:rPr lang="en-US" altLang="ja-JP" sz="1300" dirty="0">
                    <a:hlinkClick r:id="rId4"/>
                  </a:rPr>
                  <a:t>https://www.jstage.jst.go.jp/article/jmsj/98/6/98_2020-058/_html/-char/en</a:t>
                </a:r>
                <a:endParaRPr lang="en-US" altLang="ja-JP" sz="1300" dirty="0"/>
              </a:p>
              <a:p>
                <a:pPr marL="0" indent="0">
                  <a:buNone/>
                </a:pPr>
                <a:r>
                  <a:rPr lang="en-US" altLang="ja-JP" sz="1300" dirty="0">
                    <a:hlinkClick r:id="rId5"/>
                  </a:rPr>
                  <a:t>https://www.weather.gov/lmk/humidity</a:t>
                </a:r>
                <a:endParaRPr lang="en-US" altLang="ja-JP" sz="1300" dirty="0"/>
              </a:p>
              <a:p>
                <a:pPr marL="0" indent="0">
                  <a:buNone/>
                </a:pPr>
                <a:endParaRPr lang="en-US" altLang="ja-JP" sz="1300" dirty="0"/>
              </a:p>
              <a:p>
                <a:pPr marL="0" indent="0">
                  <a:buNone/>
                </a:pPr>
                <a:endParaRPr lang="en-US" altLang="ja-JP" sz="1300" dirty="0"/>
              </a:p>
            </p:txBody>
          </p:sp>
        </mc:Choice>
        <mc:Fallback>
          <p:sp>
            <p:nvSpPr>
              <p:cNvPr id="3" name="Content Placeholder 2">
                <a:extLst>
                  <a:ext uri="{FF2B5EF4-FFF2-40B4-BE49-F238E27FC236}">
                    <a16:creationId xmlns:a16="http://schemas.microsoft.com/office/drawing/2014/main" id="{222E5134-94D4-4426-C2CA-FB64AF51F097}"/>
                  </a:ext>
                </a:extLst>
              </p:cNvPr>
              <p:cNvSpPr>
                <a:spLocks noGrp="1" noRot="1" noChangeAspect="1" noMove="1" noResize="1" noEditPoints="1" noAdjustHandles="1" noChangeArrowheads="1" noChangeShapeType="1" noTextEdit="1"/>
              </p:cNvSpPr>
              <p:nvPr>
                <p:ph idx="1"/>
              </p:nvPr>
            </p:nvSpPr>
            <p:spPr>
              <a:xfrm>
                <a:off x="838200" y="1825625"/>
                <a:ext cx="10515600" cy="4820272"/>
              </a:xfrm>
              <a:blipFill>
                <a:blip r:embed="rId6"/>
                <a:stretch>
                  <a:fillRect l="-870" t="-2402"/>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8988309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C945E-3FC8-3A0F-9497-BF1236E9BF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E8D29E-2697-97F5-F45D-E0BF6D1A7E68}"/>
              </a:ext>
            </a:extLst>
          </p:cNvPr>
          <p:cNvSpPr>
            <a:spLocks noGrp="1"/>
          </p:cNvSpPr>
          <p:nvPr>
            <p:ph type="title"/>
          </p:nvPr>
        </p:nvSpPr>
        <p:spPr/>
        <p:txBody>
          <a:bodyPr/>
          <a:lstStyle/>
          <a:p>
            <a:r>
              <a:rPr kumimoji="1" lang="en-US" altLang="ja-JP" dirty="0"/>
              <a:t>Proposed approach</a:t>
            </a:r>
            <a:endParaRPr kumimoji="1" lang="ja-JP" altLang="en-US" dirty="0"/>
          </a:p>
        </p:txBody>
      </p:sp>
      <p:sp>
        <p:nvSpPr>
          <p:cNvPr id="3" name="Content Placeholder 2">
            <a:extLst>
              <a:ext uri="{FF2B5EF4-FFF2-40B4-BE49-F238E27FC236}">
                <a16:creationId xmlns:a16="http://schemas.microsoft.com/office/drawing/2014/main" id="{E2781279-A34D-756E-3F51-6B11A5A51A66}"/>
              </a:ext>
            </a:extLst>
          </p:cNvPr>
          <p:cNvSpPr>
            <a:spLocks noGrp="1"/>
          </p:cNvSpPr>
          <p:nvPr>
            <p:ph idx="1"/>
          </p:nvPr>
        </p:nvSpPr>
        <p:spPr>
          <a:xfrm>
            <a:off x="838200" y="1480008"/>
            <a:ext cx="11143268" cy="5165889"/>
          </a:xfrm>
        </p:spPr>
        <p:txBody>
          <a:bodyPr>
            <a:normAutofit/>
          </a:bodyPr>
          <a:lstStyle/>
          <a:p>
            <a:pPr marL="571500" indent="-571500">
              <a:buAutoNum type="romanUcPeriod"/>
            </a:pPr>
            <a:r>
              <a:rPr kumimoji="1" lang="ja-JP" altLang="en-US" dirty="0"/>
              <a:t>「通常」モード</a:t>
            </a:r>
            <a:endParaRPr kumimoji="1" lang="en-US" altLang="ja-JP" dirty="0"/>
          </a:p>
          <a:p>
            <a:pPr marL="1028700" lvl="1" indent="-571500">
              <a:buAutoNum type="romanUcPeriod"/>
            </a:pPr>
            <a:r>
              <a:rPr kumimoji="0" lang="ja-JP" altLang="ja-JP" i="0" u="none" strike="noStrike" cap="none" normalizeH="0" baseline="0" dirty="0">
                <a:ln>
                  <a:noFill/>
                </a:ln>
                <a:solidFill>
                  <a:schemeClr val="tx1"/>
                </a:solidFill>
                <a:effectLst/>
                <a:latin typeface="Arial" panose="020B0604020202020204" pitchFamily="34" charset="0"/>
              </a:rPr>
              <a:t>1時間ごとにデータを収集し、バッファに保存 </a:t>
            </a:r>
            <a:endParaRPr kumimoji="0" lang="en-US" altLang="ja-JP" i="0" u="none" strike="noStrike" cap="none" normalizeH="0" baseline="0" dirty="0">
              <a:ln>
                <a:noFill/>
              </a:ln>
              <a:solidFill>
                <a:schemeClr val="tx1"/>
              </a:solidFill>
              <a:effectLst/>
              <a:latin typeface="Arial" panose="020B0604020202020204" pitchFamily="34" charset="0"/>
            </a:endParaRPr>
          </a:p>
          <a:p>
            <a:pPr marL="1028700" lvl="1" indent="-571500">
              <a:buAutoNum type="romanUcPeriod"/>
            </a:pPr>
            <a:r>
              <a:rPr kumimoji="0" lang="ja-JP" altLang="ja-JP" sz="2400" i="0" u="none" strike="noStrike" cap="none" normalizeH="0" baseline="0" dirty="0">
                <a:ln>
                  <a:noFill/>
                </a:ln>
                <a:solidFill>
                  <a:schemeClr val="tx1"/>
                </a:solidFill>
                <a:effectLst/>
                <a:latin typeface="Arial" panose="020B0604020202020204" pitchFamily="34" charset="0"/>
              </a:rPr>
              <a:t>洪水確率（FP）を計算 </a:t>
            </a:r>
            <a:endParaRPr kumimoji="0" lang="en-US" altLang="ja-JP" sz="2400" i="0" u="none" strike="noStrike" cap="none" normalizeH="0" baseline="0" dirty="0">
              <a:ln>
                <a:noFill/>
              </a:ln>
              <a:solidFill>
                <a:schemeClr val="tx1"/>
              </a:solidFill>
              <a:effectLst/>
              <a:latin typeface="Arial" panose="020B0604020202020204" pitchFamily="34" charset="0"/>
            </a:endParaRPr>
          </a:p>
          <a:p>
            <a:pPr marL="1028700" lvl="1" indent="-571500">
              <a:buAutoNum type="romanUcPeriod"/>
            </a:pPr>
            <a:r>
              <a:rPr kumimoji="0" lang="ja-JP" altLang="ja-JP" sz="2400" i="0" u="none" strike="noStrike" cap="none" normalizeH="0" baseline="0" dirty="0">
                <a:ln>
                  <a:noFill/>
                </a:ln>
                <a:solidFill>
                  <a:schemeClr val="tx1"/>
                </a:solidFill>
                <a:effectLst/>
                <a:latin typeface="Arial" panose="020B0604020202020204" pitchFamily="34" charset="0"/>
              </a:rPr>
              <a:t>FPが70%を超えた場合、「緊急」モードに移行 </a:t>
            </a:r>
            <a:endParaRPr kumimoji="0" lang="en-US" altLang="ja-JP" sz="2400" i="0" u="none" strike="noStrike" cap="none" normalizeH="0" baseline="0" dirty="0">
              <a:ln>
                <a:noFill/>
              </a:ln>
              <a:solidFill>
                <a:schemeClr val="tx1"/>
              </a:solidFill>
              <a:effectLst/>
              <a:latin typeface="Arial" panose="020B0604020202020204" pitchFamily="34" charset="0"/>
            </a:endParaRPr>
          </a:p>
          <a:p>
            <a:pPr marL="1028700" lvl="1" indent="-571500">
              <a:buAutoNum type="romanUcPeriod"/>
            </a:pPr>
            <a:r>
              <a:rPr kumimoji="0" lang="ja-JP" altLang="ja-JP" sz="2400" i="0" u="none" strike="noStrike" cap="none" normalizeH="0" baseline="0" dirty="0">
                <a:ln>
                  <a:noFill/>
                </a:ln>
                <a:solidFill>
                  <a:schemeClr val="tx1"/>
                </a:solidFill>
                <a:effectLst/>
                <a:latin typeface="Arial" panose="020B0604020202020204" pitchFamily="34" charset="0"/>
              </a:rPr>
              <a:t>FPが70%未満の場合、引き続き「通常」モードを継続 </a:t>
            </a:r>
            <a:endParaRPr lang="en-US" altLang="ja-JP" dirty="0"/>
          </a:p>
          <a:p>
            <a:pPr marL="571500" indent="-571500">
              <a:buAutoNum type="romanUcPeriod"/>
            </a:pPr>
            <a:r>
              <a:rPr lang="ja-JP" altLang="en-US" dirty="0"/>
              <a:t>「緊急」モード</a:t>
            </a:r>
            <a:endParaRPr lang="en-US" altLang="ja-JP" dirty="0"/>
          </a:p>
          <a:p>
            <a:pPr marL="1028700" lvl="1" indent="-571500">
              <a:buAutoNum type="romanUcPeriod"/>
            </a:pPr>
            <a:r>
              <a:rPr kumimoji="0" lang="ja-JP" altLang="ja-JP" sz="2000" i="0" u="none" strike="noStrike" cap="none" normalizeH="0" baseline="0" dirty="0">
                <a:ln>
                  <a:noFill/>
                </a:ln>
                <a:solidFill>
                  <a:schemeClr val="tx1"/>
                </a:solidFill>
                <a:effectLst/>
                <a:latin typeface="Arial" panose="020B0604020202020204" pitchFamily="34" charset="0"/>
              </a:rPr>
              <a:t>バッファ内の最初の3つのデータをハフマン表αを使って送信（開始時のみ1回送信）</a:t>
            </a:r>
            <a:endParaRPr kumimoji="0" lang="en-US" altLang="ja-JP" sz="2000" i="0" u="none" strike="noStrike" cap="none" normalizeH="0" baseline="0" dirty="0">
              <a:ln>
                <a:noFill/>
              </a:ln>
              <a:solidFill>
                <a:schemeClr val="tx1"/>
              </a:solidFill>
              <a:effectLst/>
              <a:latin typeface="Arial" panose="020B0604020202020204" pitchFamily="34" charset="0"/>
            </a:endParaRPr>
          </a:p>
          <a:p>
            <a:pPr marL="1028700" lvl="1" indent="-571500">
              <a:buAutoNum type="romanUcPeriod"/>
            </a:pPr>
            <a:r>
              <a:rPr kumimoji="0" lang="ja-JP" altLang="ja-JP" sz="2400" i="0" u="none" strike="noStrike" cap="none" normalizeH="0" baseline="0" dirty="0">
                <a:ln>
                  <a:noFill/>
                </a:ln>
                <a:solidFill>
                  <a:schemeClr val="tx1"/>
                </a:solidFill>
                <a:effectLst/>
                <a:latin typeface="Arial" panose="020B0604020202020204" pitchFamily="34" charset="0"/>
              </a:rPr>
              <a:t>残りのバッファ内データは差分法とハフマン表βを使って送信 </a:t>
            </a:r>
            <a:endParaRPr kumimoji="0" lang="en-US" altLang="ja-JP" sz="2400" i="0" u="none" strike="noStrike" cap="none" normalizeH="0" baseline="0" dirty="0">
              <a:ln>
                <a:noFill/>
              </a:ln>
              <a:solidFill>
                <a:schemeClr val="tx1"/>
              </a:solidFill>
              <a:effectLst/>
              <a:latin typeface="Arial" panose="020B0604020202020204" pitchFamily="34" charset="0"/>
            </a:endParaRPr>
          </a:p>
          <a:p>
            <a:pPr marL="1028700" lvl="1" indent="-571500">
              <a:buAutoNum type="romanUcPeriod"/>
            </a:pPr>
            <a:r>
              <a:rPr kumimoji="0" lang="ja-JP" altLang="ja-JP" sz="2400" i="0" u="none" strike="noStrike" cap="none" normalizeH="0" baseline="0" dirty="0">
                <a:ln>
                  <a:noFill/>
                </a:ln>
                <a:solidFill>
                  <a:schemeClr val="tx1"/>
                </a:solidFill>
                <a:effectLst/>
                <a:latin typeface="Arial" panose="020B0604020202020204" pitchFamily="34" charset="0"/>
              </a:rPr>
              <a:t>5分ごとにデータを収集し、バッファに保存 </a:t>
            </a:r>
            <a:endParaRPr kumimoji="0" lang="en-US" altLang="ja-JP" sz="2400" i="0" u="none" strike="noStrike" cap="none" normalizeH="0" baseline="0" dirty="0">
              <a:ln>
                <a:noFill/>
              </a:ln>
              <a:solidFill>
                <a:schemeClr val="tx1"/>
              </a:solidFill>
              <a:effectLst/>
              <a:latin typeface="Arial" panose="020B0604020202020204" pitchFamily="34" charset="0"/>
            </a:endParaRPr>
          </a:p>
          <a:p>
            <a:pPr marL="1028700" lvl="1" indent="-571500">
              <a:buAutoNum type="romanUcPeriod"/>
            </a:pPr>
            <a:r>
              <a:rPr kumimoji="0" lang="ja-JP" altLang="ja-JP" sz="2400" i="0" u="none" strike="noStrike" cap="none" normalizeH="0" baseline="0" dirty="0">
                <a:ln>
                  <a:noFill/>
                </a:ln>
                <a:solidFill>
                  <a:schemeClr val="tx1"/>
                </a:solidFill>
                <a:effectLst/>
                <a:latin typeface="Arial" panose="020B0604020202020204" pitchFamily="34" charset="0"/>
              </a:rPr>
              <a:t>バッファが満杯になった場合、II.IIを使用してデータを送信 </a:t>
            </a:r>
            <a:endParaRPr kumimoji="0" lang="en-US" altLang="ja-JP" sz="2400" i="0" u="none" strike="noStrike" cap="none" normalizeH="0" baseline="0" dirty="0">
              <a:ln>
                <a:noFill/>
              </a:ln>
              <a:solidFill>
                <a:schemeClr val="tx1"/>
              </a:solidFill>
              <a:effectLst/>
              <a:latin typeface="Arial" panose="020B0604020202020204" pitchFamily="34" charset="0"/>
            </a:endParaRPr>
          </a:p>
          <a:p>
            <a:pPr marL="1028700" lvl="1" indent="-571500">
              <a:buAutoNum type="romanUcPeriod"/>
            </a:pPr>
            <a:r>
              <a:rPr kumimoji="0" lang="ja-JP" altLang="ja-JP" sz="2400" i="0" u="none" strike="noStrike" cap="none" normalizeH="0" baseline="0" dirty="0">
                <a:ln>
                  <a:noFill/>
                </a:ln>
                <a:solidFill>
                  <a:schemeClr val="tx1"/>
                </a:solidFill>
                <a:effectLst/>
                <a:latin typeface="Arial" panose="020B0604020202020204" pitchFamily="34" charset="0"/>
              </a:rPr>
              <a:t>FPを確認し、2回連続で70%未満の場合、「通常」モードに戻る </a:t>
            </a:r>
            <a:endParaRPr kumimoji="0" lang="en-US" altLang="ja-JP" sz="2400" i="0" u="none" strike="noStrike" cap="none" normalizeH="0" baseline="0" dirty="0">
              <a:ln>
                <a:noFill/>
              </a:ln>
              <a:solidFill>
                <a:schemeClr val="tx1"/>
              </a:solidFill>
              <a:effectLst/>
              <a:latin typeface="Arial" panose="020B0604020202020204" pitchFamily="34" charset="0"/>
            </a:endParaRPr>
          </a:p>
          <a:p>
            <a:pPr marL="1028700" lvl="1" indent="-571500">
              <a:buAutoNum type="romanUcPeriod"/>
            </a:pPr>
            <a:r>
              <a:rPr kumimoji="0" lang="ja-JP" altLang="ja-JP" sz="2400" i="0" u="none" strike="noStrike" cap="none" normalizeH="0" baseline="0" dirty="0">
                <a:ln>
                  <a:noFill/>
                </a:ln>
                <a:solidFill>
                  <a:schemeClr val="tx1"/>
                </a:solidFill>
                <a:effectLst/>
                <a:latin typeface="Arial" panose="020B0604020202020204" pitchFamily="34" charset="0"/>
              </a:rPr>
              <a:t>FPが70%以上の場合、II.IIIに戻る </a:t>
            </a:r>
          </a:p>
          <a:p>
            <a:pPr marL="1028700" lvl="1" indent="-571500">
              <a:buAutoNum type="romanUcPeriod"/>
            </a:pPr>
            <a:endParaRPr kumimoji="1" lang="ja-JP" altLang="en-US" dirty="0"/>
          </a:p>
        </p:txBody>
      </p:sp>
    </p:spTree>
    <p:extLst>
      <p:ext uri="{BB962C8B-B14F-4D97-AF65-F5344CB8AC3E}">
        <p14:creationId xmlns:p14="http://schemas.microsoft.com/office/powerpoint/2010/main" val="14475107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BA483BA-D359-6AC7-F68C-A4A400503C9A}"/>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89847E5C-CE99-CBC3-6AD6-3AFAD6856F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7D8465-DE07-81A6-A031-DFD4C68CA156}"/>
              </a:ext>
            </a:extLst>
          </p:cNvPr>
          <p:cNvSpPr>
            <a:spLocks noGrp="1"/>
          </p:cNvSpPr>
          <p:nvPr>
            <p:ph type="title"/>
          </p:nvPr>
        </p:nvSpPr>
        <p:spPr>
          <a:xfrm>
            <a:off x="1113810" y="2960716"/>
            <a:ext cx="4036334" cy="2387600"/>
          </a:xfrm>
        </p:spPr>
        <p:txBody>
          <a:bodyPr vert="horz" lIns="91440" tIns="45720" rIns="91440" bIns="45720" rtlCol="0" anchor="t">
            <a:normAutofit/>
          </a:bodyPr>
          <a:lstStyle/>
          <a:p>
            <a:r>
              <a:rPr kumimoji="1" lang="en-US" altLang="ja-JP" sz="5400" kern="1200" dirty="0">
                <a:solidFill>
                  <a:schemeClr val="tx1"/>
                </a:solidFill>
                <a:latin typeface="+mj-lt"/>
                <a:ea typeface="+mj-ea"/>
                <a:cs typeface="+mj-cs"/>
              </a:rPr>
              <a:t>Flood Probability (FP)</a:t>
            </a:r>
          </a:p>
        </p:txBody>
      </p:sp>
      <p:grpSp>
        <p:nvGrpSpPr>
          <p:cNvPr id="15" name="Group 14">
            <a:extLst>
              <a:ext uri="{FF2B5EF4-FFF2-40B4-BE49-F238E27FC236}">
                <a16:creationId xmlns:a16="http://schemas.microsoft.com/office/drawing/2014/main" id="{8756F3E0-92D3-8364-66BF-F93BA8C1CF3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16" name="Rectangle 15">
              <a:extLst>
                <a:ext uri="{FF2B5EF4-FFF2-40B4-BE49-F238E27FC236}">
                  <a16:creationId xmlns:a16="http://schemas.microsoft.com/office/drawing/2014/main" id="{A5D569B0-7BAC-9A17-B33D-10ADD5887D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CD48C6A-B65C-BA42-9CA4-8C58C07AFC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52C0ED2-3741-A4DE-60A1-8365E77CB8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9">
            <a:extLst>
              <a:ext uri="{FF2B5EF4-FFF2-40B4-BE49-F238E27FC236}">
                <a16:creationId xmlns:a16="http://schemas.microsoft.com/office/drawing/2014/main" id="{B0DF514C-8447-D203-3E13-4DFF227118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4F56E38-4BFA-81A5-566F-1CE3CDD312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screenshot of a computer screen&#10;&#10;AI-generated content may be incorrect.">
            <a:extLst>
              <a:ext uri="{FF2B5EF4-FFF2-40B4-BE49-F238E27FC236}">
                <a16:creationId xmlns:a16="http://schemas.microsoft.com/office/drawing/2014/main" id="{82563C83-7EA5-348B-A67F-370F32B22D30}"/>
              </a:ext>
            </a:extLst>
          </p:cNvPr>
          <p:cNvPicPr>
            <a:picLocks noChangeAspect="1"/>
          </p:cNvPicPr>
          <p:nvPr/>
        </p:nvPicPr>
        <p:blipFill>
          <a:blip r:embed="rId2"/>
          <a:stretch>
            <a:fillRect/>
          </a:stretch>
        </p:blipFill>
        <p:spPr>
          <a:xfrm>
            <a:off x="5922492" y="1199063"/>
            <a:ext cx="5536001" cy="4401120"/>
          </a:xfrm>
          <a:prstGeom prst="rect">
            <a:avLst/>
          </a:prstGeom>
        </p:spPr>
      </p:pic>
      <p:sp>
        <p:nvSpPr>
          <p:cNvPr id="9" name="Rectangle 8">
            <a:extLst>
              <a:ext uri="{FF2B5EF4-FFF2-40B4-BE49-F238E27FC236}">
                <a16:creationId xmlns:a16="http://schemas.microsoft.com/office/drawing/2014/main" id="{C457B282-FB73-65D9-69A8-15EAA64CCC40}"/>
              </a:ext>
            </a:extLst>
          </p:cNvPr>
          <p:cNvSpPr/>
          <p:nvPr/>
        </p:nvSpPr>
        <p:spPr>
          <a:xfrm>
            <a:off x="5917557" y="2318993"/>
            <a:ext cx="3874416" cy="88612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Rectangle 9">
            <a:extLst>
              <a:ext uri="{FF2B5EF4-FFF2-40B4-BE49-F238E27FC236}">
                <a16:creationId xmlns:a16="http://schemas.microsoft.com/office/drawing/2014/main" id="{2A7084B2-4FD6-076F-DE95-8BF2BBFA5B16}"/>
              </a:ext>
            </a:extLst>
          </p:cNvPr>
          <p:cNvSpPr/>
          <p:nvPr/>
        </p:nvSpPr>
        <p:spPr>
          <a:xfrm>
            <a:off x="5903606" y="3881983"/>
            <a:ext cx="3874416" cy="624029"/>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Arrow: Right 10">
            <a:extLst>
              <a:ext uri="{FF2B5EF4-FFF2-40B4-BE49-F238E27FC236}">
                <a16:creationId xmlns:a16="http://schemas.microsoft.com/office/drawing/2014/main" id="{9D96C8DC-8A5A-68F7-979B-DF5D56287A82}"/>
              </a:ext>
            </a:extLst>
          </p:cNvPr>
          <p:cNvSpPr/>
          <p:nvPr/>
        </p:nvSpPr>
        <p:spPr>
          <a:xfrm>
            <a:off x="9961262" y="2596734"/>
            <a:ext cx="468575" cy="330638"/>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Title 1">
            <a:extLst>
              <a:ext uri="{FF2B5EF4-FFF2-40B4-BE49-F238E27FC236}">
                <a16:creationId xmlns:a16="http://schemas.microsoft.com/office/drawing/2014/main" id="{1C0F194C-AA3A-0DD1-06EE-13D7C5868569}"/>
              </a:ext>
            </a:extLst>
          </p:cNvPr>
          <p:cNvSpPr txBox="1">
            <a:spLocks/>
          </p:cNvSpPr>
          <p:nvPr/>
        </p:nvSpPr>
        <p:spPr>
          <a:xfrm>
            <a:off x="10482516" y="2504854"/>
            <a:ext cx="994863" cy="480138"/>
          </a:xfrm>
          <a:prstGeom prst="rect">
            <a:avLst/>
          </a:prstGeom>
        </p:spPr>
        <p:txBody>
          <a:bodyPr vert="horz" lIns="91440" tIns="45720" rIns="91440" bIns="45720" rtlCol="0" anchor="t">
            <a:normAutofit fontScale="92500" lnSpcReduction="100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200" b="1" dirty="0"/>
              <a:t>sent</a:t>
            </a:r>
          </a:p>
        </p:txBody>
      </p:sp>
      <p:sp>
        <p:nvSpPr>
          <p:cNvPr id="24" name="Arrow: Right 23">
            <a:extLst>
              <a:ext uri="{FF2B5EF4-FFF2-40B4-BE49-F238E27FC236}">
                <a16:creationId xmlns:a16="http://schemas.microsoft.com/office/drawing/2014/main" id="{D035F2DD-B899-347D-4C3F-7E137A9B15B6}"/>
              </a:ext>
            </a:extLst>
          </p:cNvPr>
          <p:cNvSpPr/>
          <p:nvPr/>
        </p:nvSpPr>
        <p:spPr>
          <a:xfrm>
            <a:off x="9995012" y="4022509"/>
            <a:ext cx="468575" cy="330638"/>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Title 1">
            <a:extLst>
              <a:ext uri="{FF2B5EF4-FFF2-40B4-BE49-F238E27FC236}">
                <a16:creationId xmlns:a16="http://schemas.microsoft.com/office/drawing/2014/main" id="{47965E68-D3F2-A903-144D-03BC409E39AB}"/>
              </a:ext>
            </a:extLst>
          </p:cNvPr>
          <p:cNvSpPr txBox="1">
            <a:spLocks/>
          </p:cNvSpPr>
          <p:nvPr/>
        </p:nvSpPr>
        <p:spPr>
          <a:xfrm>
            <a:off x="10516266" y="3930629"/>
            <a:ext cx="961113" cy="867614"/>
          </a:xfrm>
          <a:prstGeom prst="rect">
            <a:avLst/>
          </a:prstGeom>
        </p:spPr>
        <p:txBody>
          <a:bodyPr vert="horz" lIns="91440" tIns="45720" rIns="91440" bIns="45720" rtlCol="0" anchor="t">
            <a:normAutofit fontScale="92500" lnSpcReduction="100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200" b="1" dirty="0"/>
              <a:t>Not sent</a:t>
            </a:r>
          </a:p>
        </p:txBody>
      </p:sp>
    </p:spTree>
    <p:extLst>
      <p:ext uri="{BB962C8B-B14F-4D97-AF65-F5344CB8AC3E}">
        <p14:creationId xmlns:p14="http://schemas.microsoft.com/office/powerpoint/2010/main" val="19466066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1C0D9-6566-8D58-AB54-0EF4FF91B9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5EBAC3-0690-6823-0CC6-4775D76BF2F2}"/>
              </a:ext>
            </a:extLst>
          </p:cNvPr>
          <p:cNvSpPr>
            <a:spLocks noGrp="1"/>
          </p:cNvSpPr>
          <p:nvPr>
            <p:ph type="title"/>
          </p:nvPr>
        </p:nvSpPr>
        <p:spPr/>
        <p:txBody>
          <a:bodyPr/>
          <a:lstStyle/>
          <a:p>
            <a:r>
              <a:rPr kumimoji="1" lang="ja-JP" altLang="en-US" dirty="0"/>
              <a:t>ハフマン符号表</a:t>
            </a:r>
            <a:r>
              <a:rPr kumimoji="1" lang="en-US" altLang="ja-JP" dirty="0"/>
              <a:t>α</a:t>
            </a:r>
            <a:endParaRPr kumimoji="1" lang="ja-JP" altLang="en-US" dirty="0"/>
          </a:p>
        </p:txBody>
      </p:sp>
      <p:sp>
        <p:nvSpPr>
          <p:cNvPr id="3" name="Content Placeholder 2">
            <a:extLst>
              <a:ext uri="{FF2B5EF4-FFF2-40B4-BE49-F238E27FC236}">
                <a16:creationId xmlns:a16="http://schemas.microsoft.com/office/drawing/2014/main" id="{E44E8F77-5FCF-6E96-D2B5-A53434E19EF7}"/>
              </a:ext>
            </a:extLst>
          </p:cNvPr>
          <p:cNvSpPr>
            <a:spLocks noGrp="1"/>
          </p:cNvSpPr>
          <p:nvPr>
            <p:ph idx="1"/>
          </p:nvPr>
        </p:nvSpPr>
        <p:spPr/>
        <p:txBody>
          <a:bodyPr/>
          <a:lstStyle/>
          <a:p>
            <a:pPr marR="0" lvl="0" algn="l" defTabSz="914400" rtl="0" eaLnBrk="0" fontAlgn="base" latinLnBrk="0" hangingPunct="0">
              <a:lnSpc>
                <a:spcPct val="100000"/>
              </a:lnSpc>
              <a:spcBef>
                <a:spcPct val="0"/>
              </a:spcBef>
              <a:spcAft>
                <a:spcPct val="0"/>
              </a:spcAft>
              <a:buClrTx/>
              <a:buSzTx/>
              <a:buFontTx/>
              <a:buChar char="-"/>
              <a:tabLst/>
            </a:pPr>
            <a:r>
              <a:rPr kumimoji="1" lang="ja-JP" altLang="en-US" dirty="0"/>
              <a:t>生データの圧縮に使用</a:t>
            </a:r>
            <a:endParaRPr kumimoji="0" lang="en-US" altLang="ja-JP" dirty="0">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Tx/>
              <a:buChar char="-"/>
              <a:tabLst/>
            </a:pPr>
            <a:r>
              <a:rPr kumimoji="0" lang="ja-JP" altLang="ja-JP" sz="2800" b="0" i="0" u="none" strike="noStrike" cap="none" normalizeH="0" baseline="0" dirty="0">
                <a:ln>
                  <a:noFill/>
                </a:ln>
                <a:solidFill>
                  <a:schemeClr val="tx1"/>
                </a:solidFill>
                <a:effectLst/>
                <a:latin typeface="Arial" panose="020B0604020202020204" pitchFamily="34" charset="0"/>
              </a:rPr>
              <a:t>現在の研究で提案された静的ハフマン表を使用するか、閾値に重みを与えて動的なハフマン表を作成する </a:t>
            </a:r>
            <a:endParaRPr kumimoji="0" lang="en-US" altLang="ja-JP" sz="2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Tx/>
              <a:buChar char="-"/>
              <a:tabLst/>
            </a:pPr>
            <a:r>
              <a:rPr kumimoji="0" lang="ja-JP" altLang="ja-JP" sz="2800" b="0" i="0" u="none" strike="noStrike" cap="none" normalizeH="0" baseline="0" dirty="0">
                <a:ln>
                  <a:noFill/>
                </a:ln>
                <a:solidFill>
                  <a:schemeClr val="tx1"/>
                </a:solidFill>
                <a:effectLst/>
                <a:latin typeface="Arial" panose="020B0604020202020204" pitchFamily="34" charset="0"/>
              </a:rPr>
              <a:t>この方法で送信するのはわずか3つのデータであるため、計算負荷の少ない別の手法を使用することも検討可能 </a:t>
            </a:r>
          </a:p>
          <a:p>
            <a:endParaRPr kumimoji="1" lang="en-US" altLang="ja-JP" dirty="0"/>
          </a:p>
        </p:txBody>
      </p:sp>
    </p:spTree>
    <p:extLst>
      <p:ext uri="{BB962C8B-B14F-4D97-AF65-F5344CB8AC3E}">
        <p14:creationId xmlns:p14="http://schemas.microsoft.com/office/powerpoint/2010/main" val="38900900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20C61-DC23-7F68-FB5E-AC5D1B9868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599FFA-7351-DC0C-2F49-1FAF1F22DBAF}"/>
              </a:ext>
            </a:extLst>
          </p:cNvPr>
          <p:cNvSpPr>
            <a:spLocks noGrp="1"/>
          </p:cNvSpPr>
          <p:nvPr>
            <p:ph type="title"/>
          </p:nvPr>
        </p:nvSpPr>
        <p:spPr/>
        <p:txBody>
          <a:bodyPr/>
          <a:lstStyle/>
          <a:p>
            <a:r>
              <a:rPr lang="ja-JP" altLang="en-US" dirty="0"/>
              <a:t>ハフマン符号表</a:t>
            </a:r>
            <a:r>
              <a:rPr kumimoji="1" lang="en-US" altLang="ja-JP" dirty="0"/>
              <a:t>β</a:t>
            </a:r>
            <a:endParaRPr kumimoji="1" lang="ja-JP" alt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9EF6BF9-315D-DAF9-10D8-A4A26A500847}"/>
                  </a:ext>
                </a:extLst>
              </p:cNvPr>
              <p:cNvSpPr>
                <a:spLocks noGrp="1"/>
              </p:cNvSpPr>
              <p:nvPr>
                <p:ph idx="1"/>
              </p:nvPr>
            </p:nvSpPr>
            <p:spPr/>
            <p:txBody>
              <a:bodyPr/>
              <a:lstStyle/>
              <a:p>
                <a:r>
                  <a:rPr lang="en-US" altLang="ja-JP" dirty="0"/>
                  <a:t>“Data Compression in Wireless Sensor Nodes with LoRa”</a:t>
                </a:r>
                <a:r>
                  <a:rPr lang="ja-JP" altLang="en-US" dirty="0"/>
                  <a:t>より式を採用</a:t>
                </a:r>
                <a:endParaRPr lang="en-US" altLang="ja-JP" dirty="0"/>
              </a:p>
              <a:p>
                <a:pPr marL="0" indent="0">
                  <a:buNone/>
                </a:pPr>
                <a14:m>
                  <m:oMathPara xmlns:m="http://schemas.openxmlformats.org/officeDocument/2006/math">
                    <m:oMathParaPr>
                      <m:jc m:val="centerGroup"/>
                    </m:oMathParaPr>
                    <m:oMath xmlns:m="http://schemas.openxmlformats.org/officeDocument/2006/math">
                      <m:acc>
                        <m:accPr>
                          <m:chr m:val="̂"/>
                          <m:ctrlPr>
                            <a:rPr lang="en-US" altLang="ja-JP" b="0" i="1" smtClean="0">
                              <a:latin typeface="Cambria Math" panose="02040503050406030204" pitchFamily="18" charset="0"/>
                            </a:rPr>
                          </m:ctrlPr>
                        </m:accPr>
                        <m:e>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𝑣</m:t>
                              </m:r>
                            </m:e>
                            <m:sub>
                              <m:r>
                                <a:rPr lang="en-US" altLang="ja-JP" b="0" i="1" smtClean="0">
                                  <a:latin typeface="Cambria Math" panose="02040503050406030204" pitchFamily="18" charset="0"/>
                                </a:rPr>
                                <m:t>𝑖</m:t>
                              </m:r>
                            </m:sub>
                          </m:sSub>
                        </m:e>
                      </m:acc>
                      <m:r>
                        <a:rPr lang="en-US" altLang="ja-JP" b="0" i="1" smtClean="0">
                          <a:latin typeface="Cambria Math" panose="02040503050406030204" pitchFamily="18" charset="0"/>
                        </a:rPr>
                        <m:t>=</m:t>
                      </m:r>
                      <m:f>
                        <m:fPr>
                          <m:ctrlPr>
                            <a:rPr lang="en-US" altLang="ja-JP" b="0" i="1" smtClean="0">
                              <a:latin typeface="Cambria Math" panose="02040503050406030204" pitchFamily="18" charset="0"/>
                            </a:rPr>
                          </m:ctrlPr>
                        </m:fPr>
                        <m:num>
                          <m:r>
                            <a:rPr lang="en-US" altLang="ja-JP" b="0" i="1" smtClean="0">
                              <a:latin typeface="Cambria Math" panose="02040503050406030204" pitchFamily="18" charset="0"/>
                            </a:rPr>
                            <m:t>5</m:t>
                          </m:r>
                        </m:num>
                        <m:den>
                          <m:r>
                            <a:rPr lang="en-US" altLang="ja-JP" b="0" i="1" smtClean="0">
                              <a:latin typeface="Cambria Math" panose="02040503050406030204" pitchFamily="18" charset="0"/>
                            </a:rPr>
                            <m:t>4</m:t>
                          </m:r>
                        </m:den>
                      </m:f>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𝑣</m:t>
                          </m:r>
                        </m:e>
                        <m:sub>
                          <m:r>
                            <a:rPr lang="en-US" altLang="ja-JP" b="0" i="1" smtClean="0">
                              <a:latin typeface="Cambria Math" panose="02040503050406030204" pitchFamily="18" charset="0"/>
                            </a:rPr>
                            <m:t>𝑖</m:t>
                          </m:r>
                          <m:r>
                            <a:rPr lang="en-US" altLang="ja-JP" b="0" i="1" smtClean="0">
                              <a:latin typeface="Cambria Math" panose="02040503050406030204" pitchFamily="18" charset="0"/>
                            </a:rPr>
                            <m:t>−1</m:t>
                          </m:r>
                        </m:sub>
                      </m:sSub>
                      <m:r>
                        <a:rPr lang="en-US" altLang="ja-JP" b="0" i="1" smtClean="0">
                          <a:latin typeface="Cambria Math" panose="02040503050406030204" pitchFamily="18" charset="0"/>
                        </a:rPr>
                        <m:t>+</m:t>
                      </m:r>
                      <m:f>
                        <m:fPr>
                          <m:ctrlPr>
                            <a:rPr lang="en-US" altLang="ja-JP" b="0" i="1" smtClean="0">
                              <a:latin typeface="Cambria Math" panose="02040503050406030204" pitchFamily="18" charset="0"/>
                            </a:rPr>
                          </m:ctrlPr>
                        </m:fPr>
                        <m:num>
                          <m:r>
                            <a:rPr lang="en-US" altLang="ja-JP" b="0" i="1" smtClean="0">
                              <a:latin typeface="Cambria Math" panose="02040503050406030204" pitchFamily="18" charset="0"/>
                            </a:rPr>
                            <m:t>1</m:t>
                          </m:r>
                        </m:num>
                        <m:den>
                          <m:r>
                            <a:rPr lang="en-US" altLang="ja-JP" b="0" i="1" smtClean="0">
                              <a:latin typeface="Cambria Math" panose="02040503050406030204" pitchFamily="18" charset="0"/>
                            </a:rPr>
                            <m:t>2</m:t>
                          </m:r>
                        </m:den>
                      </m:f>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𝑣</m:t>
                          </m:r>
                        </m:e>
                        <m:sub>
                          <m:r>
                            <a:rPr lang="en-US" altLang="ja-JP" b="0" i="1" smtClean="0">
                              <a:latin typeface="Cambria Math" panose="02040503050406030204" pitchFamily="18" charset="0"/>
                            </a:rPr>
                            <m:t>𝑖</m:t>
                          </m:r>
                          <m:r>
                            <a:rPr lang="en-US" altLang="ja-JP" b="0" i="1" smtClean="0">
                              <a:latin typeface="Cambria Math" panose="02040503050406030204" pitchFamily="18" charset="0"/>
                            </a:rPr>
                            <m:t>−2</m:t>
                          </m:r>
                        </m:sub>
                      </m:sSub>
                      <m:r>
                        <a:rPr lang="en-US" altLang="ja-JP" b="0" i="1" smtClean="0">
                          <a:latin typeface="Cambria Math" panose="02040503050406030204" pitchFamily="18" charset="0"/>
                        </a:rPr>
                        <m:t>−</m:t>
                      </m:r>
                      <m:f>
                        <m:fPr>
                          <m:ctrlPr>
                            <a:rPr lang="en-US" altLang="ja-JP" b="0" i="1" smtClean="0">
                              <a:latin typeface="Cambria Math" panose="02040503050406030204" pitchFamily="18" charset="0"/>
                            </a:rPr>
                          </m:ctrlPr>
                        </m:fPr>
                        <m:num>
                          <m:r>
                            <a:rPr lang="en-US" altLang="ja-JP" b="0" i="1" smtClean="0">
                              <a:latin typeface="Cambria Math" panose="02040503050406030204" pitchFamily="18" charset="0"/>
                            </a:rPr>
                            <m:t>3</m:t>
                          </m:r>
                        </m:num>
                        <m:den>
                          <m:r>
                            <a:rPr lang="en-US" altLang="ja-JP" b="0" i="1" smtClean="0">
                              <a:latin typeface="Cambria Math" panose="02040503050406030204" pitchFamily="18" charset="0"/>
                            </a:rPr>
                            <m:t>4</m:t>
                          </m:r>
                        </m:den>
                      </m:f>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𝑣</m:t>
                          </m:r>
                        </m:e>
                        <m:sub>
                          <m:r>
                            <a:rPr lang="en-US" altLang="ja-JP" b="0" i="1" smtClean="0">
                              <a:latin typeface="Cambria Math" panose="02040503050406030204" pitchFamily="18" charset="0"/>
                            </a:rPr>
                            <m:t>𝑖</m:t>
                          </m:r>
                          <m:r>
                            <a:rPr lang="en-US" altLang="ja-JP" b="0" i="1" smtClean="0">
                              <a:latin typeface="Cambria Math" panose="02040503050406030204" pitchFamily="18" charset="0"/>
                            </a:rPr>
                            <m:t>−3</m:t>
                          </m:r>
                        </m:sub>
                      </m:sSub>
                    </m:oMath>
                  </m:oMathPara>
                </a14:m>
                <a:endParaRPr lang="en-US" altLang="ja-JP" dirty="0"/>
              </a:p>
              <a:p>
                <a:r>
                  <a:rPr lang="ja-JP" altLang="en-US" dirty="0"/>
                  <a:t>上記の式を用いて次のデータを推定し、実際のデータと比較してその差分のみを送信する（差分法）</a:t>
                </a:r>
                <a:endParaRPr lang="en-US" altLang="ja-JP" dirty="0"/>
              </a:p>
              <a:p>
                <a:r>
                  <a:rPr lang="ja-JP" altLang="en-US" dirty="0"/>
                  <a:t>ハフマン表</a:t>
                </a:r>
                <a:r>
                  <a:rPr lang="en-US" altLang="ja-JP" dirty="0"/>
                  <a:t>β</a:t>
                </a:r>
                <a:r>
                  <a:rPr lang="ja-JP" altLang="en-US" dirty="0"/>
                  <a:t>は、この差分の発生確率を基に使用する</a:t>
                </a:r>
                <a:endParaRPr lang="en-US" altLang="ja-JP" dirty="0"/>
              </a:p>
            </p:txBody>
          </p:sp>
        </mc:Choice>
        <mc:Fallback>
          <p:sp>
            <p:nvSpPr>
              <p:cNvPr id="3" name="Content Placeholder 2">
                <a:extLst>
                  <a:ext uri="{FF2B5EF4-FFF2-40B4-BE49-F238E27FC236}">
                    <a16:creationId xmlns:a16="http://schemas.microsoft.com/office/drawing/2014/main" id="{79EF6BF9-315D-DAF9-10D8-A4A26A500847}"/>
                  </a:ext>
                </a:extLst>
              </p:cNvPr>
              <p:cNvSpPr>
                <a:spLocks noGrp="1" noRot="1" noChangeAspect="1" noMove="1" noResize="1" noEditPoints="1" noAdjustHandles="1" noChangeArrowheads="1" noChangeShapeType="1" noTextEdit="1"/>
              </p:cNvSpPr>
              <p:nvPr>
                <p:ph idx="1"/>
              </p:nvPr>
            </p:nvSpPr>
            <p:spPr>
              <a:blipFill>
                <a:blip r:embed="rId3"/>
                <a:stretch>
                  <a:fillRect l="-1043" t="-2241" r="-104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E90B15E4-9723-25C3-4CD0-1513C1BD9BFF}"/>
                  </a:ext>
                </a:extLst>
              </p:cNvPr>
              <p:cNvGraphicFramePr>
                <a:graphicFrameLocks noGrp="1"/>
              </p:cNvGraphicFramePr>
              <p:nvPr/>
            </p:nvGraphicFramePr>
            <p:xfrm>
              <a:off x="2398466" y="5304942"/>
              <a:ext cx="7395067" cy="1352233"/>
            </p:xfrm>
            <a:graphic>
              <a:graphicData uri="http://schemas.openxmlformats.org/drawingml/2006/table">
                <a:tbl>
                  <a:tblPr firstRow="1" bandRow="1">
                    <a:tableStyleId>{073A0DAA-6AF3-43AB-8588-CEC1D06C72B9}</a:tableStyleId>
                  </a:tblPr>
                  <a:tblGrid>
                    <a:gridCol w="1541956">
                      <a:extLst>
                        <a:ext uri="{9D8B030D-6E8A-4147-A177-3AD203B41FA5}">
                          <a16:colId xmlns:a16="http://schemas.microsoft.com/office/drawing/2014/main" val="2740683806"/>
                        </a:ext>
                      </a:extLst>
                    </a:gridCol>
                    <a:gridCol w="475869">
                      <a:extLst>
                        <a:ext uri="{9D8B030D-6E8A-4147-A177-3AD203B41FA5}">
                          <a16:colId xmlns:a16="http://schemas.microsoft.com/office/drawing/2014/main" val="871978231"/>
                        </a:ext>
                      </a:extLst>
                    </a:gridCol>
                    <a:gridCol w="470598">
                      <a:extLst>
                        <a:ext uri="{9D8B030D-6E8A-4147-A177-3AD203B41FA5}">
                          <a16:colId xmlns:a16="http://schemas.microsoft.com/office/drawing/2014/main" val="1249668977"/>
                        </a:ext>
                      </a:extLst>
                    </a:gridCol>
                    <a:gridCol w="475869">
                      <a:extLst>
                        <a:ext uri="{9D8B030D-6E8A-4147-A177-3AD203B41FA5}">
                          <a16:colId xmlns:a16="http://schemas.microsoft.com/office/drawing/2014/main" val="1288090506"/>
                        </a:ext>
                      </a:extLst>
                    </a:gridCol>
                    <a:gridCol w="2494153">
                      <a:extLst>
                        <a:ext uri="{9D8B030D-6E8A-4147-A177-3AD203B41FA5}">
                          <a16:colId xmlns:a16="http://schemas.microsoft.com/office/drawing/2014/main" val="1987903996"/>
                        </a:ext>
                      </a:extLst>
                    </a:gridCol>
                    <a:gridCol w="959802">
                      <a:extLst>
                        <a:ext uri="{9D8B030D-6E8A-4147-A177-3AD203B41FA5}">
                          <a16:colId xmlns:a16="http://schemas.microsoft.com/office/drawing/2014/main" val="1223118109"/>
                        </a:ext>
                      </a:extLst>
                    </a:gridCol>
                    <a:gridCol w="976820">
                      <a:extLst>
                        <a:ext uri="{9D8B030D-6E8A-4147-A177-3AD203B41FA5}">
                          <a16:colId xmlns:a16="http://schemas.microsoft.com/office/drawing/2014/main" val="2207815020"/>
                        </a:ext>
                      </a:extLst>
                    </a:gridCol>
                  </a:tblGrid>
                  <a:tr h="370840">
                    <a:tc>
                      <a:txBody>
                        <a:bodyPr/>
                        <a:lstStyle/>
                        <a:p>
                          <a:r>
                            <a:rPr kumimoji="1" lang="en-US" altLang="ja-JP" b="0" dirty="0">
                              <a:solidFill>
                                <a:schemeClr val="tx1"/>
                              </a:solidFill>
                            </a:rPr>
                            <a:t>Actual Data</a:t>
                          </a:r>
                          <a:endParaRPr kumimoji="1" lang="ja-JP"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4D4D4"/>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ja-JP" b="0" i="1" smtClean="0">
                                        <a:solidFill>
                                          <a:schemeClr val="tx1"/>
                                        </a:solidFill>
                                        <a:latin typeface="Cambria Math" panose="02040503050406030204" pitchFamily="18" charset="0"/>
                                      </a:rPr>
                                    </m:ctrlPr>
                                  </m:sSubPr>
                                  <m:e>
                                    <m:r>
                                      <a:rPr lang="en-US" altLang="ja-JP" b="0" i="1" smtClean="0">
                                        <a:solidFill>
                                          <a:schemeClr val="tx1"/>
                                        </a:solidFill>
                                        <a:latin typeface="Cambria Math" panose="02040503050406030204" pitchFamily="18" charset="0"/>
                                      </a:rPr>
                                      <m:t>𝑣</m:t>
                                    </m:r>
                                  </m:e>
                                  <m:sub>
                                    <m:r>
                                      <a:rPr lang="en-US" altLang="ja-JP" b="0" i="1" smtClean="0">
                                        <a:solidFill>
                                          <a:schemeClr val="tx1"/>
                                        </a:solidFill>
                                        <a:latin typeface="Cambria Math" panose="02040503050406030204" pitchFamily="18" charset="0"/>
                                      </a:rPr>
                                      <m:t>0</m:t>
                                    </m:r>
                                  </m:sub>
                                </m:sSub>
                              </m:oMath>
                            </m:oMathPara>
                          </a14:m>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ja-JP" b="0" i="1" smtClean="0">
                                        <a:solidFill>
                                          <a:schemeClr val="tx1"/>
                                        </a:solidFill>
                                        <a:latin typeface="Cambria Math" panose="02040503050406030204" pitchFamily="18" charset="0"/>
                                      </a:rPr>
                                    </m:ctrlPr>
                                  </m:sSubPr>
                                  <m:e>
                                    <m:r>
                                      <a:rPr lang="en-US" altLang="ja-JP" b="0" i="1" smtClean="0">
                                        <a:solidFill>
                                          <a:schemeClr val="tx1"/>
                                        </a:solidFill>
                                        <a:latin typeface="Cambria Math" panose="02040503050406030204" pitchFamily="18" charset="0"/>
                                      </a:rPr>
                                      <m:t>𝑣</m:t>
                                    </m:r>
                                  </m:e>
                                  <m:sub>
                                    <m:r>
                                      <a:rPr lang="en-US" altLang="ja-JP" b="0" i="1" smtClean="0">
                                        <a:solidFill>
                                          <a:schemeClr val="tx1"/>
                                        </a:solidFill>
                                        <a:latin typeface="Cambria Math" panose="02040503050406030204" pitchFamily="18" charset="0"/>
                                      </a:rPr>
                                      <m:t>1</m:t>
                                    </m:r>
                                  </m:sub>
                                </m:sSub>
                              </m:oMath>
                            </m:oMathPara>
                          </a14:m>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ja-JP" b="0" i="1" smtClean="0">
                                        <a:solidFill>
                                          <a:schemeClr val="tx1"/>
                                        </a:solidFill>
                                        <a:latin typeface="Cambria Math" panose="02040503050406030204" pitchFamily="18" charset="0"/>
                                      </a:rPr>
                                    </m:ctrlPr>
                                  </m:sSubPr>
                                  <m:e>
                                    <m:r>
                                      <a:rPr lang="en-US" altLang="ja-JP" b="0" i="1" smtClean="0">
                                        <a:solidFill>
                                          <a:schemeClr val="tx1"/>
                                        </a:solidFill>
                                        <a:latin typeface="Cambria Math" panose="02040503050406030204" pitchFamily="18" charset="0"/>
                                      </a:rPr>
                                      <m:t>𝑣</m:t>
                                    </m:r>
                                  </m:e>
                                  <m:sub>
                                    <m:r>
                                      <a:rPr lang="en-US" altLang="ja-JP" b="0" i="1" smtClean="0">
                                        <a:solidFill>
                                          <a:schemeClr val="tx1"/>
                                        </a:solidFill>
                                        <a:latin typeface="Cambria Math" panose="02040503050406030204" pitchFamily="18" charset="0"/>
                                      </a:rPr>
                                      <m:t>2</m:t>
                                    </m:r>
                                  </m:sub>
                                </m:sSub>
                              </m:oMath>
                            </m:oMathPara>
                          </a14:m>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ja-JP" b="0" i="1" smtClean="0">
                                        <a:solidFill>
                                          <a:schemeClr val="tx1"/>
                                        </a:solidFill>
                                        <a:latin typeface="Cambria Math" panose="02040503050406030204" pitchFamily="18" charset="0"/>
                                      </a:rPr>
                                    </m:ctrlPr>
                                  </m:sSubPr>
                                  <m:e>
                                    <m:r>
                                      <a:rPr lang="en-US" altLang="ja-JP" b="0" i="1" smtClean="0">
                                        <a:solidFill>
                                          <a:schemeClr val="tx1"/>
                                        </a:solidFill>
                                        <a:latin typeface="Cambria Math" panose="02040503050406030204" pitchFamily="18" charset="0"/>
                                      </a:rPr>
                                      <m:t>𝑣</m:t>
                                    </m:r>
                                  </m:e>
                                  <m:sub>
                                    <m:r>
                                      <a:rPr lang="en-US" altLang="ja-JP" b="0" i="1" smtClean="0">
                                        <a:solidFill>
                                          <a:schemeClr val="tx1"/>
                                        </a:solidFill>
                                        <a:latin typeface="Cambria Math" panose="02040503050406030204" pitchFamily="18" charset="0"/>
                                      </a:rPr>
                                      <m:t>3</m:t>
                                    </m:r>
                                  </m:sub>
                                </m:sSub>
                              </m:oMath>
                            </m:oMathPara>
                          </a14:m>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ja-JP" b="0" i="1" smtClean="0">
                                        <a:solidFill>
                                          <a:schemeClr val="tx1"/>
                                        </a:solidFill>
                                        <a:latin typeface="Cambria Math" panose="02040503050406030204" pitchFamily="18" charset="0"/>
                                      </a:rPr>
                                    </m:ctrlPr>
                                  </m:sSubPr>
                                  <m:e>
                                    <m:r>
                                      <a:rPr lang="en-US" altLang="ja-JP" b="0" i="1" smtClean="0">
                                        <a:solidFill>
                                          <a:schemeClr val="tx1"/>
                                        </a:solidFill>
                                        <a:latin typeface="Cambria Math" panose="02040503050406030204" pitchFamily="18" charset="0"/>
                                      </a:rPr>
                                      <m:t>𝑣</m:t>
                                    </m:r>
                                  </m:e>
                                  <m:sub>
                                    <m:r>
                                      <a:rPr lang="en-US" altLang="ja-JP" b="0" i="1" smtClean="0">
                                        <a:solidFill>
                                          <a:schemeClr val="tx1"/>
                                        </a:solidFill>
                                        <a:latin typeface="Cambria Math" panose="02040503050406030204" pitchFamily="18" charset="0"/>
                                      </a:rPr>
                                      <m:t>4</m:t>
                                    </m:r>
                                  </m:sub>
                                </m:sSub>
                              </m:oMath>
                            </m:oMathPara>
                          </a14:m>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ja-JP" b="0" i="1" smtClean="0">
                                        <a:solidFill>
                                          <a:schemeClr val="tx1"/>
                                        </a:solidFill>
                                        <a:latin typeface="Cambria Math" panose="02040503050406030204" pitchFamily="18" charset="0"/>
                                      </a:rPr>
                                    </m:ctrlPr>
                                  </m:sSubPr>
                                  <m:e>
                                    <m:r>
                                      <a:rPr lang="en-US" altLang="ja-JP" b="0" i="1" smtClean="0">
                                        <a:solidFill>
                                          <a:schemeClr val="tx1"/>
                                        </a:solidFill>
                                        <a:latin typeface="Cambria Math" panose="02040503050406030204" pitchFamily="18" charset="0"/>
                                      </a:rPr>
                                      <m:t>𝑣</m:t>
                                    </m:r>
                                  </m:e>
                                  <m:sub>
                                    <m:r>
                                      <a:rPr lang="en-US" altLang="ja-JP" b="0" i="1" smtClean="0">
                                        <a:solidFill>
                                          <a:schemeClr val="tx1"/>
                                        </a:solidFill>
                                        <a:latin typeface="Cambria Math" panose="02040503050406030204" pitchFamily="18" charset="0"/>
                                      </a:rPr>
                                      <m:t>5</m:t>
                                    </m:r>
                                  </m:sub>
                                </m:sSub>
                              </m:oMath>
                            </m:oMathPara>
                          </a14:m>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3181240"/>
                      </a:ext>
                    </a:extLst>
                  </a:tr>
                  <a:tr h="366801">
                    <a:tc>
                      <a:txBody>
                        <a:bodyPr/>
                        <a:lstStyle/>
                        <a:p>
                          <a:r>
                            <a:rPr kumimoji="1" lang="en-US" altLang="ja-JP" b="0" dirty="0">
                              <a:solidFill>
                                <a:schemeClr val="tx1"/>
                              </a:solidFill>
                            </a:rPr>
                            <a:t>Estimate</a:t>
                          </a:r>
                          <a:endParaRPr kumimoji="1" lang="ja-JP"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4D4D4"/>
                        </a:solidFill>
                      </a:tcPr>
                    </a:tc>
                    <a:tc>
                      <a:txBody>
                        <a:bodyPr/>
                        <a:lstStyle/>
                        <a:p>
                          <a:r>
                            <a:rPr kumimoji="1" lang="en-US" altLang="ja-JP" dirty="0">
                              <a:solidFill>
                                <a:schemeClr val="tx1"/>
                              </a:solidFill>
                            </a:rPr>
                            <a:t>-</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dirty="0">
                              <a:solidFill>
                                <a:schemeClr val="tx1"/>
                              </a:solidFill>
                            </a:rPr>
                            <a:t>-</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dirty="0">
                              <a:solidFill>
                                <a:schemeClr val="tx1"/>
                              </a:solidFill>
                            </a:rPr>
                            <a:t>-</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lang="en-US" altLang="ja-JP" b="0" i="1" smtClean="0">
                                        <a:latin typeface="Cambria Math" panose="02040503050406030204" pitchFamily="18" charset="0"/>
                                      </a:rPr>
                                    </m:ctrlPr>
                                  </m:accPr>
                                  <m:e>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𝑣</m:t>
                                        </m:r>
                                      </m:e>
                                      <m:sub>
                                        <m:r>
                                          <a:rPr lang="en-US" altLang="ja-JP" b="0" i="1" smtClean="0">
                                            <a:latin typeface="Cambria Math" panose="02040503050406030204" pitchFamily="18" charset="0"/>
                                          </a:rPr>
                                          <m:t>3</m:t>
                                        </m:r>
                                      </m:sub>
                                    </m:sSub>
                                  </m:e>
                                </m:acc>
                                <m:r>
                                  <a:rPr lang="en-US" altLang="ja-JP" b="0" i="1" smtClean="0">
                                    <a:latin typeface="Cambria Math" panose="02040503050406030204" pitchFamily="18" charset="0"/>
                                  </a:rPr>
                                  <m:t>=</m:t>
                                </m:r>
                                <m:f>
                                  <m:fPr>
                                    <m:ctrlPr>
                                      <a:rPr lang="en-US" altLang="ja-JP" b="0" i="1" smtClean="0">
                                        <a:latin typeface="Cambria Math" panose="02040503050406030204" pitchFamily="18" charset="0"/>
                                      </a:rPr>
                                    </m:ctrlPr>
                                  </m:fPr>
                                  <m:num>
                                    <m:r>
                                      <a:rPr lang="en-US" altLang="ja-JP" b="0" i="1" smtClean="0">
                                        <a:latin typeface="Cambria Math" panose="02040503050406030204" pitchFamily="18" charset="0"/>
                                      </a:rPr>
                                      <m:t>5</m:t>
                                    </m:r>
                                  </m:num>
                                  <m:den>
                                    <m:r>
                                      <a:rPr lang="en-US" altLang="ja-JP" b="0" i="1" smtClean="0">
                                        <a:latin typeface="Cambria Math" panose="02040503050406030204" pitchFamily="18" charset="0"/>
                                      </a:rPr>
                                      <m:t>4</m:t>
                                    </m:r>
                                  </m:den>
                                </m:f>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𝑣</m:t>
                                    </m:r>
                                  </m:e>
                                  <m:sub>
                                    <m:r>
                                      <a:rPr lang="en-US" altLang="ja-JP" b="0" i="1" smtClean="0">
                                        <a:latin typeface="Cambria Math" panose="02040503050406030204" pitchFamily="18" charset="0"/>
                                      </a:rPr>
                                      <m:t>0</m:t>
                                    </m:r>
                                  </m:sub>
                                </m:sSub>
                                <m:r>
                                  <a:rPr lang="en-US" altLang="ja-JP" b="0" i="1" smtClean="0">
                                    <a:latin typeface="Cambria Math" panose="02040503050406030204" pitchFamily="18" charset="0"/>
                                  </a:rPr>
                                  <m:t>+</m:t>
                                </m:r>
                                <m:f>
                                  <m:fPr>
                                    <m:ctrlPr>
                                      <a:rPr lang="en-US" altLang="ja-JP" b="0" i="1" smtClean="0">
                                        <a:latin typeface="Cambria Math" panose="02040503050406030204" pitchFamily="18" charset="0"/>
                                      </a:rPr>
                                    </m:ctrlPr>
                                  </m:fPr>
                                  <m:num>
                                    <m:r>
                                      <a:rPr lang="en-US" altLang="ja-JP" b="0" i="1" smtClean="0">
                                        <a:latin typeface="Cambria Math" panose="02040503050406030204" pitchFamily="18" charset="0"/>
                                      </a:rPr>
                                      <m:t>1</m:t>
                                    </m:r>
                                  </m:num>
                                  <m:den>
                                    <m:r>
                                      <a:rPr lang="en-US" altLang="ja-JP" b="0" i="1" smtClean="0">
                                        <a:latin typeface="Cambria Math" panose="02040503050406030204" pitchFamily="18" charset="0"/>
                                      </a:rPr>
                                      <m:t>2</m:t>
                                    </m:r>
                                  </m:den>
                                </m:f>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𝑣</m:t>
                                    </m:r>
                                  </m:e>
                                  <m:sub>
                                    <m:r>
                                      <a:rPr lang="en-US" altLang="ja-JP" b="0" i="1" smtClean="0">
                                        <a:latin typeface="Cambria Math" panose="02040503050406030204" pitchFamily="18" charset="0"/>
                                      </a:rPr>
                                      <m:t>1</m:t>
                                    </m:r>
                                  </m:sub>
                                </m:sSub>
                                <m:r>
                                  <a:rPr lang="en-US" altLang="ja-JP" b="0" i="1" smtClean="0">
                                    <a:latin typeface="Cambria Math" panose="02040503050406030204" pitchFamily="18" charset="0"/>
                                  </a:rPr>
                                  <m:t>−</m:t>
                                </m:r>
                                <m:f>
                                  <m:fPr>
                                    <m:ctrlPr>
                                      <a:rPr lang="en-US" altLang="ja-JP" b="0" i="1" smtClean="0">
                                        <a:latin typeface="Cambria Math" panose="02040503050406030204" pitchFamily="18" charset="0"/>
                                      </a:rPr>
                                    </m:ctrlPr>
                                  </m:fPr>
                                  <m:num>
                                    <m:r>
                                      <a:rPr lang="en-US" altLang="ja-JP" b="0" i="1" smtClean="0">
                                        <a:latin typeface="Cambria Math" panose="02040503050406030204" pitchFamily="18" charset="0"/>
                                      </a:rPr>
                                      <m:t>3</m:t>
                                    </m:r>
                                  </m:num>
                                  <m:den>
                                    <m:r>
                                      <a:rPr lang="en-US" altLang="ja-JP" b="0" i="1" smtClean="0">
                                        <a:latin typeface="Cambria Math" panose="02040503050406030204" pitchFamily="18" charset="0"/>
                                      </a:rPr>
                                      <m:t>4</m:t>
                                    </m:r>
                                  </m:den>
                                </m:f>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𝑣</m:t>
                                    </m:r>
                                  </m:e>
                                  <m:sub>
                                    <m:r>
                                      <a:rPr lang="en-US" altLang="ja-JP" b="0" i="1" smtClean="0">
                                        <a:latin typeface="Cambria Math" panose="02040503050406030204" pitchFamily="18" charset="0"/>
                                      </a:rPr>
                                      <m:t>2</m:t>
                                    </m:r>
                                  </m:sub>
                                </m:sSub>
                              </m:oMath>
                            </m:oMathPara>
                          </a14:m>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acc>
                                  <m:accPr>
                                    <m:chr m:val="̂"/>
                                    <m:ctrlPr>
                                      <a:rPr lang="en-US" altLang="ja-JP" b="0" i="1" smtClean="0">
                                        <a:latin typeface="Cambria Math" panose="02040503050406030204" pitchFamily="18" charset="0"/>
                                      </a:rPr>
                                    </m:ctrlPr>
                                  </m:accPr>
                                  <m:e>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𝑣</m:t>
                                        </m:r>
                                      </m:e>
                                      <m:sub>
                                        <m:r>
                                          <a:rPr lang="en-US" altLang="ja-JP" b="0" i="1" smtClean="0">
                                            <a:latin typeface="Cambria Math" panose="02040503050406030204" pitchFamily="18" charset="0"/>
                                          </a:rPr>
                                          <m:t>4</m:t>
                                        </m:r>
                                      </m:sub>
                                    </m:sSub>
                                  </m:e>
                                </m:acc>
                                <m:r>
                                  <a:rPr lang="en-US" altLang="ja-JP" b="0" i="1" smtClean="0">
                                    <a:latin typeface="Cambria Math" panose="02040503050406030204" pitchFamily="18" charset="0"/>
                                  </a:rPr>
                                  <m:t>=…</m:t>
                                </m:r>
                              </m:oMath>
                            </m:oMathPara>
                          </a14:m>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acc>
                                  <m:accPr>
                                    <m:chr m:val="̂"/>
                                    <m:ctrlPr>
                                      <a:rPr lang="en-US" altLang="ja-JP" b="0" i="1" smtClean="0">
                                        <a:latin typeface="Cambria Math" panose="02040503050406030204" pitchFamily="18" charset="0"/>
                                      </a:rPr>
                                    </m:ctrlPr>
                                  </m:accPr>
                                  <m:e>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𝑣</m:t>
                                        </m:r>
                                      </m:e>
                                      <m:sub>
                                        <m:r>
                                          <a:rPr lang="en-US" altLang="ja-JP" b="0" i="1" smtClean="0">
                                            <a:latin typeface="Cambria Math" panose="02040503050406030204" pitchFamily="18" charset="0"/>
                                          </a:rPr>
                                          <m:t>5</m:t>
                                        </m:r>
                                      </m:sub>
                                    </m:sSub>
                                  </m:e>
                                </m:acc>
                                <m:r>
                                  <a:rPr lang="en-US" altLang="ja-JP" b="0" i="1" smtClean="0">
                                    <a:latin typeface="Cambria Math" panose="02040503050406030204" pitchFamily="18" charset="0"/>
                                  </a:rPr>
                                  <m:t>=…</m:t>
                                </m:r>
                              </m:oMath>
                            </m:oMathPara>
                          </a14:m>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3275013"/>
                      </a:ext>
                    </a:extLst>
                  </a:tr>
                  <a:tr h="370840">
                    <a:tc>
                      <a:txBody>
                        <a:bodyPr/>
                        <a:lstStyle/>
                        <a:p>
                          <a:r>
                            <a:rPr kumimoji="1" lang="en-US" altLang="ja-JP" b="1" dirty="0">
                              <a:solidFill>
                                <a:schemeClr val="tx1"/>
                              </a:solidFill>
                            </a:rPr>
                            <a:t>Send</a:t>
                          </a:r>
                          <a:endParaRPr kumimoji="1" lang="ja-JP"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4D4D4"/>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ja-JP" b="1" i="1" smtClean="0">
                                        <a:solidFill>
                                          <a:schemeClr val="tx1"/>
                                        </a:solidFill>
                                        <a:latin typeface="Cambria Math" panose="02040503050406030204" pitchFamily="18" charset="0"/>
                                      </a:rPr>
                                    </m:ctrlPr>
                                  </m:sSubPr>
                                  <m:e>
                                    <m:r>
                                      <a:rPr lang="en-US" altLang="ja-JP" b="1" i="1" smtClean="0">
                                        <a:solidFill>
                                          <a:schemeClr val="tx1"/>
                                        </a:solidFill>
                                        <a:latin typeface="Cambria Math" panose="02040503050406030204" pitchFamily="18" charset="0"/>
                                      </a:rPr>
                                      <m:t>𝒗</m:t>
                                    </m:r>
                                  </m:e>
                                  <m:sub>
                                    <m:r>
                                      <a:rPr lang="en-US" altLang="ja-JP" b="1" i="1" smtClean="0">
                                        <a:solidFill>
                                          <a:schemeClr val="tx1"/>
                                        </a:solidFill>
                                        <a:latin typeface="Cambria Math" panose="02040503050406030204" pitchFamily="18" charset="0"/>
                                      </a:rPr>
                                      <m:t>𝟎</m:t>
                                    </m:r>
                                  </m:sub>
                                </m:sSub>
                              </m:oMath>
                            </m:oMathPara>
                          </a14:m>
                          <a:endParaRPr kumimoji="1" lang="ja-JP"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ja-JP" b="1" i="1" smtClean="0">
                                        <a:solidFill>
                                          <a:schemeClr val="tx1"/>
                                        </a:solidFill>
                                        <a:latin typeface="Cambria Math" panose="02040503050406030204" pitchFamily="18" charset="0"/>
                                      </a:rPr>
                                    </m:ctrlPr>
                                  </m:sSubPr>
                                  <m:e>
                                    <m:r>
                                      <a:rPr lang="en-US" altLang="ja-JP" b="1" i="1" smtClean="0">
                                        <a:solidFill>
                                          <a:schemeClr val="tx1"/>
                                        </a:solidFill>
                                        <a:latin typeface="Cambria Math" panose="02040503050406030204" pitchFamily="18" charset="0"/>
                                      </a:rPr>
                                      <m:t>𝒗</m:t>
                                    </m:r>
                                  </m:e>
                                  <m:sub>
                                    <m:r>
                                      <a:rPr lang="en-US" altLang="ja-JP" b="1" i="1" smtClean="0">
                                        <a:solidFill>
                                          <a:schemeClr val="tx1"/>
                                        </a:solidFill>
                                        <a:latin typeface="Cambria Math" panose="02040503050406030204" pitchFamily="18" charset="0"/>
                                      </a:rPr>
                                      <m:t>𝟏</m:t>
                                    </m:r>
                                  </m:sub>
                                </m:sSub>
                              </m:oMath>
                            </m:oMathPara>
                          </a14:m>
                          <a:endParaRPr kumimoji="1" lang="ja-JP"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ja-JP" b="1" i="1" smtClean="0">
                                        <a:solidFill>
                                          <a:schemeClr val="tx1"/>
                                        </a:solidFill>
                                        <a:latin typeface="Cambria Math" panose="02040503050406030204" pitchFamily="18" charset="0"/>
                                      </a:rPr>
                                    </m:ctrlPr>
                                  </m:sSubPr>
                                  <m:e>
                                    <m:r>
                                      <a:rPr lang="en-US" altLang="ja-JP" b="1" i="1" smtClean="0">
                                        <a:solidFill>
                                          <a:schemeClr val="tx1"/>
                                        </a:solidFill>
                                        <a:latin typeface="Cambria Math" panose="02040503050406030204" pitchFamily="18" charset="0"/>
                                      </a:rPr>
                                      <m:t>𝒗</m:t>
                                    </m:r>
                                  </m:e>
                                  <m:sub>
                                    <m:r>
                                      <a:rPr lang="en-US" altLang="ja-JP" b="1" i="1" smtClean="0">
                                        <a:solidFill>
                                          <a:schemeClr val="tx1"/>
                                        </a:solidFill>
                                        <a:latin typeface="Cambria Math" panose="02040503050406030204" pitchFamily="18" charset="0"/>
                                      </a:rPr>
                                      <m:t>𝟐</m:t>
                                    </m:r>
                                  </m:sub>
                                </m:sSub>
                              </m:oMath>
                            </m:oMathPara>
                          </a14:m>
                          <a:endParaRPr kumimoji="1" lang="ja-JP"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acc>
                                  <m:accPr>
                                    <m:chr m:val="̂"/>
                                    <m:ctrlPr>
                                      <a:rPr lang="en-US" altLang="ja-JP" b="1" i="1" smtClean="0">
                                        <a:latin typeface="Cambria Math" panose="02040503050406030204" pitchFamily="18" charset="0"/>
                                      </a:rPr>
                                    </m:ctrlPr>
                                  </m:accPr>
                                  <m:e>
                                    <m:sSub>
                                      <m:sSubPr>
                                        <m:ctrlPr>
                                          <a:rPr lang="en-US" altLang="ja-JP" b="1" i="1" smtClean="0">
                                            <a:latin typeface="Cambria Math" panose="02040503050406030204" pitchFamily="18" charset="0"/>
                                          </a:rPr>
                                        </m:ctrlPr>
                                      </m:sSubPr>
                                      <m:e>
                                        <m:r>
                                          <a:rPr lang="en-US" altLang="ja-JP" b="1" i="1" smtClean="0">
                                            <a:latin typeface="Cambria Math" panose="02040503050406030204" pitchFamily="18" charset="0"/>
                                          </a:rPr>
                                          <m:t>𝒗</m:t>
                                        </m:r>
                                      </m:e>
                                      <m:sub>
                                        <m:r>
                                          <a:rPr lang="en-US" altLang="ja-JP" b="1" i="1" smtClean="0">
                                            <a:latin typeface="Cambria Math" panose="02040503050406030204" pitchFamily="18" charset="0"/>
                                          </a:rPr>
                                          <m:t>𝟑</m:t>
                                        </m:r>
                                      </m:sub>
                                    </m:sSub>
                                  </m:e>
                                </m:acc>
                                <m:r>
                                  <a:rPr lang="en-US" altLang="ja-JP" b="1" i="1" smtClean="0">
                                    <a:latin typeface="Cambria Math" panose="02040503050406030204" pitchFamily="18" charset="0"/>
                                  </a:rPr>
                                  <m:t>−</m:t>
                                </m:r>
                                <m:sSub>
                                  <m:sSubPr>
                                    <m:ctrlPr>
                                      <a:rPr lang="en-US" altLang="ja-JP" b="1" i="1" smtClean="0">
                                        <a:latin typeface="Cambria Math" panose="02040503050406030204" pitchFamily="18" charset="0"/>
                                      </a:rPr>
                                    </m:ctrlPr>
                                  </m:sSubPr>
                                  <m:e>
                                    <m:r>
                                      <a:rPr lang="en-US" altLang="ja-JP" b="1" i="1" smtClean="0">
                                        <a:latin typeface="Cambria Math" panose="02040503050406030204" pitchFamily="18" charset="0"/>
                                      </a:rPr>
                                      <m:t>𝒗</m:t>
                                    </m:r>
                                  </m:e>
                                  <m:sub>
                                    <m:r>
                                      <a:rPr lang="en-US" altLang="ja-JP" b="1" i="1" smtClean="0">
                                        <a:latin typeface="Cambria Math" panose="02040503050406030204" pitchFamily="18" charset="0"/>
                                      </a:rPr>
                                      <m:t>𝟑</m:t>
                                    </m:r>
                                  </m:sub>
                                </m:sSub>
                              </m:oMath>
                            </m:oMathPara>
                          </a14:m>
                          <a:endParaRPr kumimoji="1" lang="ja-JP"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acc>
                                  <m:accPr>
                                    <m:chr m:val="̂"/>
                                    <m:ctrlPr>
                                      <a:rPr lang="en-US" altLang="ja-JP" b="1" i="1" smtClean="0">
                                        <a:latin typeface="Cambria Math" panose="02040503050406030204" pitchFamily="18" charset="0"/>
                                      </a:rPr>
                                    </m:ctrlPr>
                                  </m:accPr>
                                  <m:e>
                                    <m:sSub>
                                      <m:sSubPr>
                                        <m:ctrlPr>
                                          <a:rPr lang="en-US" altLang="ja-JP" b="1" i="1" smtClean="0">
                                            <a:latin typeface="Cambria Math" panose="02040503050406030204" pitchFamily="18" charset="0"/>
                                          </a:rPr>
                                        </m:ctrlPr>
                                      </m:sSubPr>
                                      <m:e>
                                        <m:r>
                                          <a:rPr lang="en-US" altLang="ja-JP" b="1" i="1" smtClean="0">
                                            <a:latin typeface="Cambria Math" panose="02040503050406030204" pitchFamily="18" charset="0"/>
                                          </a:rPr>
                                          <m:t>𝒗</m:t>
                                        </m:r>
                                      </m:e>
                                      <m:sub>
                                        <m:r>
                                          <a:rPr lang="en-US" altLang="ja-JP" b="1" i="1" smtClean="0">
                                            <a:latin typeface="Cambria Math" panose="02040503050406030204" pitchFamily="18" charset="0"/>
                                          </a:rPr>
                                          <m:t>𝟒</m:t>
                                        </m:r>
                                      </m:sub>
                                    </m:sSub>
                                  </m:e>
                                </m:acc>
                                <m:r>
                                  <a:rPr lang="en-US" altLang="ja-JP" b="1" i="1" smtClean="0">
                                    <a:latin typeface="Cambria Math" panose="02040503050406030204" pitchFamily="18" charset="0"/>
                                  </a:rPr>
                                  <m:t>−</m:t>
                                </m:r>
                                <m:sSub>
                                  <m:sSubPr>
                                    <m:ctrlPr>
                                      <a:rPr lang="en-US" altLang="ja-JP" b="1" i="1" smtClean="0">
                                        <a:latin typeface="Cambria Math" panose="02040503050406030204" pitchFamily="18" charset="0"/>
                                      </a:rPr>
                                    </m:ctrlPr>
                                  </m:sSubPr>
                                  <m:e>
                                    <m:r>
                                      <a:rPr lang="en-US" altLang="ja-JP" b="1" i="1" smtClean="0">
                                        <a:latin typeface="Cambria Math" panose="02040503050406030204" pitchFamily="18" charset="0"/>
                                      </a:rPr>
                                      <m:t>𝒗</m:t>
                                    </m:r>
                                  </m:e>
                                  <m:sub>
                                    <m:r>
                                      <a:rPr lang="en-US" altLang="ja-JP" b="1" i="1" smtClean="0">
                                        <a:latin typeface="Cambria Math" panose="02040503050406030204" pitchFamily="18" charset="0"/>
                                      </a:rPr>
                                      <m:t>𝟒</m:t>
                                    </m:r>
                                  </m:sub>
                                </m:sSub>
                              </m:oMath>
                            </m:oMathPara>
                          </a14:m>
                          <a:endParaRPr kumimoji="1" lang="ja-JP"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acc>
                                  <m:accPr>
                                    <m:chr m:val="̂"/>
                                    <m:ctrlPr>
                                      <a:rPr lang="en-US" altLang="ja-JP" b="1" i="1" smtClean="0">
                                        <a:latin typeface="Cambria Math" panose="02040503050406030204" pitchFamily="18" charset="0"/>
                                      </a:rPr>
                                    </m:ctrlPr>
                                  </m:accPr>
                                  <m:e>
                                    <m:sSub>
                                      <m:sSubPr>
                                        <m:ctrlPr>
                                          <a:rPr lang="en-US" altLang="ja-JP" b="1" i="1" smtClean="0">
                                            <a:latin typeface="Cambria Math" panose="02040503050406030204" pitchFamily="18" charset="0"/>
                                          </a:rPr>
                                        </m:ctrlPr>
                                      </m:sSubPr>
                                      <m:e>
                                        <m:r>
                                          <a:rPr lang="en-US" altLang="ja-JP" b="1" i="1" smtClean="0">
                                            <a:latin typeface="Cambria Math" panose="02040503050406030204" pitchFamily="18" charset="0"/>
                                          </a:rPr>
                                          <m:t>𝒗</m:t>
                                        </m:r>
                                      </m:e>
                                      <m:sub>
                                        <m:r>
                                          <a:rPr lang="en-US" altLang="ja-JP" b="1" i="1" smtClean="0">
                                            <a:latin typeface="Cambria Math" panose="02040503050406030204" pitchFamily="18" charset="0"/>
                                          </a:rPr>
                                          <m:t>𝟓</m:t>
                                        </m:r>
                                      </m:sub>
                                    </m:sSub>
                                  </m:e>
                                </m:acc>
                                <m:r>
                                  <a:rPr lang="en-US" altLang="ja-JP" b="1" i="1" smtClean="0">
                                    <a:latin typeface="Cambria Math" panose="02040503050406030204" pitchFamily="18" charset="0"/>
                                  </a:rPr>
                                  <m:t>−</m:t>
                                </m:r>
                                <m:sSub>
                                  <m:sSubPr>
                                    <m:ctrlPr>
                                      <a:rPr lang="en-US" altLang="ja-JP" b="1" i="1" smtClean="0">
                                        <a:latin typeface="Cambria Math" panose="02040503050406030204" pitchFamily="18" charset="0"/>
                                      </a:rPr>
                                    </m:ctrlPr>
                                  </m:sSubPr>
                                  <m:e>
                                    <m:r>
                                      <a:rPr lang="en-US" altLang="ja-JP" b="1" i="1" smtClean="0">
                                        <a:latin typeface="Cambria Math" panose="02040503050406030204" pitchFamily="18" charset="0"/>
                                      </a:rPr>
                                      <m:t>𝒗</m:t>
                                    </m:r>
                                  </m:e>
                                  <m:sub>
                                    <m:r>
                                      <a:rPr lang="en-US" altLang="ja-JP" b="1" i="1" smtClean="0">
                                        <a:latin typeface="Cambria Math" panose="02040503050406030204" pitchFamily="18" charset="0"/>
                                      </a:rPr>
                                      <m:t>𝟓</m:t>
                                    </m:r>
                                  </m:sub>
                                </m:sSub>
                              </m:oMath>
                            </m:oMathPara>
                          </a14:m>
                          <a:endParaRPr kumimoji="1" lang="ja-JP"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9243740"/>
                      </a:ext>
                    </a:extLst>
                  </a:tr>
                </a:tbl>
              </a:graphicData>
            </a:graphic>
          </p:graphicFrame>
        </mc:Choice>
        <mc:Fallback xmlns="">
          <p:graphicFrame>
            <p:nvGraphicFramePr>
              <p:cNvPr id="5" name="Table 4">
                <a:extLst>
                  <a:ext uri="{FF2B5EF4-FFF2-40B4-BE49-F238E27FC236}">
                    <a16:creationId xmlns:a16="http://schemas.microsoft.com/office/drawing/2014/main" id="{E90B15E4-9723-25C3-4CD0-1513C1BD9BFF}"/>
                  </a:ext>
                </a:extLst>
              </p:cNvPr>
              <p:cNvGraphicFramePr>
                <a:graphicFrameLocks noGrp="1"/>
              </p:cNvGraphicFramePr>
              <p:nvPr/>
            </p:nvGraphicFramePr>
            <p:xfrm>
              <a:off x="2398466" y="5304942"/>
              <a:ext cx="7395067" cy="1352233"/>
            </p:xfrm>
            <a:graphic>
              <a:graphicData uri="http://schemas.openxmlformats.org/drawingml/2006/table">
                <a:tbl>
                  <a:tblPr firstRow="1" bandRow="1">
                    <a:tableStyleId>{073A0DAA-6AF3-43AB-8588-CEC1D06C72B9}</a:tableStyleId>
                  </a:tblPr>
                  <a:tblGrid>
                    <a:gridCol w="1541956">
                      <a:extLst>
                        <a:ext uri="{9D8B030D-6E8A-4147-A177-3AD203B41FA5}">
                          <a16:colId xmlns:a16="http://schemas.microsoft.com/office/drawing/2014/main" val="2740683806"/>
                        </a:ext>
                      </a:extLst>
                    </a:gridCol>
                    <a:gridCol w="475869">
                      <a:extLst>
                        <a:ext uri="{9D8B030D-6E8A-4147-A177-3AD203B41FA5}">
                          <a16:colId xmlns:a16="http://schemas.microsoft.com/office/drawing/2014/main" val="871978231"/>
                        </a:ext>
                      </a:extLst>
                    </a:gridCol>
                    <a:gridCol w="470598">
                      <a:extLst>
                        <a:ext uri="{9D8B030D-6E8A-4147-A177-3AD203B41FA5}">
                          <a16:colId xmlns:a16="http://schemas.microsoft.com/office/drawing/2014/main" val="1249668977"/>
                        </a:ext>
                      </a:extLst>
                    </a:gridCol>
                    <a:gridCol w="475869">
                      <a:extLst>
                        <a:ext uri="{9D8B030D-6E8A-4147-A177-3AD203B41FA5}">
                          <a16:colId xmlns:a16="http://schemas.microsoft.com/office/drawing/2014/main" val="1288090506"/>
                        </a:ext>
                      </a:extLst>
                    </a:gridCol>
                    <a:gridCol w="2494153">
                      <a:extLst>
                        <a:ext uri="{9D8B030D-6E8A-4147-A177-3AD203B41FA5}">
                          <a16:colId xmlns:a16="http://schemas.microsoft.com/office/drawing/2014/main" val="1987903996"/>
                        </a:ext>
                      </a:extLst>
                    </a:gridCol>
                    <a:gridCol w="959802">
                      <a:extLst>
                        <a:ext uri="{9D8B030D-6E8A-4147-A177-3AD203B41FA5}">
                          <a16:colId xmlns:a16="http://schemas.microsoft.com/office/drawing/2014/main" val="1223118109"/>
                        </a:ext>
                      </a:extLst>
                    </a:gridCol>
                    <a:gridCol w="976820">
                      <a:extLst>
                        <a:ext uri="{9D8B030D-6E8A-4147-A177-3AD203B41FA5}">
                          <a16:colId xmlns:a16="http://schemas.microsoft.com/office/drawing/2014/main" val="2207815020"/>
                        </a:ext>
                      </a:extLst>
                    </a:gridCol>
                  </a:tblGrid>
                  <a:tr h="370840">
                    <a:tc>
                      <a:txBody>
                        <a:bodyPr/>
                        <a:lstStyle/>
                        <a:p>
                          <a:r>
                            <a:rPr kumimoji="1" lang="en-US" altLang="ja-JP" b="0" dirty="0">
                              <a:solidFill>
                                <a:schemeClr val="tx1"/>
                              </a:solidFill>
                            </a:rPr>
                            <a:t>Actual Data</a:t>
                          </a:r>
                          <a:endParaRPr kumimoji="1" lang="ja-JP"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4D4D4"/>
                        </a:solidFill>
                      </a:tcPr>
                    </a:tc>
                    <a:tc>
                      <a:txBody>
                        <a:bodyPr/>
                        <a:lstStyle/>
                        <a:p>
                          <a:endParaRPr lang="ja-JP"/>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25641" t="-8197" r="-1134615" b="-288525"/>
                          </a:stretch>
                        </a:blipFill>
                      </a:tcPr>
                    </a:tc>
                    <a:tc>
                      <a:txBody>
                        <a:bodyPr/>
                        <a:lstStyle/>
                        <a:p>
                          <a:endParaRPr lang="ja-JP"/>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25641" t="-8197" r="-1034615" b="-288525"/>
                          </a:stretch>
                        </a:blipFill>
                      </a:tcPr>
                    </a:tc>
                    <a:tc>
                      <a:txBody>
                        <a:bodyPr/>
                        <a:lstStyle/>
                        <a:p>
                          <a:endParaRPr lang="ja-JP"/>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25641" t="-8197" r="-934615" b="-288525"/>
                          </a:stretch>
                        </a:blipFill>
                      </a:tcPr>
                    </a:tc>
                    <a:tc>
                      <a:txBody>
                        <a:bodyPr/>
                        <a:lstStyle/>
                        <a:p>
                          <a:endParaRPr lang="ja-JP"/>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19315" t="-8197" r="-78240" b="-288525"/>
                          </a:stretch>
                        </a:blipFill>
                      </a:tcPr>
                    </a:tc>
                    <a:tc>
                      <a:txBody>
                        <a:bodyPr/>
                        <a:lstStyle/>
                        <a:p>
                          <a:endParaRPr lang="ja-JP"/>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67722" t="-8197" r="-102532" b="-288525"/>
                          </a:stretch>
                        </a:blipFill>
                      </a:tcPr>
                    </a:tc>
                    <a:tc>
                      <a:txBody>
                        <a:bodyPr/>
                        <a:lstStyle/>
                        <a:p>
                          <a:endParaRPr lang="ja-JP"/>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59375" t="-8197" r="-1250" b="-288525"/>
                          </a:stretch>
                        </a:blipFill>
                      </a:tcPr>
                    </a:tc>
                    <a:extLst>
                      <a:ext uri="{0D108BD9-81ED-4DB2-BD59-A6C34878D82A}">
                        <a16:rowId xmlns:a16="http://schemas.microsoft.com/office/drawing/2014/main" val="1003181240"/>
                      </a:ext>
                    </a:extLst>
                  </a:tr>
                  <a:tr h="610553">
                    <a:tc>
                      <a:txBody>
                        <a:bodyPr/>
                        <a:lstStyle/>
                        <a:p>
                          <a:r>
                            <a:rPr kumimoji="1" lang="en-US" altLang="ja-JP" b="0" dirty="0">
                              <a:solidFill>
                                <a:schemeClr val="tx1"/>
                              </a:solidFill>
                            </a:rPr>
                            <a:t>Estimate</a:t>
                          </a:r>
                          <a:endParaRPr kumimoji="1" lang="ja-JP"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4D4D4"/>
                        </a:solidFill>
                      </a:tcPr>
                    </a:tc>
                    <a:tc>
                      <a:txBody>
                        <a:bodyPr/>
                        <a:lstStyle/>
                        <a:p>
                          <a:r>
                            <a:rPr kumimoji="1" lang="en-US" altLang="ja-JP" dirty="0">
                              <a:solidFill>
                                <a:schemeClr val="tx1"/>
                              </a:solidFill>
                            </a:rPr>
                            <a:t>-</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dirty="0">
                              <a:solidFill>
                                <a:schemeClr val="tx1"/>
                              </a:solidFill>
                            </a:rPr>
                            <a:t>-</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dirty="0">
                              <a:solidFill>
                                <a:schemeClr val="tx1"/>
                              </a:solidFill>
                            </a:rPr>
                            <a:t>-</a:t>
                          </a:r>
                          <a:endParaRPr kumimoji="1" lang="ja-JP"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ja-JP"/>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19315" t="-65347" r="-78240" b="-74257"/>
                          </a:stretch>
                        </a:blipFill>
                      </a:tcPr>
                    </a:tc>
                    <a:tc>
                      <a:txBody>
                        <a:bodyPr/>
                        <a:lstStyle/>
                        <a:p>
                          <a:endParaRPr lang="ja-JP"/>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67722" t="-65347" r="-102532" b="-74257"/>
                          </a:stretch>
                        </a:blipFill>
                      </a:tcPr>
                    </a:tc>
                    <a:tc>
                      <a:txBody>
                        <a:bodyPr/>
                        <a:lstStyle/>
                        <a:p>
                          <a:endParaRPr lang="ja-JP"/>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59375" t="-65347" r="-1250" b="-74257"/>
                          </a:stretch>
                        </a:blipFill>
                      </a:tcPr>
                    </a:tc>
                    <a:extLst>
                      <a:ext uri="{0D108BD9-81ED-4DB2-BD59-A6C34878D82A}">
                        <a16:rowId xmlns:a16="http://schemas.microsoft.com/office/drawing/2014/main" val="333275013"/>
                      </a:ext>
                    </a:extLst>
                  </a:tr>
                  <a:tr h="370840">
                    <a:tc>
                      <a:txBody>
                        <a:bodyPr/>
                        <a:lstStyle/>
                        <a:p>
                          <a:r>
                            <a:rPr kumimoji="1" lang="en-US" altLang="ja-JP" b="1" dirty="0">
                              <a:solidFill>
                                <a:schemeClr val="tx1"/>
                              </a:solidFill>
                            </a:rPr>
                            <a:t>Send</a:t>
                          </a:r>
                          <a:endParaRPr kumimoji="1" lang="ja-JP"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4D4D4"/>
                        </a:solidFill>
                      </a:tcPr>
                    </a:tc>
                    <a:tc>
                      <a:txBody>
                        <a:bodyPr/>
                        <a:lstStyle/>
                        <a:p>
                          <a:endParaRPr lang="ja-JP"/>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25641" t="-273770" r="-1134615" b="-22951"/>
                          </a:stretch>
                        </a:blipFill>
                      </a:tcPr>
                    </a:tc>
                    <a:tc>
                      <a:txBody>
                        <a:bodyPr/>
                        <a:lstStyle/>
                        <a:p>
                          <a:endParaRPr lang="ja-JP"/>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25641" t="-273770" r="-1034615" b="-22951"/>
                          </a:stretch>
                        </a:blipFill>
                      </a:tcPr>
                    </a:tc>
                    <a:tc>
                      <a:txBody>
                        <a:bodyPr/>
                        <a:lstStyle/>
                        <a:p>
                          <a:endParaRPr lang="ja-JP"/>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25641" t="-273770" r="-934615" b="-22951"/>
                          </a:stretch>
                        </a:blipFill>
                      </a:tcPr>
                    </a:tc>
                    <a:tc>
                      <a:txBody>
                        <a:bodyPr/>
                        <a:lstStyle/>
                        <a:p>
                          <a:endParaRPr lang="ja-JP"/>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19315" t="-273770" r="-78240" b="-22951"/>
                          </a:stretch>
                        </a:blipFill>
                      </a:tcPr>
                    </a:tc>
                    <a:tc>
                      <a:txBody>
                        <a:bodyPr/>
                        <a:lstStyle/>
                        <a:p>
                          <a:endParaRPr lang="ja-JP"/>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67722" t="-273770" r="-102532" b="-22951"/>
                          </a:stretch>
                        </a:blipFill>
                      </a:tcPr>
                    </a:tc>
                    <a:tc>
                      <a:txBody>
                        <a:bodyPr/>
                        <a:lstStyle/>
                        <a:p>
                          <a:endParaRPr lang="ja-JP"/>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59375" t="-273770" r="-1250" b="-22951"/>
                          </a:stretch>
                        </a:blipFill>
                      </a:tcPr>
                    </a:tc>
                    <a:extLst>
                      <a:ext uri="{0D108BD9-81ED-4DB2-BD59-A6C34878D82A}">
                        <a16:rowId xmlns:a16="http://schemas.microsoft.com/office/drawing/2014/main" val="79243740"/>
                      </a:ext>
                    </a:extLst>
                  </a:tr>
                </a:tbl>
              </a:graphicData>
            </a:graphic>
          </p:graphicFrame>
        </mc:Fallback>
      </mc:AlternateContent>
    </p:spTree>
    <p:extLst>
      <p:ext uri="{BB962C8B-B14F-4D97-AF65-F5344CB8AC3E}">
        <p14:creationId xmlns:p14="http://schemas.microsoft.com/office/powerpoint/2010/main" val="15098000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6AFDD47-D357-F54C-2D93-0FE4241818F1}"/>
            </a:ext>
          </a:extLst>
        </p:cNvPr>
        <p:cNvGrpSpPr/>
        <p:nvPr/>
      </p:nvGrpSpPr>
      <p:grpSpPr>
        <a:xfrm>
          <a:off x="0" y="0"/>
          <a:ext cx="0" cy="0"/>
          <a:chOff x="0" y="0"/>
          <a:chExt cx="0" cy="0"/>
        </a:xfrm>
      </p:grpSpPr>
      <p:sp>
        <p:nvSpPr>
          <p:cNvPr id="11" name="Down Arrow 7">
            <a:extLst>
              <a:ext uri="{FF2B5EF4-FFF2-40B4-BE49-F238E27FC236}">
                <a16:creationId xmlns:a16="http://schemas.microsoft.com/office/drawing/2014/main" id="{13D4F3E8-4CFA-C019-87D9-6D9E3190DB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64CF05-DC91-D21C-E010-1CE536C27516}"/>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kumimoji="1" lang="en-US" altLang="ja-JP" sz="3600" kern="1200">
                <a:solidFill>
                  <a:srgbClr val="FFFFFF"/>
                </a:solidFill>
                <a:latin typeface="+mj-lt"/>
                <a:ea typeface="+mj-ea"/>
                <a:cs typeface="+mj-cs"/>
              </a:rPr>
              <a:t>Huffman Table β</a:t>
            </a:r>
          </a:p>
        </p:txBody>
      </p:sp>
      <p:pic>
        <p:nvPicPr>
          <p:cNvPr id="6" name="Content Placeholder 5">
            <a:extLst>
              <a:ext uri="{FF2B5EF4-FFF2-40B4-BE49-F238E27FC236}">
                <a16:creationId xmlns:a16="http://schemas.microsoft.com/office/drawing/2014/main" id="{46911B71-9CC2-E5BB-092D-B2F2FDCE874F}"/>
              </a:ext>
            </a:extLst>
          </p:cNvPr>
          <p:cNvPicPr>
            <a:picLocks noGrp="1" noChangeAspect="1"/>
          </p:cNvPicPr>
          <p:nvPr>
            <p:ph idx="1"/>
          </p:nvPr>
        </p:nvPicPr>
        <p:blipFill>
          <a:blip r:embed="rId3"/>
          <a:stretch>
            <a:fillRect/>
          </a:stretch>
        </p:blipFill>
        <p:spPr bwMode="auto">
          <a:xfrm>
            <a:off x="4777316" y="1571619"/>
            <a:ext cx="6780700" cy="37124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58808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FAD5A-EAD3-C46C-9A80-EA3792662C16}"/>
            </a:ext>
          </a:extLst>
        </p:cNvPr>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6514254E-0287-6A5E-8307-09EED1F75252}"/>
              </a:ext>
            </a:extLst>
          </p:cNvPr>
          <p:cNvCxnSpPr>
            <a:cxnSpLocks/>
          </p:cNvCxnSpPr>
          <p:nvPr/>
        </p:nvCxnSpPr>
        <p:spPr>
          <a:xfrm>
            <a:off x="3744012" y="1725104"/>
            <a:ext cx="0" cy="1545996"/>
          </a:xfrm>
          <a:prstGeom prst="line">
            <a:avLst/>
          </a:prstGeom>
          <a:ln w="76200">
            <a:solidFill>
              <a:schemeClr val="accent2"/>
            </a:solidFill>
          </a:ln>
        </p:spPr>
        <p:style>
          <a:lnRef idx="2">
            <a:schemeClr val="dk1"/>
          </a:lnRef>
          <a:fillRef idx="0">
            <a:schemeClr val="dk1"/>
          </a:fillRef>
          <a:effectRef idx="1">
            <a:schemeClr val="dk1"/>
          </a:effectRef>
          <a:fontRef idx="minor">
            <a:schemeClr val="tx1"/>
          </a:fontRef>
        </p:style>
      </p:cxnSp>
      <p:cxnSp>
        <p:nvCxnSpPr>
          <p:cNvPr id="8" name="Straight Connector 7">
            <a:extLst>
              <a:ext uri="{FF2B5EF4-FFF2-40B4-BE49-F238E27FC236}">
                <a16:creationId xmlns:a16="http://schemas.microsoft.com/office/drawing/2014/main" id="{EB7E7C2E-19F6-3910-ACCF-D0D7123B09CC}"/>
              </a:ext>
            </a:extLst>
          </p:cNvPr>
          <p:cNvCxnSpPr>
            <a:cxnSpLocks/>
          </p:cNvCxnSpPr>
          <p:nvPr/>
        </p:nvCxnSpPr>
        <p:spPr>
          <a:xfrm>
            <a:off x="7205220" y="1725104"/>
            <a:ext cx="0" cy="1545996"/>
          </a:xfrm>
          <a:prstGeom prst="line">
            <a:avLst/>
          </a:prstGeom>
          <a:ln w="76200">
            <a:solidFill>
              <a:schemeClr val="tx2">
                <a:lumMod val="50000"/>
                <a:lumOff val="50000"/>
              </a:schemeClr>
            </a:solidFill>
          </a:ln>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FBF9CD13-472D-461D-D1A4-B7303A1A4105}"/>
              </a:ext>
            </a:extLst>
          </p:cNvPr>
          <p:cNvCxnSpPr>
            <a:cxnSpLocks/>
          </p:cNvCxnSpPr>
          <p:nvPr/>
        </p:nvCxnSpPr>
        <p:spPr>
          <a:xfrm>
            <a:off x="10666428" y="1725104"/>
            <a:ext cx="0" cy="1545996"/>
          </a:xfrm>
          <a:prstGeom prst="line">
            <a:avLst/>
          </a:prstGeom>
          <a:ln w="76200">
            <a:solidFill>
              <a:schemeClr val="tx2">
                <a:lumMod val="50000"/>
                <a:lumOff val="50000"/>
              </a:schemeClr>
            </a:solidFill>
          </a:ln>
        </p:spPr>
        <p:style>
          <a:lnRef idx="2">
            <a:schemeClr val="dk1"/>
          </a:lnRef>
          <a:fillRef idx="0">
            <a:schemeClr val="dk1"/>
          </a:fillRef>
          <a:effectRef idx="1">
            <a:schemeClr val="dk1"/>
          </a:effectRef>
          <a:fontRef idx="minor">
            <a:schemeClr val="tx1"/>
          </a:fontRef>
        </p:style>
      </p:cxnSp>
      <p:cxnSp>
        <p:nvCxnSpPr>
          <p:cNvPr id="12" name="Straight Arrow Connector 11">
            <a:extLst>
              <a:ext uri="{FF2B5EF4-FFF2-40B4-BE49-F238E27FC236}">
                <a16:creationId xmlns:a16="http://schemas.microsoft.com/office/drawing/2014/main" id="{55A01D11-735F-0E1C-BBE0-9E5D8C92DB4A}"/>
              </a:ext>
            </a:extLst>
          </p:cNvPr>
          <p:cNvCxnSpPr/>
          <p:nvPr/>
        </p:nvCxnSpPr>
        <p:spPr>
          <a:xfrm>
            <a:off x="3744012" y="2441541"/>
            <a:ext cx="3461208" cy="0"/>
          </a:xfrm>
          <a:prstGeom prst="straightConnector1">
            <a:avLst/>
          </a:prstGeom>
          <a:ln w="76200">
            <a:solidFill>
              <a:schemeClr val="accent2"/>
            </a:solidFill>
            <a:headEnd type="triangle"/>
            <a:tailEnd type="triangle"/>
          </a:ln>
        </p:spPr>
        <p:style>
          <a:lnRef idx="2">
            <a:schemeClr val="dk1"/>
          </a:lnRef>
          <a:fillRef idx="0">
            <a:schemeClr val="dk1"/>
          </a:fillRef>
          <a:effectRef idx="1">
            <a:schemeClr val="dk1"/>
          </a:effectRef>
          <a:fontRef idx="minor">
            <a:schemeClr val="tx1"/>
          </a:fontRef>
        </p:style>
      </p:cxnSp>
      <p:cxnSp>
        <p:nvCxnSpPr>
          <p:cNvPr id="13" name="Straight Arrow Connector 12">
            <a:extLst>
              <a:ext uri="{FF2B5EF4-FFF2-40B4-BE49-F238E27FC236}">
                <a16:creationId xmlns:a16="http://schemas.microsoft.com/office/drawing/2014/main" id="{5C8272A3-6F75-B233-EC30-FDD8D39CFDE3}"/>
              </a:ext>
            </a:extLst>
          </p:cNvPr>
          <p:cNvCxnSpPr/>
          <p:nvPr/>
        </p:nvCxnSpPr>
        <p:spPr>
          <a:xfrm>
            <a:off x="7205220" y="2441541"/>
            <a:ext cx="3461208" cy="0"/>
          </a:xfrm>
          <a:prstGeom prst="straightConnector1">
            <a:avLst/>
          </a:prstGeom>
          <a:ln w="76200">
            <a:solidFill>
              <a:schemeClr val="accent2"/>
            </a:solidFill>
            <a:headEnd type="triangle"/>
            <a:tailEnd type="triangle"/>
          </a:ln>
        </p:spPr>
        <p:style>
          <a:lnRef idx="2">
            <a:schemeClr val="dk1"/>
          </a:lnRef>
          <a:fillRef idx="0">
            <a:schemeClr val="dk1"/>
          </a:fillRef>
          <a:effectRef idx="1">
            <a:schemeClr val="dk1"/>
          </a:effectRef>
          <a:fontRef idx="minor">
            <a:schemeClr val="tx1"/>
          </a:fontRef>
        </p:style>
      </p:cxnSp>
      <p:sp>
        <p:nvSpPr>
          <p:cNvPr id="14" name="TextBox 13">
            <a:extLst>
              <a:ext uri="{FF2B5EF4-FFF2-40B4-BE49-F238E27FC236}">
                <a16:creationId xmlns:a16="http://schemas.microsoft.com/office/drawing/2014/main" id="{C7481F20-B60E-5414-6EF6-EEBCC4FD28FF}"/>
              </a:ext>
            </a:extLst>
          </p:cNvPr>
          <p:cNvSpPr txBox="1"/>
          <p:nvPr/>
        </p:nvSpPr>
        <p:spPr>
          <a:xfrm>
            <a:off x="3087279" y="1355772"/>
            <a:ext cx="1817017" cy="369332"/>
          </a:xfrm>
          <a:prstGeom prst="rect">
            <a:avLst/>
          </a:prstGeom>
          <a:noFill/>
        </p:spPr>
        <p:txBody>
          <a:bodyPr wrap="square" rtlCol="0">
            <a:spAutoFit/>
          </a:bodyPr>
          <a:lstStyle/>
          <a:p>
            <a:r>
              <a:rPr lang="en-US" altLang="ja-JP" b="1" dirty="0">
                <a:solidFill>
                  <a:schemeClr val="accent2"/>
                </a:solidFill>
              </a:rPr>
              <a:t>FP&gt;=70%</a:t>
            </a:r>
            <a:endParaRPr kumimoji="1" lang="ja-JP" altLang="en-US" b="1" dirty="0">
              <a:solidFill>
                <a:schemeClr val="accent2"/>
              </a:solidFill>
            </a:endParaRPr>
          </a:p>
        </p:txBody>
      </p:sp>
      <p:sp>
        <p:nvSpPr>
          <p:cNvPr id="15" name="TextBox 14">
            <a:extLst>
              <a:ext uri="{FF2B5EF4-FFF2-40B4-BE49-F238E27FC236}">
                <a16:creationId xmlns:a16="http://schemas.microsoft.com/office/drawing/2014/main" id="{FF321586-F300-5BA4-B28D-6F9181E656B8}"/>
              </a:ext>
            </a:extLst>
          </p:cNvPr>
          <p:cNvSpPr txBox="1"/>
          <p:nvPr/>
        </p:nvSpPr>
        <p:spPr>
          <a:xfrm>
            <a:off x="414778" y="3987537"/>
            <a:ext cx="9851009" cy="2308324"/>
          </a:xfrm>
          <a:prstGeom prst="rect">
            <a:avLst/>
          </a:prstGeom>
          <a:noFill/>
        </p:spPr>
        <p:txBody>
          <a:bodyPr wrap="square" rtlCol="0">
            <a:spAutoFit/>
          </a:bodyPr>
          <a:lstStyle/>
          <a:p>
            <a:r>
              <a:rPr lang="en-US" altLang="ja-JP" sz="2400" dirty="0"/>
              <a:t>※</a:t>
            </a:r>
            <a:r>
              <a:rPr lang="ja-JP" altLang="en-US" sz="2400" dirty="0"/>
              <a:t>ここでの</a:t>
            </a:r>
            <a:r>
              <a:rPr kumimoji="1" lang="ja-JP" altLang="en-US" sz="2400" dirty="0"/>
              <a:t>バッファとは、一度に送信できるデータ量のことです。</a:t>
            </a:r>
            <a:endParaRPr kumimoji="1" lang="en-US" altLang="ja-JP" sz="2400" dirty="0"/>
          </a:p>
          <a:p>
            <a:endParaRPr kumimoji="1" lang="en-US" altLang="ja-JP" sz="2400" dirty="0"/>
          </a:p>
          <a:p>
            <a:r>
              <a:rPr lang="ja-JP" altLang="en-US" sz="2400" dirty="0"/>
              <a:t>考えられる</a:t>
            </a:r>
            <a:r>
              <a:rPr kumimoji="1" lang="ja-JP" altLang="en-US" sz="2400" dirty="0"/>
              <a:t>質問</a:t>
            </a:r>
            <a:r>
              <a:rPr kumimoji="1" lang="en-US" altLang="ja-JP" sz="2400" dirty="0"/>
              <a:t>:</a:t>
            </a:r>
          </a:p>
          <a:p>
            <a:pPr marL="342900" indent="-342900">
              <a:buFontTx/>
              <a:buChar char="-"/>
            </a:pPr>
            <a:r>
              <a:rPr kumimoji="1" lang="ja-JP" altLang="en-US" sz="2400" dirty="0"/>
              <a:t>このデータ量は洪水の発生状況を予測するのに十分か？</a:t>
            </a:r>
            <a:endParaRPr kumimoji="1" lang="en-US" altLang="ja-JP" sz="2400" dirty="0"/>
          </a:p>
          <a:p>
            <a:pPr marL="342900" indent="-342900">
              <a:buFontTx/>
              <a:buChar char="-"/>
            </a:pPr>
            <a:r>
              <a:rPr kumimoji="1" lang="ja-JP" altLang="en-US" sz="2400" dirty="0"/>
              <a:t>洪水の開始を判断する指標として</a:t>
            </a:r>
            <a:r>
              <a:rPr kumimoji="1" lang="en-US" altLang="ja-JP" sz="2400" dirty="0"/>
              <a:t>70%</a:t>
            </a:r>
            <a:r>
              <a:rPr kumimoji="1" lang="ja-JP" altLang="en-US" sz="2400" dirty="0"/>
              <a:t>は適切か？</a:t>
            </a:r>
            <a:endParaRPr kumimoji="1" lang="en-US" altLang="ja-JP" sz="2400" dirty="0"/>
          </a:p>
          <a:p>
            <a:pPr marL="342900" indent="-342900">
              <a:buFontTx/>
              <a:buChar char="-"/>
            </a:pPr>
            <a:r>
              <a:rPr kumimoji="1" lang="en-US" altLang="ja-JP" sz="2400" dirty="0"/>
              <a:t>1</a:t>
            </a:r>
            <a:r>
              <a:rPr kumimoji="1" lang="ja-JP" altLang="en-US" sz="2400" dirty="0"/>
              <a:t>時間および</a:t>
            </a:r>
            <a:r>
              <a:rPr kumimoji="1" lang="en-US" altLang="ja-JP" sz="2400" dirty="0"/>
              <a:t>5</a:t>
            </a:r>
            <a:r>
              <a:rPr kumimoji="1" lang="ja-JP" altLang="en-US" sz="2400" dirty="0"/>
              <a:t>分という時間設定は長すぎるか、短すぎるか？</a:t>
            </a:r>
          </a:p>
        </p:txBody>
      </p:sp>
      <p:sp>
        <p:nvSpPr>
          <p:cNvPr id="16" name="TextBox 15">
            <a:extLst>
              <a:ext uri="{FF2B5EF4-FFF2-40B4-BE49-F238E27FC236}">
                <a16:creationId xmlns:a16="http://schemas.microsoft.com/office/drawing/2014/main" id="{FC324534-FAFA-834E-28D2-8BAE19BBC279}"/>
              </a:ext>
            </a:extLst>
          </p:cNvPr>
          <p:cNvSpPr txBox="1"/>
          <p:nvPr/>
        </p:nvSpPr>
        <p:spPr>
          <a:xfrm>
            <a:off x="0" y="2045022"/>
            <a:ext cx="3814317" cy="369332"/>
          </a:xfrm>
          <a:prstGeom prst="rect">
            <a:avLst/>
          </a:prstGeom>
          <a:noFill/>
        </p:spPr>
        <p:txBody>
          <a:bodyPr wrap="square" rtlCol="0">
            <a:spAutoFit/>
          </a:bodyPr>
          <a:lstStyle/>
          <a:p>
            <a:r>
              <a:rPr kumimoji="1" lang="ja-JP" altLang="en-US" b="1" dirty="0">
                <a:solidFill>
                  <a:schemeClr val="accent4"/>
                </a:solidFill>
              </a:rPr>
              <a:t>一時間ごとにデータを収集</a:t>
            </a:r>
          </a:p>
        </p:txBody>
      </p:sp>
      <p:cxnSp>
        <p:nvCxnSpPr>
          <p:cNvPr id="18" name="Straight Arrow Connector 17">
            <a:extLst>
              <a:ext uri="{FF2B5EF4-FFF2-40B4-BE49-F238E27FC236}">
                <a16:creationId xmlns:a16="http://schemas.microsoft.com/office/drawing/2014/main" id="{3BC543FB-E8BD-C6B2-9312-8C73470B4B21}"/>
              </a:ext>
            </a:extLst>
          </p:cNvPr>
          <p:cNvCxnSpPr/>
          <p:nvPr/>
        </p:nvCxnSpPr>
        <p:spPr>
          <a:xfrm>
            <a:off x="0" y="2432116"/>
            <a:ext cx="3725158" cy="0"/>
          </a:xfrm>
          <a:prstGeom prst="straightConnector1">
            <a:avLst/>
          </a:prstGeom>
          <a:ln w="76200">
            <a:solidFill>
              <a:schemeClr val="tx2">
                <a:lumMod val="50000"/>
                <a:lumOff val="50000"/>
              </a:schemeClr>
            </a:solidFill>
            <a:tailEnd type="triangle"/>
          </a:ln>
        </p:spPr>
        <p:style>
          <a:lnRef idx="2">
            <a:schemeClr val="dk1"/>
          </a:lnRef>
          <a:fillRef idx="0">
            <a:schemeClr val="dk1"/>
          </a:fillRef>
          <a:effectRef idx="1">
            <a:schemeClr val="dk1"/>
          </a:effectRef>
          <a:fontRef idx="minor">
            <a:schemeClr val="tx1"/>
          </a:fontRef>
        </p:style>
      </p:cxnSp>
      <p:sp>
        <p:nvSpPr>
          <p:cNvPr id="19" name="TextBox 18">
            <a:extLst>
              <a:ext uri="{FF2B5EF4-FFF2-40B4-BE49-F238E27FC236}">
                <a16:creationId xmlns:a16="http://schemas.microsoft.com/office/drawing/2014/main" id="{E9610FD3-A523-5EB9-236F-F9C28ACEE9AD}"/>
              </a:ext>
            </a:extLst>
          </p:cNvPr>
          <p:cNvSpPr txBox="1"/>
          <p:nvPr/>
        </p:nvSpPr>
        <p:spPr>
          <a:xfrm>
            <a:off x="3814319" y="2614749"/>
            <a:ext cx="3319805" cy="923330"/>
          </a:xfrm>
          <a:prstGeom prst="rect">
            <a:avLst/>
          </a:prstGeom>
          <a:noFill/>
        </p:spPr>
        <p:txBody>
          <a:bodyPr wrap="square" rtlCol="0">
            <a:spAutoFit/>
          </a:bodyPr>
          <a:lstStyle/>
          <a:p>
            <a:r>
              <a:rPr lang="en-US" altLang="ja-JP" b="1" dirty="0">
                <a:solidFill>
                  <a:schemeClr val="accent2"/>
                </a:solidFill>
              </a:rPr>
              <a:t>5</a:t>
            </a:r>
            <a:r>
              <a:rPr lang="ja-JP" altLang="en-US" b="1" dirty="0">
                <a:solidFill>
                  <a:schemeClr val="accent2"/>
                </a:solidFill>
              </a:rPr>
              <a:t>分ごとにデータを収集し、バッファがいっぱいになるたび送信する</a:t>
            </a:r>
            <a:endParaRPr kumimoji="1" lang="ja-JP" altLang="en-US" b="1" dirty="0">
              <a:solidFill>
                <a:schemeClr val="accent2"/>
              </a:solidFill>
            </a:endParaRPr>
          </a:p>
        </p:txBody>
      </p:sp>
      <p:sp>
        <p:nvSpPr>
          <p:cNvPr id="20" name="TextBox 19">
            <a:extLst>
              <a:ext uri="{FF2B5EF4-FFF2-40B4-BE49-F238E27FC236}">
                <a16:creationId xmlns:a16="http://schemas.microsoft.com/office/drawing/2014/main" id="{BC65368E-9A3A-BDEA-806F-E1FA665BB5FA}"/>
              </a:ext>
            </a:extLst>
          </p:cNvPr>
          <p:cNvSpPr txBox="1"/>
          <p:nvPr/>
        </p:nvSpPr>
        <p:spPr>
          <a:xfrm>
            <a:off x="9104722" y="792578"/>
            <a:ext cx="3002437" cy="923330"/>
          </a:xfrm>
          <a:prstGeom prst="rect">
            <a:avLst/>
          </a:prstGeom>
          <a:noFill/>
        </p:spPr>
        <p:txBody>
          <a:bodyPr wrap="square" rtlCol="0">
            <a:spAutoFit/>
          </a:bodyPr>
          <a:lstStyle/>
          <a:p>
            <a:r>
              <a:rPr lang="en-US" altLang="ja-JP" b="1" dirty="0">
                <a:solidFill>
                  <a:schemeClr val="accent4"/>
                </a:solidFill>
              </a:rPr>
              <a:t>FP</a:t>
            </a:r>
            <a:r>
              <a:rPr lang="ja-JP" altLang="en-US" b="1" dirty="0">
                <a:solidFill>
                  <a:schemeClr val="accent4"/>
                </a:solidFill>
              </a:rPr>
              <a:t>が</a:t>
            </a:r>
            <a:r>
              <a:rPr lang="en-US" altLang="ja-JP" b="1" dirty="0">
                <a:solidFill>
                  <a:schemeClr val="accent4"/>
                </a:solidFill>
              </a:rPr>
              <a:t>2</a:t>
            </a:r>
            <a:r>
              <a:rPr lang="ja-JP" altLang="en-US" b="1" dirty="0">
                <a:solidFill>
                  <a:schemeClr val="accent4"/>
                </a:solidFill>
              </a:rPr>
              <a:t>回連続で</a:t>
            </a:r>
            <a:r>
              <a:rPr lang="en-US" altLang="ja-JP" b="1" dirty="0">
                <a:solidFill>
                  <a:schemeClr val="accent4"/>
                </a:solidFill>
              </a:rPr>
              <a:t>70%</a:t>
            </a:r>
            <a:r>
              <a:rPr lang="ja-JP" altLang="en-US" b="1" dirty="0">
                <a:solidFill>
                  <a:schemeClr val="accent4"/>
                </a:solidFill>
              </a:rPr>
              <a:t>未満の場合、</a:t>
            </a:r>
            <a:r>
              <a:rPr lang="en-US" altLang="ja-JP" b="1" dirty="0">
                <a:solidFill>
                  <a:schemeClr val="accent4"/>
                </a:solidFill>
              </a:rPr>
              <a:t>1</a:t>
            </a:r>
            <a:r>
              <a:rPr lang="ja-JP" altLang="en-US" b="1" dirty="0">
                <a:solidFill>
                  <a:schemeClr val="accent4"/>
                </a:solidFill>
              </a:rPr>
              <a:t>時間ごとにデータを収集する状態に戻る</a:t>
            </a:r>
            <a:endParaRPr kumimoji="1" lang="ja-JP" altLang="en-US" b="1" dirty="0">
              <a:solidFill>
                <a:schemeClr val="accent4"/>
              </a:solidFill>
            </a:endParaRPr>
          </a:p>
        </p:txBody>
      </p:sp>
      <p:cxnSp>
        <p:nvCxnSpPr>
          <p:cNvPr id="21" name="Straight Arrow Connector 20">
            <a:extLst>
              <a:ext uri="{FF2B5EF4-FFF2-40B4-BE49-F238E27FC236}">
                <a16:creationId xmlns:a16="http://schemas.microsoft.com/office/drawing/2014/main" id="{8E15335D-D5A4-4251-BCF5-64F78C634AA2}"/>
              </a:ext>
            </a:extLst>
          </p:cNvPr>
          <p:cNvCxnSpPr>
            <a:cxnSpLocks/>
          </p:cNvCxnSpPr>
          <p:nvPr/>
        </p:nvCxnSpPr>
        <p:spPr>
          <a:xfrm flipV="1">
            <a:off x="10666428" y="2441541"/>
            <a:ext cx="1525572" cy="3296"/>
          </a:xfrm>
          <a:prstGeom prst="straightConnector1">
            <a:avLst/>
          </a:prstGeom>
          <a:ln w="76200">
            <a:solidFill>
              <a:schemeClr val="tx2">
                <a:lumMod val="50000"/>
                <a:lumOff val="50000"/>
              </a:schemeClr>
            </a:solidFill>
            <a:tailEnd type="triangle"/>
          </a:ln>
        </p:spPr>
        <p:style>
          <a:lnRef idx="2">
            <a:schemeClr val="dk1"/>
          </a:lnRef>
          <a:fillRef idx="0">
            <a:schemeClr val="dk1"/>
          </a:fillRef>
          <a:effectRef idx="1">
            <a:schemeClr val="dk1"/>
          </a:effectRef>
          <a:fontRef idx="minor">
            <a:schemeClr val="tx1"/>
          </a:fontRef>
        </p:style>
      </p:cxnSp>
      <p:sp>
        <p:nvSpPr>
          <p:cNvPr id="28" name="TextBox 27">
            <a:extLst>
              <a:ext uri="{FF2B5EF4-FFF2-40B4-BE49-F238E27FC236}">
                <a16:creationId xmlns:a16="http://schemas.microsoft.com/office/drawing/2014/main" id="{F26F1E26-CE82-D70C-D006-B8CAFBCE29DB}"/>
              </a:ext>
            </a:extLst>
          </p:cNvPr>
          <p:cNvSpPr txBox="1"/>
          <p:nvPr/>
        </p:nvSpPr>
        <p:spPr>
          <a:xfrm>
            <a:off x="84841" y="112777"/>
            <a:ext cx="3814317" cy="830997"/>
          </a:xfrm>
          <a:prstGeom prst="rect">
            <a:avLst/>
          </a:prstGeom>
          <a:noFill/>
        </p:spPr>
        <p:txBody>
          <a:bodyPr wrap="square" rtlCol="0">
            <a:spAutoFit/>
          </a:bodyPr>
          <a:lstStyle/>
          <a:p>
            <a:pPr marL="400050" indent="-400050">
              <a:buAutoNum type="romanUcPeriod"/>
            </a:pPr>
            <a:r>
              <a:rPr kumimoji="1" lang="ja-JP" altLang="en-US" sz="2400" b="1" dirty="0">
                <a:solidFill>
                  <a:schemeClr val="accent4"/>
                </a:solidFill>
              </a:rPr>
              <a:t>「通常」モード</a:t>
            </a:r>
            <a:endParaRPr kumimoji="1" lang="en-US" altLang="ja-JP" sz="2400" b="1" dirty="0">
              <a:solidFill>
                <a:schemeClr val="accent4"/>
              </a:solidFill>
            </a:endParaRPr>
          </a:p>
          <a:p>
            <a:pPr marL="400050" indent="-400050">
              <a:buAutoNum type="romanUcPeriod"/>
            </a:pPr>
            <a:r>
              <a:rPr lang="ja-JP" altLang="en-US" sz="2400" b="1" dirty="0">
                <a:solidFill>
                  <a:schemeClr val="accent2"/>
                </a:solidFill>
              </a:rPr>
              <a:t>「緊急」モード</a:t>
            </a:r>
            <a:endParaRPr kumimoji="1" lang="ja-JP" altLang="en-US" sz="2400" b="1" dirty="0">
              <a:solidFill>
                <a:schemeClr val="accent2"/>
              </a:solidFill>
            </a:endParaRPr>
          </a:p>
        </p:txBody>
      </p:sp>
    </p:spTree>
    <p:extLst>
      <p:ext uri="{BB962C8B-B14F-4D97-AF65-F5344CB8AC3E}">
        <p14:creationId xmlns:p14="http://schemas.microsoft.com/office/powerpoint/2010/main" val="41167300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249</TotalTime>
  <Words>1609</Words>
  <Application>Microsoft Office PowerPoint</Application>
  <PresentationFormat>Widescreen</PresentationFormat>
  <Paragraphs>183</Paragraphs>
  <Slides>20</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游ゴシック</vt:lpstr>
      <vt:lpstr>游ゴシック Light</vt:lpstr>
      <vt:lpstr>Arial</vt:lpstr>
      <vt:lpstr>Cambria Math</vt:lpstr>
      <vt:lpstr>Office Theme</vt:lpstr>
      <vt:lpstr>Discussion on Huffman Encoding and Threshold</vt:lpstr>
      <vt:lpstr>Current work (summary)</vt:lpstr>
      <vt:lpstr>Problems</vt:lpstr>
      <vt:lpstr>Proposed approach</vt:lpstr>
      <vt:lpstr>Flood Probability (FP)</vt:lpstr>
      <vt:lpstr>Flood Probability (FP)</vt:lpstr>
      <vt:lpstr>Huffman table α</vt:lpstr>
      <vt:lpstr>Huffman table β</vt:lpstr>
      <vt:lpstr>Huffman Table β</vt:lpstr>
      <vt:lpstr>PowerPoint Presentation</vt:lpstr>
      <vt:lpstr>Discussion on Huffman Encoding and Threshold (日本語)</vt:lpstr>
      <vt:lpstr>現在のデータ送信方法(概要)</vt:lpstr>
      <vt:lpstr>問題</vt:lpstr>
      <vt:lpstr>Flood Probability (FP)</vt:lpstr>
      <vt:lpstr>Proposed approach</vt:lpstr>
      <vt:lpstr>Flood Probability (FP)</vt:lpstr>
      <vt:lpstr>ハフマン符号表α</vt:lpstr>
      <vt:lpstr>ハフマン符号表β</vt:lpstr>
      <vt:lpstr>Huffman Table β</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cguh1034</dc:creator>
  <cp:lastModifiedBy>cguh1034</cp:lastModifiedBy>
  <cp:revision>21</cp:revision>
  <dcterms:created xsi:type="dcterms:W3CDTF">2025-03-17T13:52:34Z</dcterms:created>
  <dcterms:modified xsi:type="dcterms:W3CDTF">2025-03-21T06:00:31Z</dcterms:modified>
</cp:coreProperties>
</file>